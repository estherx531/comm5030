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16x9"/>
  <p:notesSz cx="6858000" cy="9144000"/>
  <p:defaultTextStyle>
    <a:defPPr>
      <a:defRPr lang="en-AU"/>
    </a:defPPr>
    <a:lvl1pPr marL="0" algn="l" defTabSz="457200" rtl="0" eaLnBrk="1" latinLnBrk="0" hangingPunct="1">
      <a:defRPr sz="1800" kern="1200" lang="en-AU">
        <a:solidFill>
          <a:schemeClr val="tx1"/>
        </a:solidFill>
        <a:latin typeface="+mn-lt"/>
        <a:ea typeface="+mn-ea"/>
        <a:cs typeface="+mn-cs"/>
      </a:defRPr>
    </a:lvl1pPr>
    <a:lvl2pPr marL="457200" algn="l" defTabSz="457200" rtl="0" eaLnBrk="1" latinLnBrk="0" hangingPunct="1">
      <a:defRPr sz="1800" kern="1200" lang="en-AU">
        <a:solidFill>
          <a:schemeClr val="tx1"/>
        </a:solidFill>
        <a:latin typeface="+mn-lt"/>
        <a:ea typeface="+mn-ea"/>
        <a:cs typeface="+mn-cs"/>
      </a:defRPr>
    </a:lvl2pPr>
    <a:lvl3pPr marL="914400" algn="l" defTabSz="457200" rtl="0" eaLnBrk="1" latinLnBrk="0" hangingPunct="1">
      <a:defRPr sz="1800" kern="1200" lang="en-AU">
        <a:solidFill>
          <a:schemeClr val="tx1"/>
        </a:solidFill>
        <a:latin typeface="+mn-lt"/>
        <a:ea typeface="+mn-ea"/>
        <a:cs typeface="+mn-cs"/>
      </a:defRPr>
    </a:lvl3pPr>
    <a:lvl4pPr marL="1371600" algn="l" defTabSz="457200" rtl="0" eaLnBrk="1" latinLnBrk="0" hangingPunct="1">
      <a:defRPr sz="1800" kern="1200" lang="en-AU">
        <a:solidFill>
          <a:schemeClr val="tx1"/>
        </a:solidFill>
        <a:latin typeface="+mn-lt"/>
        <a:ea typeface="+mn-ea"/>
        <a:cs typeface="+mn-cs"/>
      </a:defRPr>
    </a:lvl4pPr>
    <a:lvl5pPr marL="1828800" algn="l" defTabSz="457200" rtl="0" eaLnBrk="1" latinLnBrk="0" hangingPunct="1">
      <a:defRPr sz="1800" kern="1200" lang="en-AU">
        <a:solidFill>
          <a:schemeClr val="tx1"/>
        </a:solidFill>
        <a:latin typeface="+mn-lt"/>
        <a:ea typeface="+mn-ea"/>
        <a:cs typeface="+mn-cs"/>
      </a:defRPr>
    </a:lvl5pPr>
    <a:lvl6pPr marL="2286000" algn="l" defTabSz="457200" rtl="0" eaLnBrk="1" latinLnBrk="0" hangingPunct="1">
      <a:defRPr sz="1800" kern="1200" lang="en-AU">
        <a:solidFill>
          <a:schemeClr val="tx1"/>
        </a:solidFill>
        <a:latin typeface="+mn-lt"/>
        <a:ea typeface="+mn-ea"/>
        <a:cs typeface="+mn-cs"/>
      </a:defRPr>
    </a:lvl6pPr>
    <a:lvl7pPr marL="2743200" algn="l" defTabSz="457200" rtl="0" eaLnBrk="1" latinLnBrk="0" hangingPunct="1">
      <a:defRPr sz="1800" kern="1200" lang="en-AU">
        <a:solidFill>
          <a:schemeClr val="tx1"/>
        </a:solidFill>
        <a:latin typeface="+mn-lt"/>
        <a:ea typeface="+mn-ea"/>
        <a:cs typeface="+mn-cs"/>
      </a:defRPr>
    </a:lvl7pPr>
    <a:lvl8pPr marL="3200400" algn="l" defTabSz="457200" rtl="0" eaLnBrk="1" latinLnBrk="0" hangingPunct="1">
      <a:defRPr sz="1800" kern="1200" lang="en-AU">
        <a:solidFill>
          <a:schemeClr val="tx1"/>
        </a:solidFill>
        <a:latin typeface="+mn-lt"/>
        <a:ea typeface="+mn-ea"/>
        <a:cs typeface="+mn-cs"/>
      </a:defRPr>
    </a:lvl8pPr>
    <a:lvl9pPr marL="3657600" algn="l" defTabSz="457200" rtl="0" eaLnBrk="1" latinLnBrk="0" hangingPunct="1">
      <a:defRPr sz="1800" kern="1200" lang="en-AU">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  <Relationship Id="rId1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AU"/>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AU"/>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AU"/>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AU"/>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AU"/>
          </a:p>
        </p:txBody>
      </p:sp>
    </p:spTree>
  </p:cSld>
  <p:clrMap bg1="lt1" tx1="dk1" bg2="lt2" tx2="dk2" accent1="accent1" accent2="accent2" accent3="accent3" accent4="accent4" accent5="accent5" accent6="accent6" hlink="hlink" folHlink="folHlink"/>
  <p:hf/>
  <p:notesStyle>
    <a:lvl1pPr marL="0" algn="l">
      <a:defRPr sz="1200" lang="en-AU"/>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Hello, I'm Yangyang Xiao. Joy of Giving redistributes toys and books, and our team must explain its social and environmental contribution. My research asks how a brief parent survey can assess perceived changes in access to suitable play resources. I propose a small set of targeted questions, with clear rules for what the answers can tell us.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This is a desk-based design study, not a completed family survey. I reviewed course frameworks and five official methods documents from three institutions, then compared measurement options against relevance, respondent burden, feasibility and interpretation. The resulting questions are proposals for testing. They have not been validated for Joy of Giving, and no participant outcomes are estimated here.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The first distinction is between activity and change. Toy counts show what the organisation distributed. Family counts show reach. Neither establishes whether a child could access suitable resources more easily. In a proposed logic model, redistribution is the activity, items received are outputs, and easier access is an intended short-term outcome. That link depends on whether items suit the child, reach the household and remain usable. General satisfaction answers another question: whether the service experience was positive. It is useful feedback, but a positive experience can coexist with unchanged access. For the impact report, keep output counts, service feedback and reported access change in separate categories. Longer-term child development remains outside this study.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My second conclusion is to treat access as several related questions, rather than one untested score. Availability concerns whether a family can obtain relevant resources when needed. Affordability concerns cost barriers. Suitability concerns whether items meet the nominated child's play needs. These are candidate dimensions for client review and family testing. Actual use supplies context: receiving an item does not tell us whether it was used. But frequent use also does not prove that access improved or that development changed. Week five's systems perspective adds a question: could transport, storage or household circumstances explain the answer? A neutral open question can reveal constraints without assuming that every family benefited.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The comparison shows why no single measure is sufficient. Distribution records can be reused to describe programme activity, but do not measure household change. A satisfaction question is simple, but only indirectly related to access. A direct change question fits the outcome more closely, although it asks parents to recall an earlier period. A short set of specific questions plus a comment provides more interpretation, at the cost of extra response time and analysis. A longer instrument also requires staff time to check incomplete responses and code open comments. My recommendation is a brief combination, with each item earning its place. Retain an item only if its answer informs a report claim or a decision. Its actual burden should be tested, rather than assumed.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The draft has five questions: perceived access change, cost barriers, suitability, recent use and a neutral explanation, including difficulties. I propose inviting adult carers four weeks after a selected visit, with clear before-and-after periods for the change question. This timing is a design choice to pilot, not an established optimum. Explain which child and resources to consider. Include uncertainty where valid, leave response options unselected, and let respondents review answers before submitting. Keep the change categories separate, and show missing and uncertain responses. Cost, suitability and use provide context; they should not be added into an unvalidated total. The full wording is in the appendix. Testing must check comprehension as well as completion time. Ask carers to explain each question in their own words before finalising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The main limitation is that recalled change is not a causal estimate. More engaged families may be more likely to respond, while other household changes may affect access. Say 'among responding families' and specify the period. Records and interviews strengthen interpretation but cannot establish the counterfactual. The general guidance also needs testing in this particular family and toy context.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Before Assessment Three, agree the priority outcome with the client, test understanding and burden with adult carers, then revise and compare responses with available records or interviews. The team receives a questionnaire, an indicator dictionary and reporting rules. These support both the impact report and public communication. My contribution is a way to describe reported access change while matching every claim to the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Reference slide for reading only. The six-minute spoken presentation ends on slide eight.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Reference slide for reading only. The six-minute spoken presentation ends on slide eight.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Appendix for reading only. These are draft items for client review and cognitive testing with adult carers. They have not been validated or administered.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AU" dirty="0"/>
              <a:t>Appendix for reading only. Use the stated item-specific reporting rules; no observed participant results are presented.</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comm5030_play_access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AU" smtClean="0"/>
              <a:t>1/27/13</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C1FF6DA9-008F-8B48-92A6-B652298478BF}" type="slidenum">
              <a:rPr lang="en-AU" smtClean="0"/>
              <a:t>‹#›</a:t>
            </a:fld>
            <a:endParaRPr lang="en-AU"/>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comm5030_play_access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n-AU">
                <a:solidFill>
                  <a:schemeClr val="tx1">
                    <a:tint val="75000"/>
                  </a:schemeClr>
                </a:solidFill>
              </a:defRPr>
            </a:lvl1pPr>
          </a:lstStyle>
          <a:p>
            <a:fld id="{5BCAD085-E8A6-8845-BD4E-CB4CCA059FC4}" type="datetimeFigureOut">
              <a:rPr lang="en-AU" smtClean="0"/>
              <a:t>1/27/13</a:t>
            </a:fld>
            <a:endParaRPr lang="en-AU"/>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n-AU">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n-AU">
                <a:solidFill>
                  <a:schemeClr val="tx1">
                    <a:tint val="75000"/>
                  </a:schemeClr>
                </a:solidFill>
              </a:defRPr>
            </a:lvl1pPr>
          </a:lstStyle>
          <a:p>
            <a:fld id="{C1FF6DA9-008F-8B48-92A6-B652298478BF}" type="slidenum">
              <a:rPr lang="en-AU" smtClean="0"/>
              <a:t>‹#›</a:t>
            </a:fld>
            <a:endParaRPr lang="en-AU"/>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300" kern="1200" lang="en-AU">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100" kern="1200" lang="en-AU">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950" kern="1200" lang="en-AU">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850" kern="1200" lang="en-AU">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700" kern="1200" lang="en-AU">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lang="en-AU">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450" kern="1200" lang="en-AU">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300" kern="1200" lang="en-AU">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200" kern="1200" lang="en-AU">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050" kern="1200" lang="en-AU">
          <a:solidFill>
            <a:schemeClr val="tx1"/>
          </a:solidFill>
          <a:latin typeface="+mn-lt"/>
          <a:ea typeface="+mn-ea"/>
          <a:cs typeface="+mn-cs"/>
        </a:defRPr>
      </a:lvl9pPr>
    </p:bodyStyle>
    <p:otherStyle>
      <a:defPPr>
        <a:defRPr lang="en-AU"/>
      </a:defPPr>
      <a:lvl1pPr marL="0" algn="l" defTabSz="457200" rtl="0" eaLnBrk="1" latinLnBrk="0" hangingPunct="1">
        <a:defRPr sz="2100" kern="1200" lang="en-AU">
          <a:solidFill>
            <a:schemeClr val="tx1"/>
          </a:solidFill>
          <a:latin typeface="+mn-lt"/>
          <a:ea typeface="+mn-ea"/>
          <a:cs typeface="+mn-cs"/>
        </a:defRPr>
      </a:lvl1pPr>
      <a:lvl2pPr marL="457200" algn="l" defTabSz="457200" rtl="0" eaLnBrk="1" latinLnBrk="0" hangingPunct="1">
        <a:defRPr sz="1950" kern="1200" lang="en-AU">
          <a:solidFill>
            <a:schemeClr val="tx1"/>
          </a:solidFill>
          <a:latin typeface="+mn-lt"/>
          <a:ea typeface="+mn-ea"/>
          <a:cs typeface="+mn-cs"/>
        </a:defRPr>
      </a:lvl2pPr>
      <a:lvl3pPr marL="914400" algn="l" defTabSz="457200" rtl="0" eaLnBrk="1" latinLnBrk="0" hangingPunct="1">
        <a:defRPr sz="1850" kern="1200" lang="en-AU">
          <a:solidFill>
            <a:schemeClr val="tx1"/>
          </a:solidFill>
          <a:latin typeface="+mn-lt"/>
          <a:ea typeface="+mn-ea"/>
          <a:cs typeface="+mn-cs"/>
        </a:defRPr>
      </a:lvl3pPr>
      <a:lvl4pPr marL="1371600" algn="l" defTabSz="457200" rtl="0" eaLnBrk="1" latinLnBrk="0" hangingPunct="1">
        <a:defRPr sz="1700" kern="1200" lang="en-AU">
          <a:solidFill>
            <a:schemeClr val="tx1"/>
          </a:solidFill>
          <a:latin typeface="+mn-lt"/>
          <a:ea typeface="+mn-ea"/>
          <a:cs typeface="+mn-cs"/>
        </a:defRPr>
      </a:lvl4pPr>
      <a:lvl5pPr marL="1828800" algn="l" defTabSz="457200" rtl="0" eaLnBrk="1" latinLnBrk="0" hangingPunct="1">
        <a:defRPr sz="1600" kern="1200" lang="en-AU">
          <a:solidFill>
            <a:schemeClr val="tx1"/>
          </a:solidFill>
          <a:latin typeface="+mn-lt"/>
          <a:ea typeface="+mn-ea"/>
          <a:cs typeface="+mn-cs"/>
        </a:defRPr>
      </a:lvl5pPr>
      <a:lvl6pPr marL="2286000" algn="l" defTabSz="457200" rtl="0" eaLnBrk="1" latinLnBrk="0" hangingPunct="1">
        <a:defRPr sz="1450" kern="1200" lang="en-AU">
          <a:solidFill>
            <a:schemeClr val="tx1"/>
          </a:solidFill>
          <a:latin typeface="+mn-lt"/>
          <a:ea typeface="+mn-ea"/>
          <a:cs typeface="+mn-cs"/>
        </a:defRPr>
      </a:lvl6pPr>
      <a:lvl7pPr marL="2743200" algn="l" defTabSz="457200" rtl="0" eaLnBrk="1" latinLnBrk="0" hangingPunct="1">
        <a:defRPr sz="1300" kern="1200" lang="en-AU">
          <a:solidFill>
            <a:schemeClr val="tx1"/>
          </a:solidFill>
          <a:latin typeface="+mn-lt"/>
          <a:ea typeface="+mn-ea"/>
          <a:cs typeface="+mn-cs"/>
        </a:defRPr>
      </a:lvl7pPr>
      <a:lvl8pPr marL="3200400" algn="l" defTabSz="457200" rtl="0" eaLnBrk="1" latinLnBrk="0" hangingPunct="1">
        <a:defRPr sz="1200" kern="1200" lang="en-AU">
          <a:solidFill>
            <a:schemeClr val="tx1"/>
          </a:solidFill>
          <a:latin typeface="+mn-lt"/>
          <a:ea typeface="+mn-ea"/>
          <a:cs typeface="+mn-cs"/>
        </a:defRPr>
      </a:lvl8pPr>
      <a:lvl9pPr marL="3657600" algn="l" defTabSz="457200" rtl="0" eaLnBrk="1" latinLnBrk="0" hangingPunct="1">
        <a:defRPr sz="1050" kern="1200" lang="en-AU">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identity"/>
          <p:cNvGrpSpPr/>
          <p:nvPr/>
        </p:nvGrpSpPr>
        <p:grpSpPr>
          <a:xfrm>
            <a:off x="677418" y="558800"/>
            <a:ext cx="5717683" cy="322707"/>
            <a:chOff x="677418" y="558800"/>
            <a:chExt cx="5717683" cy="322707"/>
          </a:xfrm>
        </p:grpSpPr>
        <p:sp>
          <p:nvSpPr>
            <p:cNvPr id="2" name="TextBox 2"/>
            <p:cNvSpPr txBox="1"/>
            <p:nvPr/>
          </p:nvSpPr>
          <p:spPr>
            <a:xfrm>
              <a:off x="677418" y="558800"/>
              <a:ext cx="5717683" cy="322707"/>
            </a:xfrm>
            <a:prstGeom prst="rect">
              <a:avLst/>
            </a:prstGeom>
            <a:noFill/>
            <a:ln>
              <a:noFill/>
            </a:ln>
          </p:spPr>
          <p:txBody>
            <a:bodyPr wrap="none" lIns="0" tIns="0" rIns="0" bIns="0" anchor="t" anchorCtr="0">
              <a:spAutoFit/>
            </a:bodyPr>
            <a:lstStyle/>
            <a:p>
              <a:pPr algn="l"/>
              <a:r>
                <a:rPr lang="en-AU" sz="1650" dirty="0">
                  <a:solidFill>
                    <a:schemeClr val="accent1"/>
                  </a:solidFill>
                  <a:latin typeface="+mn-lt"/>
                  <a:ea typeface="+mn-ea"/>
                  <a:cs typeface="+mn-cs"/>
                </a:rPr>
                <a:t>Yangyang Xiao | z5707699 | COMM5030 | Assessment 2</a:t>
              </a:r>
            </a:p>
          </p:txBody>
        </p:sp>
      </p:grpSp>
      <p:grpSp>
        <p:nvGrpSpPr>
          <p:cNvPr id="5" name="title"/>
          <p:cNvGrpSpPr/>
          <p:nvPr/>
        </p:nvGrpSpPr>
        <p:grpSpPr>
          <a:xfrm>
            <a:off x="666750" y="1581150"/>
            <a:ext cx="4943799" cy="2295525"/>
            <a:chOff x="666750" y="1581150"/>
            <a:chExt cx="4943799" cy="2295525"/>
          </a:xfrm>
        </p:grpSpPr>
        <p:sp>
          <p:nvSpPr>
            <p:cNvPr id="4" name="TextBox 4"/>
            <p:cNvSpPr txBox="1"/>
            <p:nvPr/>
          </p:nvSpPr>
          <p:spPr>
            <a:xfrm>
              <a:off x="666750" y="1581150"/>
              <a:ext cx="4943799" cy="2295525"/>
            </a:xfrm>
            <a:prstGeom prst="rect">
              <a:avLst/>
            </a:prstGeom>
            <a:noFill/>
            <a:ln>
              <a:noFill/>
            </a:ln>
          </p:spPr>
          <p:txBody>
            <a:bodyPr wrap="none" lIns="0" tIns="0" rIns="0" bIns="0" anchor="t" anchorCtr="0">
              <a:spAutoFit/>
            </a:bodyPr>
            <a:lstStyle/>
            <a:p>
              <a:pPr algn="l">
                <a:lnSpc>
                  <a:spcPts val="7800"/>
                </a:lnSpc>
              </a:pPr>
              <a:r>
                <a:rPr lang="en-AU" sz="6750" b="1" dirty="0">
                  <a:solidFill>
                    <a:schemeClr val="accent1"/>
                  </a:solidFill>
                  <a:latin typeface="+mn-lt"/>
                  <a:ea typeface="+mn-ea"/>
                  <a:cs typeface="+mn-cs"/>
                </a:rPr>
                <a:t>Beyond Toy</a:t>
              </a:r>
              <a:br>
                <a:rPr lang="en-AU" sz="6750" b="1" dirty="0">
                  <a:solidFill>
                    <a:schemeClr val="accent1"/>
                  </a:solidFill>
                  <a:latin typeface="+mn-lt"/>
                  <a:ea typeface="+mn-ea"/>
                  <a:cs typeface="+mn-cs"/>
                </a:rPr>
              </a:br>
              <a:r>
                <a:rPr lang="en-AU" sz="6750" b="1" dirty="0">
                  <a:solidFill>
                    <a:schemeClr val="accent1"/>
                  </a:solidFill>
                  <a:latin typeface="+mn-lt"/>
                  <a:ea typeface="+mn-ea"/>
                  <a:cs typeface="+mn-cs"/>
                </a:rPr>
                <a:t>Counts</a:t>
              </a:r>
            </a:p>
          </p:txBody>
        </p:sp>
      </p:grpSp>
      <p:grpSp>
        <p:nvGrpSpPr>
          <p:cNvPr id="22" name="research-motif"/>
          <p:cNvGrpSpPr/>
          <p:nvPr/>
        </p:nvGrpSpPr>
        <p:grpSpPr>
          <a:xfrm>
            <a:off x="8782050" y="1844675"/>
            <a:ext cx="2438400" cy="2178228"/>
            <a:chOff x="8782050" y="1844675"/>
            <a:chExt cx="2438400" cy="2178228"/>
          </a:xfrm>
        </p:grpSpPr>
        <p:grpSp>
          <p:nvGrpSpPr>
            <p:cNvPr id="9" name="Group 9"/>
            <p:cNvGrpSpPr/>
            <p:nvPr/>
          </p:nvGrpSpPr>
          <p:grpSpPr>
            <a:xfrm>
              <a:off x="9449594" y="1844675"/>
              <a:ext cx="722313" cy="825501"/>
              <a:chOff x="9449594" y="1844675"/>
              <a:chExt cx="722313" cy="825501"/>
            </a:xfrm>
          </p:grpSpPr>
          <p:sp>
            <p:nvSpPr>
              <p:cNvPr id="6" name="Freeform 6"/>
              <p:cNvSpPr/>
              <p:nvPr/>
            </p:nvSpPr>
            <p:spPr>
              <a:xfrm>
                <a:off x="9449594" y="1844675"/>
                <a:ext cx="722313" cy="825501"/>
              </a:xfrm>
              <a:custGeom>
                <a:avLst/>
                <a:gdLst/>
                <a:ahLst/>
                <a:cxnLst/>
                <a:rect l="l" t="t" r="r" b="b"/>
                <a:pathLst>
                  <a:path w="722313" h="825501">
                    <a:moveTo>
                      <a:pt x="722313" y="0"/>
                    </a:moveTo>
                    <a:lnTo>
                      <a:pt x="722313" y="825501"/>
                    </a:lnTo>
                    <a:lnTo>
                      <a:pt x="103188" y="825501"/>
                    </a:lnTo>
                    <a:cubicBezTo>
                      <a:pt x="46199" y="825501"/>
                      <a:pt x="0" y="779302"/>
                      <a:pt x="0" y="722313"/>
                    </a:cubicBezTo>
                    <a:lnTo>
                      <a:pt x="0" y="103188"/>
                    </a:lnTo>
                    <a:cubicBezTo>
                      <a:pt x="0" y="46199"/>
                      <a:pt x="46199" y="0"/>
                      <a:pt x="103188" y="0"/>
                    </a:cubicBezTo>
                    <a:lnTo>
                      <a:pt x="722313" y="0"/>
                    </a:lnTo>
                  </a:path>
                </a:pathLst>
              </a:custGeom>
              <a:noFill/>
              <a:ln w="103188">
                <a:solidFill>
                  <a:schemeClr val="accent1"/>
                </a:solidFill>
              </a:ln>
            </p:spPr>
          </p:sp>
          <p:sp>
            <p:nvSpPr>
              <p:cNvPr id="7" name="Freeform 7"/>
              <p:cNvSpPr/>
              <p:nvPr/>
            </p:nvSpPr>
            <p:spPr>
              <a:xfrm>
                <a:off x="9449594" y="2463801"/>
                <a:ext cx="722313" cy="103188"/>
              </a:xfrm>
              <a:custGeom>
                <a:avLst/>
                <a:gdLst/>
                <a:ahLst/>
                <a:cxnLst/>
                <a:rect l="l" t="t" r="r" b="b"/>
                <a:pathLst>
                  <a:path w="722313" h="103188">
                    <a:moveTo>
                      <a:pt x="722313" y="0"/>
                    </a:moveTo>
                    <a:lnTo>
                      <a:pt x="103188" y="0"/>
                    </a:lnTo>
                    <a:cubicBezTo>
                      <a:pt x="46199" y="0"/>
                      <a:pt x="0" y="46199"/>
                      <a:pt x="0" y="103188"/>
                    </a:cubicBezTo>
                  </a:path>
                </a:pathLst>
              </a:custGeom>
              <a:noFill/>
              <a:ln w="103188">
                <a:solidFill>
                  <a:schemeClr val="accent1"/>
                </a:solidFill>
              </a:ln>
            </p:spPr>
          </p:sp>
          <p:sp>
            <p:nvSpPr>
              <p:cNvPr id="8" name="Freeform 8"/>
              <p:cNvSpPr/>
              <p:nvPr/>
            </p:nvSpPr>
            <p:spPr>
              <a:xfrm>
                <a:off x="9655969" y="2051050"/>
                <a:ext cx="309563" cy="9525"/>
              </a:xfrm>
              <a:custGeom>
                <a:avLst/>
                <a:gdLst/>
                <a:ahLst/>
                <a:cxnLst/>
                <a:rect l="l" t="t" r="r" b="b"/>
                <a:pathLst>
                  <a:path w="309563" h="9525">
                    <a:moveTo>
                      <a:pt x="0" y="0"/>
                    </a:moveTo>
                    <a:lnTo>
                      <a:pt x="309563" y="0"/>
                    </a:lnTo>
                  </a:path>
                </a:pathLst>
              </a:custGeom>
              <a:noFill/>
              <a:ln w="103188">
                <a:solidFill>
                  <a:schemeClr val="accent1"/>
                </a:solidFill>
              </a:ln>
            </p:spPr>
          </p:sp>
        </p:grpSp>
        <p:grpSp>
          <p:nvGrpSpPr>
            <p:cNvPr id="14" name="Group 14"/>
            <p:cNvGrpSpPr/>
            <p:nvPr/>
          </p:nvGrpSpPr>
          <p:grpSpPr>
            <a:xfrm>
              <a:off x="8782050" y="3254159"/>
              <a:ext cx="685800" cy="768744"/>
              <a:chOff x="8782050" y="3254159"/>
              <a:chExt cx="685800" cy="768744"/>
            </a:xfrm>
          </p:grpSpPr>
          <p:sp>
            <p:nvSpPr>
              <p:cNvPr id="10" name="Freeform 10"/>
              <p:cNvSpPr/>
              <p:nvPr/>
            </p:nvSpPr>
            <p:spPr>
              <a:xfrm>
                <a:off x="8782050" y="3254159"/>
                <a:ext cx="685800" cy="768744"/>
              </a:xfrm>
              <a:custGeom>
                <a:avLst/>
                <a:gdLst/>
                <a:ahLst/>
                <a:cxnLst/>
                <a:rect l="l" t="t" r="r" b="b"/>
                <a:pathLst>
                  <a:path w="685800" h="768744">
                    <a:moveTo>
                      <a:pt x="685800" y="537096"/>
                    </a:moveTo>
                    <a:lnTo>
                      <a:pt x="685800" y="231610"/>
                    </a:lnTo>
                    <a:cubicBezTo>
                      <a:pt x="685753" y="204549"/>
                      <a:pt x="671214" y="179586"/>
                      <a:pt x="647700" y="166192"/>
                    </a:cubicBezTo>
                    <a:lnTo>
                      <a:pt x="381000" y="13487"/>
                    </a:lnTo>
                    <a:cubicBezTo>
                      <a:pt x="357390" y="0"/>
                      <a:pt x="328410" y="0"/>
                      <a:pt x="304800" y="13487"/>
                    </a:cubicBezTo>
                    <a:lnTo>
                      <a:pt x="38100" y="166192"/>
                    </a:lnTo>
                    <a:cubicBezTo>
                      <a:pt x="14516" y="179718"/>
                      <a:pt x="0" y="204673"/>
                      <a:pt x="0" y="231648"/>
                    </a:cubicBezTo>
                    <a:lnTo>
                      <a:pt x="0" y="537134"/>
                    </a:lnTo>
                    <a:cubicBezTo>
                      <a:pt x="0" y="564147"/>
                      <a:pt x="14516" y="589064"/>
                      <a:pt x="38100" y="602551"/>
                    </a:cubicBezTo>
                    <a:lnTo>
                      <a:pt x="304800" y="755256"/>
                    </a:lnTo>
                    <a:cubicBezTo>
                      <a:pt x="328410" y="768744"/>
                      <a:pt x="357390" y="768744"/>
                      <a:pt x="381000" y="755256"/>
                    </a:cubicBezTo>
                    <a:lnTo>
                      <a:pt x="647700" y="602551"/>
                    </a:lnTo>
                    <a:cubicBezTo>
                      <a:pt x="671284" y="589026"/>
                      <a:pt x="685800" y="564070"/>
                      <a:pt x="685800" y="537096"/>
                    </a:cubicBezTo>
                  </a:path>
                </a:pathLst>
              </a:custGeom>
              <a:noFill/>
              <a:ln w="76200">
                <a:solidFill>
                  <a:schemeClr val="accent1"/>
                </a:solidFill>
              </a:ln>
            </p:spPr>
          </p:sp>
          <p:sp>
            <p:nvSpPr>
              <p:cNvPr id="11" name="Freeform 11"/>
              <p:cNvSpPr/>
              <p:nvPr/>
            </p:nvSpPr>
            <p:spPr>
              <a:xfrm>
                <a:off x="9124950" y="3638550"/>
                <a:ext cx="9525" cy="381000"/>
              </a:xfrm>
              <a:custGeom>
                <a:avLst/>
                <a:gdLst/>
                <a:ahLst/>
                <a:cxnLst/>
                <a:rect l="l" t="t" r="r" b="b"/>
                <a:pathLst>
                  <a:path w="9525" h="381000">
                    <a:moveTo>
                      <a:pt x="0" y="381000"/>
                    </a:moveTo>
                    <a:lnTo>
                      <a:pt x="0" y="0"/>
                    </a:lnTo>
                  </a:path>
                </a:pathLst>
              </a:custGeom>
              <a:noFill/>
              <a:ln w="76200">
                <a:solidFill>
                  <a:schemeClr val="accent1"/>
                </a:solidFill>
              </a:ln>
            </p:spPr>
          </p:sp>
          <p:sp>
            <p:nvSpPr>
              <p:cNvPr id="12" name="Freeform 12"/>
              <p:cNvSpPr/>
              <p:nvPr/>
            </p:nvSpPr>
            <p:spPr>
              <a:xfrm>
                <a:off x="9124950" y="3446526"/>
                <a:ext cx="332613" cy="192024"/>
              </a:xfrm>
              <a:custGeom>
                <a:avLst/>
                <a:gdLst/>
                <a:ahLst/>
                <a:cxnLst/>
                <a:rect l="l" t="t" r="r" b="b"/>
                <a:pathLst>
                  <a:path w="332613" h="192024">
                    <a:moveTo>
                      <a:pt x="0" y="192024"/>
                    </a:moveTo>
                    <a:lnTo>
                      <a:pt x="332613" y="0"/>
                    </a:lnTo>
                  </a:path>
                </a:pathLst>
              </a:custGeom>
              <a:noFill/>
              <a:ln w="76200">
                <a:solidFill>
                  <a:schemeClr val="accent1"/>
                </a:solidFill>
              </a:ln>
            </p:spPr>
          </p:sp>
          <p:sp>
            <p:nvSpPr>
              <p:cNvPr id="13" name="Freeform 13"/>
              <p:cNvSpPr/>
              <p:nvPr/>
            </p:nvSpPr>
            <p:spPr>
              <a:xfrm>
                <a:off x="8792337" y="3446526"/>
                <a:ext cx="332613" cy="192024"/>
              </a:xfrm>
              <a:custGeom>
                <a:avLst/>
                <a:gdLst/>
                <a:ahLst/>
                <a:cxnLst/>
                <a:rect l="l" t="t" r="r" b="b"/>
                <a:pathLst>
                  <a:path w="332613" h="192024">
                    <a:moveTo>
                      <a:pt x="0" y="0"/>
                    </a:moveTo>
                    <a:lnTo>
                      <a:pt x="332613" y="192024"/>
                    </a:lnTo>
                  </a:path>
                </a:pathLst>
              </a:custGeom>
              <a:noFill/>
              <a:ln w="76200">
                <a:solidFill>
                  <a:schemeClr val="accent1"/>
                </a:solidFill>
              </a:ln>
            </p:spPr>
          </p:sp>
        </p:grpSp>
        <p:grpSp>
          <p:nvGrpSpPr>
            <p:cNvPr id="18" name="Group 18"/>
            <p:cNvGrpSpPr/>
            <p:nvPr/>
          </p:nvGrpSpPr>
          <p:grpSpPr>
            <a:xfrm>
              <a:off x="10687050" y="3209925"/>
              <a:ext cx="533400" cy="685800"/>
              <a:chOff x="10687050" y="3209925"/>
              <a:chExt cx="533400" cy="685800"/>
            </a:xfrm>
          </p:grpSpPr>
          <p:sp>
            <p:nvSpPr>
              <p:cNvPr id="15" name="Freeform 15"/>
              <p:cNvSpPr/>
              <p:nvPr/>
            </p:nvSpPr>
            <p:spPr>
              <a:xfrm>
                <a:off x="10687050" y="3286125"/>
                <a:ext cx="533400" cy="609600"/>
              </a:xfrm>
              <a:custGeom>
                <a:avLst/>
                <a:gdLst/>
                <a:ahLst/>
                <a:cxnLst/>
                <a:rect l="l" t="t" r="r" b="b"/>
                <a:pathLst>
                  <a:path w="533400" h="609600">
                    <a:moveTo>
                      <a:pt x="152400" y="0"/>
                    </a:moveTo>
                    <a:lnTo>
                      <a:pt x="76200" y="0"/>
                    </a:lnTo>
                    <a:cubicBezTo>
                      <a:pt x="34116" y="0"/>
                      <a:pt x="0" y="34116"/>
                      <a:pt x="0" y="76200"/>
                    </a:cubicBezTo>
                    <a:lnTo>
                      <a:pt x="0" y="533400"/>
                    </a:lnTo>
                    <a:cubicBezTo>
                      <a:pt x="0" y="575484"/>
                      <a:pt x="34116" y="609600"/>
                      <a:pt x="76200" y="609600"/>
                    </a:cubicBezTo>
                    <a:lnTo>
                      <a:pt x="457200" y="609600"/>
                    </a:lnTo>
                    <a:cubicBezTo>
                      <a:pt x="499284" y="609600"/>
                      <a:pt x="533400" y="575484"/>
                      <a:pt x="533400" y="533400"/>
                    </a:cubicBezTo>
                    <a:lnTo>
                      <a:pt x="533400" y="76200"/>
                    </a:lnTo>
                    <a:cubicBezTo>
                      <a:pt x="533400" y="34116"/>
                      <a:pt x="499284" y="0"/>
                      <a:pt x="457200" y="0"/>
                    </a:cubicBezTo>
                    <a:lnTo>
                      <a:pt x="381000" y="0"/>
                    </a:lnTo>
                  </a:path>
                </a:pathLst>
              </a:custGeom>
              <a:noFill/>
              <a:ln w="76200">
                <a:solidFill>
                  <a:schemeClr val="accent2"/>
                </a:solidFill>
              </a:ln>
            </p:spPr>
          </p:sp>
          <p:sp>
            <p:nvSpPr>
              <p:cNvPr id="16" name="Freeform 16"/>
              <p:cNvSpPr/>
              <p:nvPr/>
            </p:nvSpPr>
            <p:spPr>
              <a:xfrm>
                <a:off x="10839450" y="3209925"/>
                <a:ext cx="228600" cy="152400"/>
              </a:xfrm>
              <a:custGeom>
                <a:avLst/>
                <a:gdLst/>
                <a:ahLst/>
                <a:cxnLst/>
                <a:rect l="l" t="t" r="r" b="b"/>
                <a:pathLst>
                  <a:path w="228600" h="152400">
                    <a:moveTo>
                      <a:pt x="0" y="76200"/>
                    </a:moveTo>
                    <a:cubicBezTo>
                      <a:pt x="0" y="34116"/>
                      <a:pt x="34116" y="0"/>
                      <a:pt x="76200" y="0"/>
                    </a:cubicBezTo>
                    <a:lnTo>
                      <a:pt x="152400" y="0"/>
                    </a:lnTo>
                    <a:cubicBezTo>
                      <a:pt x="194484" y="0"/>
                      <a:pt x="228600" y="34116"/>
                      <a:pt x="228600" y="76200"/>
                    </a:cubicBezTo>
                    <a:cubicBezTo>
                      <a:pt x="228600" y="118284"/>
                      <a:pt x="194484" y="152400"/>
                      <a:pt x="152400" y="152400"/>
                    </a:cubicBezTo>
                    <a:lnTo>
                      <a:pt x="76200" y="152400"/>
                    </a:lnTo>
                    <a:cubicBezTo>
                      <a:pt x="34116" y="152400"/>
                      <a:pt x="0" y="118284"/>
                      <a:pt x="0" y="76200"/>
                    </a:cubicBezTo>
                  </a:path>
                </a:pathLst>
              </a:custGeom>
              <a:noFill/>
              <a:ln w="76200">
                <a:solidFill>
                  <a:schemeClr val="accent2"/>
                </a:solidFill>
              </a:ln>
            </p:spPr>
          </p:sp>
          <p:sp>
            <p:nvSpPr>
              <p:cNvPr id="17" name="Freeform 17"/>
              <p:cNvSpPr/>
              <p:nvPr/>
            </p:nvSpPr>
            <p:spPr>
              <a:xfrm>
                <a:off x="10839450" y="3552825"/>
                <a:ext cx="228600" cy="152400"/>
              </a:xfrm>
              <a:custGeom>
                <a:avLst/>
                <a:gdLst/>
                <a:ahLst/>
                <a:cxnLst/>
                <a:rect l="l" t="t" r="r" b="b"/>
                <a:pathLst>
                  <a:path w="228600" h="152400">
                    <a:moveTo>
                      <a:pt x="0" y="76200"/>
                    </a:moveTo>
                    <a:lnTo>
                      <a:pt x="76200" y="152400"/>
                    </a:lnTo>
                    <a:lnTo>
                      <a:pt x="228600" y="0"/>
                    </a:lnTo>
                  </a:path>
                </a:pathLst>
              </a:custGeom>
              <a:noFill/>
              <a:ln w="76200">
                <a:solidFill>
                  <a:schemeClr val="accent2"/>
                </a:solidFill>
              </a:ln>
            </p:spPr>
          </p:sp>
        </p:grpSp>
        <p:sp>
          <p:nvSpPr>
            <p:cNvPr id="19" name="Line 19"/>
            <p:cNvSpPr/>
            <p:nvPr/>
          </p:nvSpPr>
          <p:spPr>
            <a:xfrm>
              <a:off x="9067800" y="2952750"/>
              <a:ext cx="323850" cy="152400"/>
            </a:xfrm>
            <a:custGeom>
              <a:avLst/>
              <a:gdLst/>
              <a:ahLst/>
              <a:cxnLst/>
              <a:rect l="l" t="t" r="r" b="b"/>
              <a:pathLst>
                <a:path w="323850" h="152400">
                  <a:moveTo>
                    <a:pt x="323850" y="0"/>
                  </a:moveTo>
                  <a:lnTo>
                    <a:pt x="0" y="152400"/>
                  </a:lnTo>
                </a:path>
              </a:pathLst>
            </a:custGeom>
            <a:noFill/>
            <a:ln w="28575">
              <a:solidFill>
                <a:schemeClr val="accent2"/>
              </a:solidFill>
            </a:ln>
          </p:spPr>
        </p:sp>
        <p:sp>
          <p:nvSpPr>
            <p:cNvPr id="20" name="Line 20"/>
            <p:cNvSpPr/>
            <p:nvPr/>
          </p:nvSpPr>
          <p:spPr>
            <a:xfrm>
              <a:off x="10096500" y="2400300"/>
              <a:ext cx="819150" cy="542925"/>
            </a:xfrm>
            <a:custGeom>
              <a:avLst/>
              <a:gdLst/>
              <a:ahLst/>
              <a:cxnLst/>
              <a:rect l="l" t="t" r="r" b="b"/>
              <a:pathLst>
                <a:path w="819150" h="542925">
                  <a:moveTo>
                    <a:pt x="0" y="0"/>
                  </a:moveTo>
                  <a:lnTo>
                    <a:pt x="819150" y="542925"/>
                  </a:lnTo>
                </a:path>
              </a:pathLst>
            </a:custGeom>
            <a:noFill/>
            <a:ln w="28575">
              <a:solidFill>
                <a:schemeClr val="accent2"/>
              </a:solidFill>
            </a:ln>
          </p:spPr>
        </p:sp>
        <p:sp>
          <p:nvSpPr>
            <p:cNvPr id="21" name="Line 21"/>
            <p:cNvSpPr/>
            <p:nvPr/>
          </p:nvSpPr>
          <p:spPr>
            <a:xfrm>
              <a:off x="9677400" y="3667125"/>
              <a:ext cx="704850" cy="9525"/>
            </a:xfrm>
            <a:custGeom>
              <a:avLst/>
              <a:gdLst/>
              <a:ahLst/>
              <a:cxnLst/>
              <a:rect l="l" t="t" r="r" b="b"/>
              <a:pathLst>
                <a:path w="704850" h="9525">
                  <a:moveTo>
                    <a:pt x="0" y="0"/>
                  </a:moveTo>
                  <a:lnTo>
                    <a:pt x="704850" y="0"/>
                  </a:lnTo>
                </a:path>
              </a:pathLst>
            </a:custGeom>
            <a:noFill/>
            <a:ln w="28575">
              <a:solidFill>
                <a:schemeClr val="accent2"/>
              </a:solidFill>
            </a:ln>
          </p:spPr>
        </p:sp>
      </p:grpSp>
      <p:grpSp>
        <p:nvGrpSpPr>
          <p:cNvPr id="25" name="subtitle"/>
          <p:cNvGrpSpPr/>
          <p:nvPr/>
        </p:nvGrpSpPr>
        <p:grpSpPr>
          <a:xfrm>
            <a:off x="673608" y="4546600"/>
            <a:ext cx="7279001" cy="906018"/>
            <a:chOff x="673608" y="4546600"/>
            <a:chExt cx="7279001" cy="906018"/>
          </a:xfrm>
        </p:grpSpPr>
        <p:sp>
          <p:nvSpPr>
            <p:cNvPr id="23" name="TextBox 23"/>
            <p:cNvSpPr txBox="1"/>
            <p:nvPr/>
          </p:nvSpPr>
          <p:spPr>
            <a:xfrm>
              <a:off x="673608" y="4546600"/>
              <a:ext cx="7279001" cy="469392"/>
            </a:xfrm>
            <a:prstGeom prst="rect">
              <a:avLst/>
            </a:prstGeom>
            <a:noFill/>
            <a:ln>
              <a:noFill/>
            </a:ln>
          </p:spPr>
          <p:txBody>
            <a:bodyPr wrap="none" lIns="0" tIns="0" rIns="0" bIns="0" anchor="t" anchorCtr="0">
              <a:spAutoFit/>
            </a:bodyPr>
            <a:lstStyle/>
            <a:p>
              <a:pPr algn="l"/>
              <a:r>
                <a:rPr lang="en-AU" sz="2400" b="1" dirty="0">
                  <a:solidFill>
                    <a:schemeClr val="accent1"/>
                  </a:solidFill>
                  <a:latin typeface="+mn-lt"/>
                  <a:ea typeface="+mn-ea"/>
                  <a:cs typeface="+mn-cs"/>
                </a:rPr>
                <a:t>Measuring Families’ Access to Play Resources</a:t>
              </a:r>
            </a:p>
          </p:txBody>
        </p:sp>
        <p:sp>
          <p:nvSpPr>
            <p:cNvPr id="24" name="TextBox 24"/>
            <p:cNvSpPr txBox="1"/>
            <p:nvPr/>
          </p:nvSpPr>
          <p:spPr>
            <a:xfrm>
              <a:off x="675132" y="5041900"/>
              <a:ext cx="5388850" cy="410718"/>
            </a:xfrm>
            <a:prstGeom prst="rect">
              <a:avLst/>
            </a:prstGeom>
            <a:noFill/>
            <a:ln>
              <a:noFill/>
            </a:ln>
          </p:spPr>
          <p:txBody>
            <a:bodyPr wrap="none" lIns="0" tIns="0" rIns="0" bIns="0" anchor="t" anchorCtr="0">
              <a:spAutoFit/>
            </a:bodyPr>
            <a:lstStyle/>
            <a:p>
              <a:pPr algn="l"/>
              <a:r>
                <a:rPr lang="en-AU" sz="2100" dirty="0">
                  <a:solidFill>
                    <a:schemeClr val="accent6"/>
                  </a:solidFill>
                  <a:latin typeface="+mn-lt"/>
                  <a:ea typeface="+mn-ea"/>
                  <a:cs typeface="+mn-cs"/>
                </a:rPr>
                <a:t>A short-survey framework for Joy of Giving</a:t>
              </a:r>
            </a:p>
          </p:txBody>
        </p:sp>
      </p:grpSp>
      <p:grpSp>
        <p:nvGrpSpPr>
          <p:cNvPr id="27" name="scope"/>
          <p:cNvGrpSpPr/>
          <p:nvPr/>
        </p:nvGrpSpPr>
        <p:grpSpPr>
          <a:xfrm>
            <a:off x="677418" y="5721350"/>
            <a:ext cx="5526205" cy="322707"/>
            <a:chOff x="677418" y="5721350"/>
            <a:chExt cx="5526205" cy="322707"/>
          </a:xfrm>
        </p:grpSpPr>
        <p:sp>
          <p:nvSpPr>
            <p:cNvPr id="26" name="TextBox 26"/>
            <p:cNvSpPr txBox="1"/>
            <p:nvPr/>
          </p:nvSpPr>
          <p:spPr>
            <a:xfrm>
              <a:off x="677418" y="5721350"/>
              <a:ext cx="5526205" cy="322707"/>
            </a:xfrm>
            <a:prstGeom prst="rect">
              <a:avLst/>
            </a:prstGeom>
            <a:noFill/>
            <a:ln>
              <a:noFill/>
            </a:ln>
          </p:spPr>
          <p:txBody>
            <a:bodyPr wrap="none" lIns="0" tIns="0" rIns="0" bIns="0" anchor="t" anchorCtr="0">
              <a:spAutoFit/>
            </a:bodyPr>
            <a:lstStyle/>
            <a:p>
              <a:pPr algn="l"/>
              <a:r>
                <a:rPr lang="en-AU" sz="1650" dirty="0">
                  <a:solidFill>
                    <a:schemeClr val="accent2"/>
                  </a:solidFill>
                  <a:latin typeface="+mn-lt"/>
                  <a:ea typeface="+mn-ea"/>
                  <a:cs typeface="+mn-cs"/>
                </a:rPr>
                <a:t>Proposed measurement design | family-reported access</a:t>
              </a:r>
            </a:p>
          </p:txBody>
        </p:sp>
      </p:grpSp>
      <p:sp>
        <p:nvSpPr>
          <p:cNvPr id="28" name="Line 28"/>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29"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30"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01</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8218827" cy="645414"/>
            <a:chOff x="669036" y="527050"/>
            <a:chExt cx="8218827" cy="645414"/>
          </a:xfrm>
        </p:grpSpPr>
        <p:sp>
          <p:nvSpPr>
            <p:cNvPr id="2" name="TextBox 2"/>
            <p:cNvSpPr txBox="1"/>
            <p:nvPr/>
          </p:nvSpPr>
          <p:spPr>
            <a:xfrm>
              <a:off x="669036" y="527050"/>
              <a:ext cx="8218827"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An evidence-informed indicator review</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7" name="method-status"/>
          <p:cNvGrpSpPr/>
          <p:nvPr/>
        </p:nvGrpSpPr>
        <p:grpSpPr>
          <a:xfrm>
            <a:off x="672846" y="1682750"/>
            <a:ext cx="9743430" cy="498729"/>
            <a:chOff x="672846" y="1682750"/>
            <a:chExt cx="9743430" cy="498729"/>
          </a:xfrm>
        </p:grpSpPr>
        <p:sp>
          <p:nvSpPr>
            <p:cNvPr id="5" name="TextBox 5"/>
            <p:cNvSpPr txBox="1"/>
            <p:nvPr/>
          </p:nvSpPr>
          <p:spPr>
            <a:xfrm>
              <a:off x="672846" y="1682750"/>
              <a:ext cx="4768647" cy="498729"/>
            </a:xfrm>
            <a:prstGeom prst="rect">
              <a:avLst/>
            </a:prstGeom>
            <a:noFill/>
            <a:ln>
              <a:noFill/>
            </a:ln>
          </p:spPr>
          <p:txBody>
            <a:bodyPr wrap="none" lIns="0" tIns="0" rIns="0" bIns="0" anchor="t" anchorCtr="0">
              <a:spAutoFit/>
            </a:bodyPr>
            <a:lstStyle/>
            <a:p>
              <a:pPr algn="l"/>
              <a:r>
                <a:rPr lang="en-AU" sz="2550" b="1" dirty="0">
                  <a:solidFill>
                    <a:schemeClr val="accent1"/>
                  </a:solidFill>
                  <a:latin typeface="+mn-lt"/>
                  <a:ea typeface="+mn-ea"/>
                  <a:cs typeface="+mn-cs"/>
                </a:rPr>
                <a:t>Desk-based design appraisal</a:t>
              </a:r>
            </a:p>
          </p:txBody>
        </p:sp>
        <p:sp>
          <p:nvSpPr>
            <p:cNvPr id="6" name="TextBox 6"/>
            <p:cNvSpPr txBox="1"/>
            <p:nvPr/>
          </p:nvSpPr>
          <p:spPr>
            <a:xfrm>
              <a:off x="7180707" y="1746250"/>
              <a:ext cx="3235569" cy="410718"/>
            </a:xfrm>
            <a:prstGeom prst="rect">
              <a:avLst/>
            </a:prstGeom>
            <a:noFill/>
            <a:ln>
              <a:noFill/>
            </a:ln>
          </p:spPr>
          <p:txBody>
            <a:bodyPr wrap="none" lIns="0" tIns="0" rIns="0" bIns="0" anchor="t" anchorCtr="0">
              <a:spAutoFit/>
            </a:bodyPr>
            <a:lstStyle/>
            <a:p>
              <a:pPr algn="l"/>
              <a:r>
                <a:rPr lang="en-AU" sz="2100" b="1" dirty="0">
                  <a:solidFill>
                    <a:schemeClr val="accent2"/>
                  </a:solidFill>
                  <a:latin typeface="+mn-lt"/>
                  <a:ea typeface="+mn-ea"/>
                  <a:cs typeface="+mn-cs"/>
                </a:rPr>
                <a:t>No survey administered</a:t>
              </a:r>
            </a:p>
          </p:txBody>
        </p:sp>
      </p:grpSp>
      <p:grpSp>
        <p:nvGrpSpPr>
          <p:cNvPr id="11" name="sources"/>
          <p:cNvGrpSpPr/>
          <p:nvPr/>
        </p:nvGrpSpPr>
        <p:grpSpPr>
          <a:xfrm>
            <a:off x="675132" y="2470150"/>
            <a:ext cx="3193039" cy="2996057"/>
            <a:chOff x="675132" y="2470150"/>
            <a:chExt cx="3193039" cy="2996057"/>
          </a:xfrm>
        </p:grpSpPr>
        <p:sp>
          <p:nvSpPr>
            <p:cNvPr id="8" name="TextBox 8"/>
            <p:cNvSpPr txBox="1"/>
            <p:nvPr/>
          </p:nvSpPr>
          <p:spPr>
            <a:xfrm>
              <a:off x="675132" y="2470150"/>
              <a:ext cx="1712195"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Source base</a:t>
              </a:r>
            </a:p>
          </p:txBody>
        </p:sp>
        <p:sp>
          <p:nvSpPr>
            <p:cNvPr id="9" name="TextBox 9"/>
            <p:cNvSpPr txBox="1"/>
            <p:nvPr/>
          </p:nvSpPr>
          <p:spPr>
            <a:xfrm>
              <a:off x="675132" y="2895600"/>
              <a:ext cx="3193039" cy="1325118"/>
            </a:xfrm>
            <a:prstGeom prst="rect">
              <a:avLst/>
            </a:prstGeom>
            <a:noFill/>
            <a:ln>
              <a:noFill/>
            </a:ln>
          </p:spPr>
          <p:txBody>
            <a:bodyPr wrap="none" lIns="0" tIns="0" rIns="0" bIns="0" anchor="t" anchorCtr="0">
              <a:spAutoFit/>
            </a:bodyPr>
            <a:lstStyle/>
            <a:p>
              <a:pPr algn="l">
                <a:lnSpc>
                  <a:spcPts val="3600"/>
                </a:lnSpc>
              </a:pPr>
              <a:r>
                <a:rPr lang="en-AU" sz="2100" dirty="0">
                  <a:solidFill>
                    <a:schemeClr val="dk1"/>
                  </a:solidFill>
                  <a:latin typeface="+mn-lt"/>
                  <a:ea typeface="+mn-ea"/>
                  <a:cs typeface="+mn-cs"/>
                </a:rPr>
                <a:t>5 official documents</a:t>
              </a:r>
              <a:br>
                <a:rPr lang="en-AU" sz="2100" dirty="0">
                  <a:solidFill>
                    <a:schemeClr val="dk1"/>
                  </a:solidFill>
                  <a:latin typeface="+mn-lt"/>
                  <a:ea typeface="+mn-ea"/>
                  <a:cs typeface="+mn-cs"/>
                </a:rPr>
              </a:br>
              <a:r>
                <a:rPr lang="en-AU" sz="2100" dirty="0">
                  <a:solidFill>
                    <a:schemeClr val="dk1"/>
                  </a:solidFill>
                  <a:latin typeface="+mn-lt"/>
                  <a:ea typeface="+mn-ea"/>
                  <a:cs typeface="+mn-cs"/>
                </a:rPr>
                <a:t>3 institutions</a:t>
              </a:r>
              <a:br>
                <a:rPr lang="en-AU" sz="2100" dirty="0">
                  <a:solidFill>
                    <a:schemeClr val="dk1"/>
                  </a:solidFill>
                  <a:latin typeface="+mn-lt"/>
                  <a:ea typeface="+mn-ea"/>
                  <a:cs typeface="+mn-cs"/>
                </a:rPr>
              </a:br>
              <a:r>
                <a:rPr lang="en-AU" sz="2100" dirty="0">
                  <a:solidFill>
                    <a:schemeClr val="dk1"/>
                  </a:solidFill>
                  <a:latin typeface="+mn-lt"/>
                  <a:ea typeface="+mn-ea"/>
                  <a:cs typeface="+mn-cs"/>
                </a:rPr>
                <a:t>Course impact frameworks</a:t>
              </a:r>
            </a:p>
          </p:txBody>
        </p:sp>
        <p:sp>
          <p:nvSpPr>
            <p:cNvPr id="10" name="TextBox 10"/>
            <p:cNvSpPr txBox="1"/>
            <p:nvPr/>
          </p:nvSpPr>
          <p:spPr>
            <a:xfrm>
              <a:off x="677418" y="4838700"/>
              <a:ext cx="3126989" cy="627507"/>
            </a:xfrm>
            <a:prstGeom prst="rect">
              <a:avLst/>
            </a:prstGeom>
            <a:noFill/>
            <a:ln>
              <a:noFill/>
            </a:ln>
          </p:spPr>
          <p:txBody>
            <a:bodyPr wrap="none" lIns="0" tIns="0" rIns="0" bIns="0" anchor="t" anchorCtr="0">
              <a:spAutoFit/>
            </a:bodyPr>
            <a:lstStyle/>
            <a:p>
              <a:pPr algn="l">
                <a:lnSpc>
                  <a:spcPts val="2400"/>
                </a:lnSpc>
              </a:pPr>
              <a:r>
                <a:rPr lang="en-AU" sz="1650" dirty="0">
                  <a:solidFill>
                    <a:schemeClr val="accent6"/>
                  </a:solidFill>
                  <a:latin typeface="+mn-lt"/>
                  <a:ea typeface="+mn-ea"/>
                  <a:cs typeface="+mn-cs"/>
                </a:rPr>
                <a:t>General guidance; no toy-specific</a:t>
              </a:r>
              <a:br>
                <a:rPr lang="en-AU" sz="1650" dirty="0">
                  <a:solidFill>
                    <a:schemeClr val="accent6"/>
                  </a:solidFill>
                  <a:latin typeface="+mn-lt"/>
                  <a:ea typeface="+mn-ea"/>
                  <a:cs typeface="+mn-cs"/>
                </a:rPr>
              </a:br>
              <a:r>
                <a:rPr lang="en-AU" sz="1650" dirty="0">
                  <a:solidFill>
                    <a:schemeClr val="accent6"/>
                  </a:solidFill>
                  <a:latin typeface="+mn-lt"/>
                  <a:ea typeface="+mn-ea"/>
                  <a:cs typeface="+mn-cs"/>
                </a:rPr>
                <a:t>measure has been validated.</a:t>
              </a:r>
            </a:p>
          </p:txBody>
        </p:sp>
      </p:grpSp>
      <p:grpSp>
        <p:nvGrpSpPr>
          <p:cNvPr id="21" name="criteria"/>
          <p:cNvGrpSpPr/>
          <p:nvPr/>
        </p:nvGrpSpPr>
        <p:grpSpPr>
          <a:xfrm>
            <a:off x="6180582" y="2470150"/>
            <a:ext cx="3816634" cy="2992882"/>
            <a:chOff x="6180582" y="2470150"/>
            <a:chExt cx="3816634" cy="2992882"/>
          </a:xfrm>
        </p:grpSpPr>
        <p:sp>
          <p:nvSpPr>
            <p:cNvPr id="12" name="TextBox 12"/>
            <p:cNvSpPr txBox="1"/>
            <p:nvPr/>
          </p:nvSpPr>
          <p:spPr>
            <a:xfrm>
              <a:off x="6180582" y="2470150"/>
              <a:ext cx="2338872"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Appraisal criteria</a:t>
              </a:r>
            </a:p>
          </p:txBody>
        </p:sp>
        <p:sp>
          <p:nvSpPr>
            <p:cNvPr id="13" name="TextBox 13"/>
            <p:cNvSpPr txBox="1"/>
            <p:nvPr/>
          </p:nvSpPr>
          <p:spPr>
            <a:xfrm>
              <a:off x="6182106" y="3028950"/>
              <a:ext cx="1224808"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Relevance</a:t>
              </a:r>
            </a:p>
          </p:txBody>
        </p:sp>
        <p:sp>
          <p:nvSpPr>
            <p:cNvPr id="14" name="TextBox 14"/>
            <p:cNvSpPr txBox="1"/>
            <p:nvPr/>
          </p:nvSpPr>
          <p:spPr>
            <a:xfrm>
              <a:off x="6182868" y="3340100"/>
              <a:ext cx="3814348" cy="322707"/>
            </a:xfrm>
            <a:prstGeom prst="rect">
              <a:avLst/>
            </a:prstGeom>
            <a:noFill/>
            <a:ln>
              <a:noFill/>
            </a:ln>
          </p:spPr>
          <p:txBody>
            <a:bodyPr wrap="none" lIns="0" tIns="0" rIns="0" bIns="0" anchor="t" anchorCtr="0">
              <a:spAutoFit/>
            </a:bodyPr>
            <a:lstStyle/>
            <a:p>
              <a:pPr algn="l"/>
              <a:r>
                <a:rPr lang="en-AU" sz="1650" dirty="0">
                  <a:solidFill>
                    <a:schemeClr val="dk1"/>
                  </a:solidFill>
                  <a:latin typeface="+mn-lt"/>
                  <a:ea typeface="+mn-ea"/>
                  <a:cs typeface="+mn-cs"/>
                </a:rPr>
                <a:t>Does it answer the research question?</a:t>
              </a:r>
            </a:p>
          </p:txBody>
        </p:sp>
        <p:sp>
          <p:nvSpPr>
            <p:cNvPr id="15" name="TextBox 15"/>
            <p:cNvSpPr txBox="1"/>
            <p:nvPr/>
          </p:nvSpPr>
          <p:spPr>
            <a:xfrm>
              <a:off x="6182106" y="3629025"/>
              <a:ext cx="874395"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Burden</a:t>
              </a:r>
            </a:p>
          </p:txBody>
        </p:sp>
        <p:sp>
          <p:nvSpPr>
            <p:cNvPr id="16" name="TextBox 16"/>
            <p:cNvSpPr txBox="1"/>
            <p:nvPr/>
          </p:nvSpPr>
          <p:spPr>
            <a:xfrm>
              <a:off x="6182868" y="3940175"/>
              <a:ext cx="3579182" cy="322707"/>
            </a:xfrm>
            <a:prstGeom prst="rect">
              <a:avLst/>
            </a:prstGeom>
            <a:noFill/>
            <a:ln>
              <a:noFill/>
            </a:ln>
          </p:spPr>
          <p:txBody>
            <a:bodyPr wrap="none" lIns="0" tIns="0" rIns="0" bIns="0" anchor="t" anchorCtr="0">
              <a:spAutoFit/>
            </a:bodyPr>
            <a:lstStyle/>
            <a:p>
              <a:pPr algn="l"/>
              <a:r>
                <a:rPr lang="en-AU" sz="1650" dirty="0">
                  <a:solidFill>
                    <a:schemeClr val="dk1"/>
                  </a:solidFill>
                  <a:latin typeface="+mn-lt"/>
                  <a:ea typeface="+mn-ea"/>
                  <a:cs typeface="+mn-cs"/>
                </a:rPr>
                <a:t>What must a carer recall or explain?</a:t>
              </a:r>
            </a:p>
          </p:txBody>
        </p:sp>
        <p:sp>
          <p:nvSpPr>
            <p:cNvPr id="17" name="TextBox 17"/>
            <p:cNvSpPr txBox="1"/>
            <p:nvPr/>
          </p:nvSpPr>
          <p:spPr>
            <a:xfrm>
              <a:off x="6182106" y="4229100"/>
              <a:ext cx="1209457"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Feasibility</a:t>
              </a:r>
            </a:p>
          </p:txBody>
        </p:sp>
        <p:sp>
          <p:nvSpPr>
            <p:cNvPr id="18" name="TextBox 18"/>
            <p:cNvSpPr txBox="1"/>
            <p:nvPr/>
          </p:nvSpPr>
          <p:spPr>
            <a:xfrm>
              <a:off x="6182868" y="4540250"/>
              <a:ext cx="3197331" cy="322707"/>
            </a:xfrm>
            <a:prstGeom prst="rect">
              <a:avLst/>
            </a:prstGeom>
            <a:noFill/>
            <a:ln>
              <a:noFill/>
            </a:ln>
          </p:spPr>
          <p:txBody>
            <a:bodyPr wrap="none" lIns="0" tIns="0" rIns="0" bIns="0" anchor="t" anchorCtr="0">
              <a:spAutoFit/>
            </a:bodyPr>
            <a:lstStyle/>
            <a:p>
              <a:pPr algn="l"/>
              <a:r>
                <a:rPr lang="en-AU" sz="1650" dirty="0">
                  <a:solidFill>
                    <a:schemeClr val="dk1"/>
                  </a:solidFill>
                  <a:latin typeface="+mn-lt"/>
                  <a:ea typeface="+mn-ea"/>
                  <a:cs typeface="+mn-cs"/>
                </a:rPr>
                <a:t>Can the team collect and use it?</a:t>
              </a:r>
            </a:p>
          </p:txBody>
        </p:sp>
        <p:sp>
          <p:nvSpPr>
            <p:cNvPr id="19" name="TextBox 19"/>
            <p:cNvSpPr txBox="1"/>
            <p:nvPr/>
          </p:nvSpPr>
          <p:spPr>
            <a:xfrm>
              <a:off x="6182106" y="4829175"/>
              <a:ext cx="1586280"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Interpretation</a:t>
              </a:r>
            </a:p>
          </p:txBody>
        </p:sp>
        <p:sp>
          <p:nvSpPr>
            <p:cNvPr id="20" name="TextBox 20"/>
            <p:cNvSpPr txBox="1"/>
            <p:nvPr/>
          </p:nvSpPr>
          <p:spPr>
            <a:xfrm>
              <a:off x="6182868" y="5140325"/>
              <a:ext cx="2850770" cy="322707"/>
            </a:xfrm>
            <a:prstGeom prst="rect">
              <a:avLst/>
            </a:prstGeom>
            <a:noFill/>
            <a:ln>
              <a:noFill/>
            </a:ln>
          </p:spPr>
          <p:txBody>
            <a:bodyPr wrap="none" lIns="0" tIns="0" rIns="0" bIns="0" anchor="t" anchorCtr="0">
              <a:spAutoFit/>
            </a:bodyPr>
            <a:lstStyle/>
            <a:p>
              <a:pPr algn="l"/>
              <a:r>
                <a:rPr lang="en-AU" sz="1650" dirty="0">
                  <a:solidFill>
                    <a:schemeClr val="dk1"/>
                  </a:solidFill>
                  <a:latin typeface="+mn-lt"/>
                  <a:ea typeface="+mn-ea"/>
                  <a:cs typeface="+mn-cs"/>
                </a:rPr>
                <a:t>Which claims can it support?</a:t>
              </a:r>
            </a:p>
          </p:txBody>
        </p:sp>
      </p:grpSp>
      <p:grpSp>
        <p:nvGrpSpPr>
          <p:cNvPr id="23" name="source-note"/>
          <p:cNvGrpSpPr/>
          <p:nvPr/>
        </p:nvGrpSpPr>
        <p:grpSpPr>
          <a:xfrm>
            <a:off x="679704" y="5962650"/>
            <a:ext cx="7095387" cy="234696"/>
            <a:chOff x="679704" y="5962650"/>
            <a:chExt cx="7095387" cy="234696"/>
          </a:xfrm>
        </p:grpSpPr>
        <p:sp>
          <p:nvSpPr>
            <p:cNvPr id="22" name="TextBox 22"/>
            <p:cNvSpPr txBox="1"/>
            <p:nvPr/>
          </p:nvSpPr>
          <p:spPr>
            <a:xfrm>
              <a:off x="679704" y="5962650"/>
              <a:ext cx="7095387"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Sources: Bjarkefur et al. 2021; ONS n.d.; GDS n.d.a–c. Five documents, not five empirical studies.</a:t>
              </a:r>
            </a:p>
          </p:txBody>
        </p:sp>
      </p:grpSp>
      <p:sp>
        <p:nvSpPr>
          <p:cNvPr id="24" name="Line 24"/>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25"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26"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02</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8145223" cy="645414"/>
            <a:chOff x="669036" y="527050"/>
            <a:chExt cx="8145223" cy="645414"/>
          </a:xfrm>
        </p:grpSpPr>
        <p:sp>
          <p:nvSpPr>
            <p:cNvPr id="2" name="TextBox 2"/>
            <p:cNvSpPr txBox="1"/>
            <p:nvPr/>
          </p:nvSpPr>
          <p:spPr>
            <a:xfrm>
              <a:off x="669036" y="527050"/>
              <a:ext cx="8145223"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Measure access beyond redistribution</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6" name="logic-intro"/>
          <p:cNvGrpSpPr/>
          <p:nvPr/>
        </p:nvGrpSpPr>
        <p:grpSpPr>
          <a:xfrm>
            <a:off x="675132" y="1651000"/>
            <a:ext cx="6897228" cy="410718"/>
            <a:chOff x="675132" y="1651000"/>
            <a:chExt cx="6897228" cy="410718"/>
          </a:xfrm>
        </p:grpSpPr>
        <p:sp>
          <p:nvSpPr>
            <p:cNvPr id="5" name="TextBox 5"/>
            <p:cNvSpPr txBox="1"/>
            <p:nvPr/>
          </p:nvSpPr>
          <p:spPr>
            <a:xfrm>
              <a:off x="675132" y="1651000"/>
              <a:ext cx="6897228" cy="410718"/>
            </a:xfrm>
            <a:prstGeom prst="rect">
              <a:avLst/>
            </a:prstGeom>
            <a:noFill/>
            <a:ln>
              <a:noFill/>
            </a:ln>
          </p:spPr>
          <p:txBody>
            <a:bodyPr wrap="none" lIns="0" tIns="0" rIns="0" bIns="0" anchor="t" anchorCtr="0">
              <a:spAutoFit/>
            </a:bodyPr>
            <a:lstStyle/>
            <a:p>
              <a:pPr algn="l"/>
              <a:r>
                <a:rPr lang="en-AU" sz="2100" dirty="0">
                  <a:solidFill>
                    <a:schemeClr val="accent6"/>
                  </a:solidFill>
                  <a:latin typeface="+mn-lt"/>
                  <a:ea typeface="+mn-ea"/>
                  <a:cs typeface="+mn-cs"/>
                </a:rPr>
                <a:t>A proposed pathway for one short-term social outcome</a:t>
              </a:r>
            </a:p>
          </p:txBody>
        </p:sp>
      </p:grpSp>
      <p:grpSp>
        <p:nvGrpSpPr>
          <p:cNvPr id="19" name="logic-pathway"/>
          <p:cNvGrpSpPr/>
          <p:nvPr/>
        </p:nvGrpSpPr>
        <p:grpSpPr>
          <a:xfrm>
            <a:off x="673608" y="2301875"/>
            <a:ext cx="10773208" cy="2246757"/>
            <a:chOff x="673608" y="2301875"/>
            <a:chExt cx="10773208" cy="2246757"/>
          </a:xfrm>
        </p:grpSpPr>
        <p:sp>
          <p:nvSpPr>
            <p:cNvPr id="7" name="TextBox 7"/>
            <p:cNvSpPr txBox="1"/>
            <p:nvPr/>
          </p:nvSpPr>
          <p:spPr>
            <a:xfrm>
              <a:off x="677418" y="2301875"/>
              <a:ext cx="1085945" cy="322707"/>
            </a:xfrm>
            <a:prstGeom prst="rect">
              <a:avLst/>
            </a:prstGeom>
            <a:noFill/>
            <a:ln>
              <a:noFill/>
            </a:ln>
          </p:spPr>
          <p:txBody>
            <a:bodyPr wrap="none" lIns="0" tIns="0" rIns="0" bIns="0" anchor="t" anchorCtr="0">
              <a:spAutoFit/>
            </a:bodyPr>
            <a:lstStyle/>
            <a:p>
              <a:pPr algn="l"/>
              <a:r>
                <a:rPr lang="en-AU" sz="1650" b="1" dirty="0">
                  <a:solidFill>
                    <a:schemeClr val="accent2"/>
                  </a:solidFill>
                  <a:latin typeface="+mn-lt"/>
                  <a:ea typeface="+mn-ea"/>
                  <a:cs typeface="+mn-cs"/>
                </a:rPr>
                <a:t>ACTIVITY</a:t>
              </a:r>
            </a:p>
          </p:txBody>
        </p:sp>
        <p:sp>
          <p:nvSpPr>
            <p:cNvPr id="8" name="TextBox 8"/>
            <p:cNvSpPr txBox="1"/>
            <p:nvPr/>
          </p:nvSpPr>
          <p:spPr>
            <a:xfrm>
              <a:off x="673608" y="2784475"/>
              <a:ext cx="2779711" cy="469392"/>
            </a:xfrm>
            <a:prstGeom prst="rect">
              <a:avLst/>
            </a:prstGeom>
            <a:noFill/>
            <a:ln>
              <a:noFill/>
            </a:ln>
          </p:spPr>
          <p:txBody>
            <a:bodyPr wrap="none" lIns="0" tIns="0" rIns="0" bIns="0" anchor="t" anchorCtr="0">
              <a:spAutoFit/>
            </a:bodyPr>
            <a:lstStyle/>
            <a:p>
              <a:pPr algn="l"/>
              <a:r>
                <a:rPr lang="en-AU" sz="2400" b="1" dirty="0">
                  <a:solidFill>
                    <a:schemeClr val="accent1"/>
                  </a:solidFill>
                  <a:latin typeface="+mn-lt"/>
                  <a:ea typeface="+mn-ea"/>
                  <a:cs typeface="+mn-cs"/>
                </a:rPr>
                <a:t>Toy redistribution</a:t>
              </a:r>
            </a:p>
          </p:txBody>
        </p:sp>
        <p:sp>
          <p:nvSpPr>
            <p:cNvPr id="9" name="TextBox 9"/>
            <p:cNvSpPr txBox="1"/>
            <p:nvPr/>
          </p:nvSpPr>
          <p:spPr>
            <a:xfrm>
              <a:off x="676656" y="3562350"/>
              <a:ext cx="2895235" cy="352044"/>
            </a:xfrm>
            <a:prstGeom prst="rect">
              <a:avLst/>
            </a:prstGeom>
            <a:noFill/>
            <a:ln>
              <a:noFill/>
            </a:ln>
          </p:spPr>
          <p:txBody>
            <a:bodyPr wrap="none" lIns="0" tIns="0" rIns="0" bIns="0" anchor="t" anchorCtr="0">
              <a:spAutoFit/>
            </a:bodyPr>
            <a:lstStyle/>
            <a:p>
              <a:pPr algn="l"/>
              <a:r>
                <a:rPr lang="en-AU" sz="1800" dirty="0">
                  <a:solidFill>
                    <a:schemeClr val="dk1"/>
                  </a:solidFill>
                  <a:latin typeface="+mn-lt"/>
                  <a:ea typeface="+mn-ea"/>
                  <a:cs typeface="+mn-cs"/>
                </a:rPr>
                <a:t>What the programme does</a:t>
              </a:r>
            </a:p>
          </p:txBody>
        </p:sp>
        <p:sp>
          <p:nvSpPr>
            <p:cNvPr id="10" name="TextBox 10"/>
            <p:cNvSpPr txBox="1"/>
            <p:nvPr/>
          </p:nvSpPr>
          <p:spPr>
            <a:xfrm>
              <a:off x="4601718" y="2301875"/>
              <a:ext cx="981552" cy="322707"/>
            </a:xfrm>
            <a:prstGeom prst="rect">
              <a:avLst/>
            </a:prstGeom>
            <a:noFill/>
            <a:ln>
              <a:noFill/>
            </a:ln>
          </p:spPr>
          <p:txBody>
            <a:bodyPr wrap="none" lIns="0" tIns="0" rIns="0" bIns="0" anchor="t" anchorCtr="0">
              <a:spAutoFit/>
            </a:bodyPr>
            <a:lstStyle/>
            <a:p>
              <a:pPr algn="l"/>
              <a:r>
                <a:rPr lang="en-AU" sz="1650" b="1" dirty="0">
                  <a:solidFill>
                    <a:schemeClr val="accent2"/>
                  </a:solidFill>
                  <a:latin typeface="+mn-lt"/>
                  <a:ea typeface="+mn-ea"/>
                  <a:cs typeface="+mn-cs"/>
                </a:rPr>
                <a:t>OUTPUT</a:t>
              </a:r>
            </a:p>
          </p:txBody>
        </p:sp>
        <p:sp>
          <p:nvSpPr>
            <p:cNvPr id="11" name="TextBox 11"/>
            <p:cNvSpPr txBox="1"/>
            <p:nvPr/>
          </p:nvSpPr>
          <p:spPr>
            <a:xfrm>
              <a:off x="4597908" y="2784475"/>
              <a:ext cx="2279298" cy="469392"/>
            </a:xfrm>
            <a:prstGeom prst="rect">
              <a:avLst/>
            </a:prstGeom>
            <a:noFill/>
            <a:ln>
              <a:noFill/>
            </a:ln>
          </p:spPr>
          <p:txBody>
            <a:bodyPr wrap="none" lIns="0" tIns="0" rIns="0" bIns="0" anchor="t" anchorCtr="0">
              <a:spAutoFit/>
            </a:bodyPr>
            <a:lstStyle/>
            <a:p>
              <a:pPr algn="l"/>
              <a:r>
                <a:rPr lang="en-AU" sz="2400" b="1" dirty="0">
                  <a:solidFill>
                    <a:schemeClr val="accent1"/>
                  </a:solidFill>
                  <a:latin typeface="+mn-lt"/>
                  <a:ea typeface="+mn-ea"/>
                  <a:cs typeface="+mn-cs"/>
                </a:rPr>
                <a:t>Items received</a:t>
              </a:r>
            </a:p>
          </p:txBody>
        </p:sp>
        <p:sp>
          <p:nvSpPr>
            <p:cNvPr id="12" name="TextBox 12"/>
            <p:cNvSpPr txBox="1"/>
            <p:nvPr/>
          </p:nvSpPr>
          <p:spPr>
            <a:xfrm>
              <a:off x="4600956" y="3562350"/>
              <a:ext cx="1681360" cy="352044"/>
            </a:xfrm>
            <a:prstGeom prst="rect">
              <a:avLst/>
            </a:prstGeom>
            <a:noFill/>
            <a:ln>
              <a:noFill/>
            </a:ln>
          </p:spPr>
          <p:txBody>
            <a:bodyPr wrap="none" lIns="0" tIns="0" rIns="0" bIns="0" anchor="t" anchorCtr="0">
              <a:spAutoFit/>
            </a:bodyPr>
            <a:lstStyle/>
            <a:p>
              <a:pPr algn="l"/>
              <a:r>
                <a:rPr lang="en-AU" sz="1800" dirty="0">
                  <a:solidFill>
                    <a:schemeClr val="dk1"/>
                  </a:solidFill>
                  <a:latin typeface="+mn-lt"/>
                  <a:ea typeface="+mn-ea"/>
                  <a:cs typeface="+mn-cs"/>
                </a:rPr>
                <a:t>What it delivers</a:t>
              </a:r>
            </a:p>
          </p:txBody>
        </p:sp>
        <p:sp>
          <p:nvSpPr>
            <p:cNvPr id="13" name="TextBox 13"/>
            <p:cNvSpPr txBox="1"/>
            <p:nvPr/>
          </p:nvSpPr>
          <p:spPr>
            <a:xfrm>
              <a:off x="8526018" y="2301875"/>
              <a:ext cx="2481072" cy="322707"/>
            </a:xfrm>
            <a:prstGeom prst="rect">
              <a:avLst/>
            </a:prstGeom>
            <a:noFill/>
            <a:ln>
              <a:noFill/>
            </a:ln>
          </p:spPr>
          <p:txBody>
            <a:bodyPr wrap="none" lIns="0" tIns="0" rIns="0" bIns="0" anchor="t" anchorCtr="0">
              <a:spAutoFit/>
            </a:bodyPr>
            <a:lstStyle/>
            <a:p>
              <a:pPr algn="l"/>
              <a:r>
                <a:rPr lang="en-AU" sz="1650" b="1" dirty="0">
                  <a:solidFill>
                    <a:schemeClr val="accent2"/>
                  </a:solidFill>
                  <a:latin typeface="+mn-lt"/>
                  <a:ea typeface="+mn-ea"/>
                  <a:cs typeface="+mn-cs"/>
                </a:rPr>
                <a:t>INTENDED OUTCOME</a:t>
              </a:r>
            </a:p>
          </p:txBody>
        </p:sp>
        <p:sp>
          <p:nvSpPr>
            <p:cNvPr id="14" name="TextBox 14"/>
            <p:cNvSpPr txBox="1"/>
            <p:nvPr/>
          </p:nvSpPr>
          <p:spPr>
            <a:xfrm>
              <a:off x="8522208" y="2784475"/>
              <a:ext cx="2620901" cy="469392"/>
            </a:xfrm>
            <a:prstGeom prst="rect">
              <a:avLst/>
            </a:prstGeom>
            <a:noFill/>
            <a:ln>
              <a:noFill/>
            </a:ln>
          </p:spPr>
          <p:txBody>
            <a:bodyPr wrap="none" lIns="0" tIns="0" rIns="0" bIns="0" anchor="t" anchorCtr="0">
              <a:spAutoFit/>
            </a:bodyPr>
            <a:lstStyle/>
            <a:p>
              <a:pPr algn="l"/>
              <a:r>
                <a:rPr lang="en-AU" sz="2400" b="1" dirty="0">
                  <a:solidFill>
                    <a:schemeClr val="accent1"/>
                  </a:solidFill>
                  <a:latin typeface="+mn-lt"/>
                  <a:ea typeface="+mn-ea"/>
                  <a:cs typeface="+mn-cs"/>
                </a:rPr>
                <a:t>Reported access</a:t>
              </a:r>
            </a:p>
          </p:txBody>
        </p:sp>
        <p:sp>
          <p:nvSpPr>
            <p:cNvPr id="15" name="TextBox 15"/>
            <p:cNvSpPr txBox="1"/>
            <p:nvPr/>
          </p:nvSpPr>
          <p:spPr>
            <a:xfrm>
              <a:off x="8525256" y="3562350"/>
              <a:ext cx="2921560" cy="352044"/>
            </a:xfrm>
            <a:prstGeom prst="rect">
              <a:avLst/>
            </a:prstGeom>
            <a:noFill/>
            <a:ln>
              <a:noFill/>
            </a:ln>
          </p:spPr>
          <p:txBody>
            <a:bodyPr wrap="none" lIns="0" tIns="0" rIns="0" bIns="0" anchor="t" anchorCtr="0">
              <a:spAutoFit/>
            </a:bodyPr>
            <a:lstStyle/>
            <a:p>
              <a:pPr algn="l"/>
              <a:r>
                <a:rPr lang="en-AU" sz="1800" dirty="0">
                  <a:solidFill>
                    <a:schemeClr val="dk1"/>
                  </a:solidFill>
                  <a:latin typeface="+mn-lt"/>
                  <a:ea typeface="+mn-ea"/>
                  <a:cs typeface="+mn-cs"/>
                </a:rPr>
                <a:t>What families say changed</a:t>
              </a:r>
            </a:p>
          </p:txBody>
        </p:sp>
        <p:sp>
          <p:nvSpPr>
            <p:cNvPr id="16" name="Line 16"/>
            <p:cNvSpPr/>
            <p:nvPr/>
          </p:nvSpPr>
          <p:spPr>
            <a:xfrm>
              <a:off x="3781425" y="3000375"/>
              <a:ext cx="552450" cy="1"/>
            </a:xfrm>
            <a:prstGeom prst="line">
              <a:avLst/>
            </a:prstGeom>
            <a:noFill/>
            <a:ln w="28575">
              <a:solidFill>
                <a:schemeClr val="accent2"/>
              </a:solidFill>
              <a:tailEnd type="arrow" w="lg" len="lg"/>
            </a:ln>
          </p:spPr>
        </p:sp>
        <p:sp>
          <p:nvSpPr>
            <p:cNvPr id="17" name="Line 17"/>
            <p:cNvSpPr/>
            <p:nvPr/>
          </p:nvSpPr>
          <p:spPr>
            <a:xfrm>
              <a:off x="7715250" y="3000375"/>
              <a:ext cx="552450" cy="1"/>
            </a:xfrm>
            <a:prstGeom prst="line">
              <a:avLst/>
            </a:prstGeom>
            <a:noFill/>
            <a:ln w="28575">
              <a:solidFill>
                <a:schemeClr val="accent2"/>
              </a:solidFill>
              <a:tailEnd type="arrow" w="lg" len="lg"/>
            </a:ln>
          </p:spPr>
        </p:sp>
        <p:sp>
          <p:nvSpPr>
            <p:cNvPr id="18" name="TextBox 18"/>
            <p:cNvSpPr txBox="1"/>
            <p:nvPr/>
          </p:nvSpPr>
          <p:spPr>
            <a:xfrm>
              <a:off x="677418" y="4225925"/>
              <a:ext cx="4542588" cy="322707"/>
            </a:xfrm>
            <a:prstGeom prst="rect">
              <a:avLst/>
            </a:prstGeom>
            <a:noFill/>
            <a:ln>
              <a:noFill/>
            </a:ln>
          </p:spPr>
          <p:txBody>
            <a:bodyPr wrap="none" lIns="0" tIns="0" rIns="0" bIns="0" anchor="t" anchorCtr="0">
              <a:spAutoFit/>
            </a:bodyPr>
            <a:lstStyle/>
            <a:p>
              <a:pPr algn="l"/>
              <a:r>
                <a:rPr lang="en-AU" sz="1650" dirty="0">
                  <a:solidFill>
                    <a:schemeClr val="accent6"/>
                  </a:solidFill>
                  <a:latin typeface="+mn-lt"/>
                  <a:ea typeface="+mn-ea"/>
                  <a:cs typeface="+mn-cs"/>
                </a:rPr>
                <a:t>The output-to-outcome link requires evidence.</a:t>
              </a:r>
            </a:p>
          </p:txBody>
        </p:sp>
      </p:grpSp>
      <p:grpSp>
        <p:nvGrpSpPr>
          <p:cNvPr id="22" name="satisfaction-distinction"/>
          <p:cNvGrpSpPr/>
          <p:nvPr/>
        </p:nvGrpSpPr>
        <p:grpSpPr>
          <a:xfrm>
            <a:off x="675132" y="5003800"/>
            <a:ext cx="6263847" cy="777494"/>
            <a:chOff x="675132" y="5003800"/>
            <a:chExt cx="6263847" cy="777494"/>
          </a:xfrm>
        </p:grpSpPr>
        <p:sp>
          <p:nvSpPr>
            <p:cNvPr id="20" name="TextBox 20"/>
            <p:cNvSpPr txBox="1"/>
            <p:nvPr/>
          </p:nvSpPr>
          <p:spPr>
            <a:xfrm>
              <a:off x="675132" y="5003800"/>
              <a:ext cx="6221170"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Satisfaction describes the service experience.</a:t>
              </a:r>
            </a:p>
          </p:txBody>
        </p:sp>
        <p:sp>
          <p:nvSpPr>
            <p:cNvPr id="21" name="TextBox 21"/>
            <p:cNvSpPr txBox="1"/>
            <p:nvPr/>
          </p:nvSpPr>
          <p:spPr>
            <a:xfrm>
              <a:off x="676656" y="5429250"/>
              <a:ext cx="6262323" cy="352044"/>
            </a:xfrm>
            <a:prstGeom prst="rect">
              <a:avLst/>
            </a:prstGeom>
            <a:noFill/>
            <a:ln>
              <a:noFill/>
            </a:ln>
          </p:spPr>
          <p:txBody>
            <a:bodyPr wrap="none" lIns="0" tIns="0" rIns="0" bIns="0" anchor="t" anchorCtr="0">
              <a:spAutoFit/>
            </a:bodyPr>
            <a:lstStyle/>
            <a:p>
              <a:pPr algn="l"/>
              <a:r>
                <a:rPr lang="en-AU" sz="1800" dirty="0">
                  <a:solidFill>
                    <a:schemeClr val="accent6"/>
                  </a:solidFill>
                  <a:latin typeface="+mn-lt"/>
                  <a:ea typeface="+mn-ea"/>
                  <a:cs typeface="+mn-cs"/>
                </a:rPr>
                <a:t>A positive experience can coexist with unchanged access.</a:t>
              </a:r>
            </a:p>
          </p:txBody>
        </p:sp>
      </p:grpSp>
      <p:grpSp>
        <p:nvGrpSpPr>
          <p:cNvPr id="24" name="source-note"/>
          <p:cNvGrpSpPr/>
          <p:nvPr/>
        </p:nvGrpSpPr>
        <p:grpSpPr>
          <a:xfrm>
            <a:off x="679704" y="5962650"/>
            <a:ext cx="7966302" cy="234696"/>
            <a:chOff x="679704" y="5962650"/>
            <a:chExt cx="7966302" cy="234696"/>
          </a:xfrm>
        </p:grpSpPr>
        <p:sp>
          <p:nvSpPr>
            <p:cNvPr id="23" name="TextBox 23"/>
            <p:cNvSpPr txBox="1"/>
            <p:nvPr/>
          </p:nvSpPr>
          <p:spPr>
            <a:xfrm>
              <a:off x="679704" y="5962650"/>
              <a:ext cx="7966302"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Course framework: Nguyen 2026b, Week 3, pp.25–31. Proposed pathway; child development is outside scope.</a:t>
              </a:r>
            </a:p>
          </p:txBody>
        </p:sp>
      </p:grpSp>
      <p:sp>
        <p:nvSpPr>
          <p:cNvPr id="25" name="Line 25"/>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26"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27"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03</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8292728" cy="645414"/>
            <a:chOff x="669036" y="527050"/>
            <a:chExt cx="8292728" cy="645414"/>
          </a:xfrm>
        </p:grpSpPr>
        <p:sp>
          <p:nvSpPr>
            <p:cNvPr id="2" name="TextBox 2"/>
            <p:cNvSpPr txBox="1"/>
            <p:nvPr/>
          </p:nvSpPr>
          <p:spPr>
            <a:xfrm>
              <a:off x="669036" y="527050"/>
              <a:ext cx="8292728"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Define access before writing questions</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6" name="construct-status"/>
          <p:cNvGrpSpPr/>
          <p:nvPr/>
        </p:nvGrpSpPr>
        <p:grpSpPr>
          <a:xfrm>
            <a:off x="675132" y="1641475"/>
            <a:ext cx="6046649" cy="410718"/>
            <a:chOff x="675132" y="1641475"/>
            <a:chExt cx="6046649" cy="410718"/>
          </a:xfrm>
        </p:grpSpPr>
        <p:sp>
          <p:nvSpPr>
            <p:cNvPr id="5" name="TextBox 5"/>
            <p:cNvSpPr txBox="1"/>
            <p:nvPr/>
          </p:nvSpPr>
          <p:spPr>
            <a:xfrm>
              <a:off x="675132" y="1641475"/>
              <a:ext cx="6046649" cy="410718"/>
            </a:xfrm>
            <a:prstGeom prst="rect">
              <a:avLst/>
            </a:prstGeom>
            <a:noFill/>
            <a:ln>
              <a:noFill/>
            </a:ln>
          </p:spPr>
          <p:txBody>
            <a:bodyPr wrap="none" lIns="0" tIns="0" rIns="0" bIns="0" anchor="t" anchorCtr="0">
              <a:spAutoFit/>
            </a:bodyPr>
            <a:lstStyle/>
            <a:p>
              <a:pPr algn="l"/>
              <a:r>
                <a:rPr lang="en-AU" sz="2100" b="1" dirty="0">
                  <a:solidFill>
                    <a:schemeClr val="accent2"/>
                  </a:solidFill>
                  <a:latin typeface="+mn-lt"/>
                  <a:ea typeface="+mn-ea"/>
                  <a:cs typeface="+mn-cs"/>
                </a:rPr>
                <a:t>Candidate dimensions for review and testing</a:t>
              </a:r>
            </a:p>
          </p:txBody>
        </p:sp>
      </p:grpSp>
      <p:grpSp>
        <p:nvGrpSpPr>
          <p:cNvPr id="14" name="dimension-1"/>
          <p:cNvGrpSpPr/>
          <p:nvPr/>
        </p:nvGrpSpPr>
        <p:grpSpPr>
          <a:xfrm>
            <a:off x="685800" y="2413000"/>
            <a:ext cx="10820400" cy="682625"/>
            <a:chOff x="685800" y="2413000"/>
            <a:chExt cx="10820400" cy="682625"/>
          </a:xfrm>
        </p:grpSpPr>
        <p:grpSp>
          <p:nvGrpSpPr>
            <p:cNvPr id="10" name="Group 10"/>
            <p:cNvGrpSpPr/>
            <p:nvPr/>
          </p:nvGrpSpPr>
          <p:grpSpPr>
            <a:xfrm>
              <a:off x="853281" y="2454275"/>
              <a:ext cx="255588" cy="292101"/>
              <a:chOff x="853281" y="2454275"/>
              <a:chExt cx="255588" cy="292101"/>
            </a:xfrm>
          </p:grpSpPr>
          <p:sp>
            <p:nvSpPr>
              <p:cNvPr id="7" name="Freeform 7"/>
              <p:cNvSpPr/>
              <p:nvPr/>
            </p:nvSpPr>
            <p:spPr>
              <a:xfrm>
                <a:off x="853281" y="2454275"/>
                <a:ext cx="255588" cy="292101"/>
              </a:xfrm>
              <a:custGeom>
                <a:avLst/>
                <a:gdLst/>
                <a:ahLst/>
                <a:cxnLst/>
                <a:rect l="l" t="t" r="r" b="b"/>
                <a:pathLst>
                  <a:path w="255588" h="292101">
                    <a:moveTo>
                      <a:pt x="255588" y="0"/>
                    </a:moveTo>
                    <a:lnTo>
                      <a:pt x="255588" y="292101"/>
                    </a:lnTo>
                    <a:lnTo>
                      <a:pt x="36513" y="292101"/>
                    </a:lnTo>
                    <a:cubicBezTo>
                      <a:pt x="16347" y="292101"/>
                      <a:pt x="0" y="275753"/>
                      <a:pt x="0" y="255588"/>
                    </a:cubicBezTo>
                    <a:lnTo>
                      <a:pt x="0" y="36513"/>
                    </a:lnTo>
                    <a:cubicBezTo>
                      <a:pt x="0" y="16347"/>
                      <a:pt x="16347" y="0"/>
                      <a:pt x="36513" y="0"/>
                    </a:cubicBezTo>
                    <a:lnTo>
                      <a:pt x="255588" y="0"/>
                    </a:lnTo>
                  </a:path>
                </a:pathLst>
              </a:custGeom>
              <a:noFill/>
              <a:ln w="36513">
                <a:solidFill>
                  <a:schemeClr val="accent2"/>
                </a:solidFill>
              </a:ln>
            </p:spPr>
          </p:sp>
          <p:sp>
            <p:nvSpPr>
              <p:cNvPr id="8" name="Freeform 8"/>
              <p:cNvSpPr/>
              <p:nvPr/>
            </p:nvSpPr>
            <p:spPr>
              <a:xfrm>
                <a:off x="853281" y="2673351"/>
                <a:ext cx="255588" cy="36513"/>
              </a:xfrm>
              <a:custGeom>
                <a:avLst/>
                <a:gdLst/>
                <a:ahLst/>
                <a:cxnLst/>
                <a:rect l="l" t="t" r="r" b="b"/>
                <a:pathLst>
                  <a:path w="255588" h="36513">
                    <a:moveTo>
                      <a:pt x="255588" y="0"/>
                    </a:moveTo>
                    <a:lnTo>
                      <a:pt x="36513" y="0"/>
                    </a:lnTo>
                    <a:cubicBezTo>
                      <a:pt x="16347" y="0"/>
                      <a:pt x="0" y="16347"/>
                      <a:pt x="0" y="36513"/>
                    </a:cubicBezTo>
                  </a:path>
                </a:pathLst>
              </a:custGeom>
              <a:noFill/>
              <a:ln w="36513">
                <a:solidFill>
                  <a:schemeClr val="accent2"/>
                </a:solidFill>
              </a:ln>
            </p:spPr>
          </p:sp>
          <p:sp>
            <p:nvSpPr>
              <p:cNvPr id="9" name="Freeform 9"/>
              <p:cNvSpPr/>
              <p:nvPr/>
            </p:nvSpPr>
            <p:spPr>
              <a:xfrm>
                <a:off x="926307" y="2527300"/>
                <a:ext cx="109538" cy="9525"/>
              </a:xfrm>
              <a:custGeom>
                <a:avLst/>
                <a:gdLst/>
                <a:ahLst/>
                <a:cxnLst/>
                <a:rect l="l" t="t" r="r" b="b"/>
                <a:pathLst>
                  <a:path w="109538" h="9525">
                    <a:moveTo>
                      <a:pt x="0" y="0"/>
                    </a:moveTo>
                    <a:lnTo>
                      <a:pt x="109538" y="0"/>
                    </a:lnTo>
                  </a:path>
                </a:pathLst>
              </a:custGeom>
              <a:noFill/>
              <a:ln w="36513">
                <a:solidFill>
                  <a:schemeClr val="accent2"/>
                </a:solidFill>
              </a:ln>
            </p:spPr>
          </p:sp>
        </p:grpSp>
        <p:sp>
          <p:nvSpPr>
            <p:cNvPr id="11" name="TextBox 11"/>
            <p:cNvSpPr txBox="1"/>
            <p:nvPr/>
          </p:nvSpPr>
          <p:spPr>
            <a:xfrm>
              <a:off x="1397508" y="2413000"/>
              <a:ext cx="1738270" cy="469392"/>
            </a:xfrm>
            <a:prstGeom prst="rect">
              <a:avLst/>
            </a:prstGeom>
            <a:noFill/>
            <a:ln>
              <a:noFill/>
            </a:ln>
          </p:spPr>
          <p:txBody>
            <a:bodyPr wrap="none" lIns="0" tIns="0" rIns="0" bIns="0" anchor="t" anchorCtr="0">
              <a:spAutoFit/>
            </a:bodyPr>
            <a:lstStyle/>
            <a:p>
              <a:pPr algn="l"/>
              <a:r>
                <a:rPr lang="en-AU" sz="2400" b="1" dirty="0">
                  <a:solidFill>
                    <a:schemeClr val="accent1"/>
                  </a:solidFill>
                  <a:latin typeface="+mn-lt"/>
                  <a:ea typeface="+mn-ea"/>
                  <a:cs typeface="+mn-cs"/>
                </a:rPr>
                <a:t>Availability</a:t>
              </a:r>
            </a:p>
          </p:txBody>
        </p:sp>
        <p:sp>
          <p:nvSpPr>
            <p:cNvPr id="12" name="TextBox 12"/>
            <p:cNvSpPr txBox="1"/>
            <p:nvPr/>
          </p:nvSpPr>
          <p:spPr>
            <a:xfrm>
              <a:off x="4904232" y="2432050"/>
              <a:ext cx="5939640" cy="410718"/>
            </a:xfrm>
            <a:prstGeom prst="rect">
              <a:avLst/>
            </a:prstGeom>
            <a:noFill/>
            <a:ln>
              <a:noFill/>
            </a:ln>
          </p:spPr>
          <p:txBody>
            <a:bodyPr wrap="none" lIns="0" tIns="0" rIns="0" bIns="0" anchor="t" anchorCtr="0">
              <a:spAutoFit/>
            </a:bodyPr>
            <a:lstStyle/>
            <a:p>
              <a:pPr algn="l"/>
              <a:r>
                <a:rPr lang="en-AU" sz="2100" dirty="0">
                  <a:solidFill>
                    <a:schemeClr val="dk1"/>
                  </a:solidFill>
                  <a:latin typeface="+mn-lt"/>
                  <a:ea typeface="+mn-ea"/>
                  <a:cs typeface="+mn-cs"/>
                </a:rPr>
                <a:t>Can the family obtain resources when needed?</a:t>
              </a:r>
            </a:p>
          </p:txBody>
        </p:sp>
        <p:sp>
          <p:nvSpPr>
            <p:cNvPr id="13" name="Line 13"/>
            <p:cNvSpPr/>
            <p:nvPr/>
          </p:nvSpPr>
          <p:spPr>
            <a:xfrm>
              <a:off x="685800" y="3086100"/>
              <a:ext cx="10820400" cy="9525"/>
            </a:xfrm>
            <a:custGeom>
              <a:avLst/>
              <a:gdLst/>
              <a:ahLst/>
              <a:cxnLst/>
              <a:rect l="l" t="t" r="r" b="b"/>
              <a:pathLst>
                <a:path w="10820400" h="9525">
                  <a:moveTo>
                    <a:pt x="0" y="0"/>
                  </a:moveTo>
                  <a:lnTo>
                    <a:pt x="10820400" y="0"/>
                  </a:lnTo>
                </a:path>
              </a:pathLst>
            </a:custGeom>
            <a:noFill/>
            <a:ln w="9525">
              <a:solidFill>
                <a:srgbClr val="D6E0E7"/>
              </a:solidFill>
            </a:ln>
          </p:spPr>
        </p:sp>
      </p:grpSp>
      <p:grpSp>
        <p:nvGrpSpPr>
          <p:cNvPr id="24" name="dimension-2"/>
          <p:cNvGrpSpPr/>
          <p:nvPr/>
        </p:nvGrpSpPr>
        <p:grpSpPr>
          <a:xfrm>
            <a:off x="685800" y="3422650"/>
            <a:ext cx="10820400" cy="682625"/>
            <a:chOff x="685800" y="3422650"/>
            <a:chExt cx="10820400" cy="682625"/>
          </a:xfrm>
        </p:grpSpPr>
        <p:grpSp>
          <p:nvGrpSpPr>
            <p:cNvPr id="20" name="Group 20"/>
            <p:cNvGrpSpPr/>
            <p:nvPr/>
          </p:nvGrpSpPr>
          <p:grpSpPr>
            <a:xfrm>
              <a:off x="816769" y="3443223"/>
              <a:ext cx="328613" cy="331059"/>
              <a:chOff x="816769" y="3443223"/>
              <a:chExt cx="328613" cy="331059"/>
            </a:xfrm>
          </p:grpSpPr>
          <p:sp>
            <p:nvSpPr>
              <p:cNvPr id="15" name="Freeform 15"/>
              <p:cNvSpPr/>
              <p:nvPr/>
            </p:nvSpPr>
            <p:spPr>
              <a:xfrm>
                <a:off x="926307" y="3591719"/>
                <a:ext cx="219075" cy="109538"/>
              </a:xfrm>
              <a:custGeom>
                <a:avLst/>
                <a:gdLst/>
                <a:ahLst/>
                <a:cxnLst/>
                <a:rect l="l" t="t" r="r" b="b"/>
                <a:pathLst>
                  <a:path w="219075" h="109538">
                    <a:moveTo>
                      <a:pt x="0" y="54769"/>
                    </a:moveTo>
                    <a:cubicBezTo>
                      <a:pt x="0" y="85020"/>
                      <a:pt x="49036" y="109538"/>
                      <a:pt x="109538" y="109538"/>
                    </a:cubicBezTo>
                    <a:cubicBezTo>
                      <a:pt x="170039" y="109538"/>
                      <a:pt x="219075" y="85020"/>
                      <a:pt x="219075" y="54769"/>
                    </a:cubicBezTo>
                    <a:cubicBezTo>
                      <a:pt x="219075" y="24518"/>
                      <a:pt x="170039" y="0"/>
                      <a:pt x="109538" y="0"/>
                    </a:cubicBezTo>
                    <a:cubicBezTo>
                      <a:pt x="49036" y="0"/>
                      <a:pt x="0" y="24518"/>
                      <a:pt x="0" y="54769"/>
                    </a:cubicBezTo>
                  </a:path>
                </a:pathLst>
              </a:custGeom>
              <a:noFill/>
              <a:ln w="36513">
                <a:solidFill>
                  <a:schemeClr val="accent2"/>
                </a:solidFill>
              </a:ln>
            </p:spPr>
          </p:sp>
          <p:sp>
            <p:nvSpPr>
              <p:cNvPr id="16" name="Freeform 16"/>
              <p:cNvSpPr/>
              <p:nvPr/>
            </p:nvSpPr>
            <p:spPr>
              <a:xfrm>
                <a:off x="926307" y="3646488"/>
                <a:ext cx="219075" cy="127794"/>
              </a:xfrm>
              <a:custGeom>
                <a:avLst/>
                <a:gdLst/>
                <a:ahLst/>
                <a:cxnLst/>
                <a:rect l="l" t="t" r="r" b="b"/>
                <a:pathLst>
                  <a:path w="219075" h="127794">
                    <a:moveTo>
                      <a:pt x="0" y="0"/>
                    </a:moveTo>
                    <a:lnTo>
                      <a:pt x="0" y="73025"/>
                    </a:lnTo>
                    <a:cubicBezTo>
                      <a:pt x="0" y="103258"/>
                      <a:pt x="49036" y="127794"/>
                      <a:pt x="109538" y="127794"/>
                    </a:cubicBezTo>
                    <a:cubicBezTo>
                      <a:pt x="170039" y="127794"/>
                      <a:pt x="219075" y="103258"/>
                      <a:pt x="219075" y="73025"/>
                    </a:cubicBezTo>
                    <a:lnTo>
                      <a:pt x="219075" y="0"/>
                    </a:lnTo>
                  </a:path>
                </a:pathLst>
              </a:custGeom>
              <a:noFill/>
              <a:ln w="36513">
                <a:solidFill>
                  <a:schemeClr val="accent2"/>
                </a:solidFill>
              </a:ln>
            </p:spPr>
          </p:sp>
          <p:sp>
            <p:nvSpPr>
              <p:cNvPr id="17" name="Freeform 17"/>
              <p:cNvSpPr/>
              <p:nvPr/>
            </p:nvSpPr>
            <p:spPr>
              <a:xfrm>
                <a:off x="816769" y="3443223"/>
                <a:ext cx="219075" cy="114430"/>
              </a:xfrm>
              <a:custGeom>
                <a:avLst/>
                <a:gdLst/>
                <a:ahLst/>
                <a:cxnLst/>
                <a:rect l="l" t="t" r="r" b="b"/>
                <a:pathLst>
                  <a:path w="219075" h="114430">
                    <a:moveTo>
                      <a:pt x="0" y="57215"/>
                    </a:moveTo>
                    <a:cubicBezTo>
                      <a:pt x="0" y="76786"/>
                      <a:pt x="20885" y="94860"/>
                      <a:pt x="54769" y="104645"/>
                    </a:cubicBezTo>
                    <a:cubicBezTo>
                      <a:pt x="88653" y="114430"/>
                      <a:pt x="130423" y="114430"/>
                      <a:pt x="164307" y="104645"/>
                    </a:cubicBezTo>
                    <a:cubicBezTo>
                      <a:pt x="198190" y="94860"/>
                      <a:pt x="219075" y="76786"/>
                      <a:pt x="219075" y="57215"/>
                    </a:cubicBezTo>
                    <a:cubicBezTo>
                      <a:pt x="219075" y="37644"/>
                      <a:pt x="198190" y="19571"/>
                      <a:pt x="164307" y="9785"/>
                    </a:cubicBezTo>
                    <a:cubicBezTo>
                      <a:pt x="130423" y="0"/>
                      <a:pt x="88653" y="0"/>
                      <a:pt x="54769" y="9785"/>
                    </a:cubicBezTo>
                    <a:cubicBezTo>
                      <a:pt x="20885" y="19571"/>
                      <a:pt x="0" y="37644"/>
                      <a:pt x="0" y="57215"/>
                    </a:cubicBezTo>
                  </a:path>
                </a:pathLst>
              </a:custGeom>
              <a:noFill/>
              <a:ln w="36513">
                <a:solidFill>
                  <a:schemeClr val="accent2"/>
                </a:solidFill>
              </a:ln>
            </p:spPr>
          </p:sp>
          <p:sp>
            <p:nvSpPr>
              <p:cNvPr id="18" name="Freeform 18"/>
              <p:cNvSpPr/>
              <p:nvPr/>
            </p:nvSpPr>
            <p:spPr>
              <a:xfrm>
                <a:off x="816769" y="3500438"/>
                <a:ext cx="36513" cy="219075"/>
              </a:xfrm>
              <a:custGeom>
                <a:avLst/>
                <a:gdLst/>
                <a:ahLst/>
                <a:cxnLst/>
                <a:rect l="l" t="t" r="r" b="b"/>
                <a:pathLst>
                  <a:path w="36513" h="219075">
                    <a:moveTo>
                      <a:pt x="0" y="0"/>
                    </a:moveTo>
                    <a:lnTo>
                      <a:pt x="0" y="182563"/>
                    </a:lnTo>
                    <a:cubicBezTo>
                      <a:pt x="0" y="198774"/>
                      <a:pt x="14094" y="209034"/>
                      <a:pt x="36513" y="219075"/>
                    </a:cubicBezTo>
                  </a:path>
                </a:pathLst>
              </a:custGeom>
              <a:noFill/>
              <a:ln w="36513">
                <a:solidFill>
                  <a:schemeClr val="accent2"/>
                </a:solidFill>
              </a:ln>
            </p:spPr>
          </p:sp>
          <p:sp>
            <p:nvSpPr>
              <p:cNvPr id="19" name="Freeform 19"/>
              <p:cNvSpPr/>
              <p:nvPr/>
            </p:nvSpPr>
            <p:spPr>
              <a:xfrm>
                <a:off x="816769" y="3591719"/>
                <a:ext cx="36513" cy="36513"/>
              </a:xfrm>
              <a:custGeom>
                <a:avLst/>
                <a:gdLst/>
                <a:ahLst/>
                <a:cxnLst/>
                <a:rect l="l" t="t" r="r" b="b"/>
                <a:pathLst>
                  <a:path w="36513" h="36513">
                    <a:moveTo>
                      <a:pt x="0" y="0"/>
                    </a:moveTo>
                    <a:cubicBezTo>
                      <a:pt x="0" y="16212"/>
                      <a:pt x="14094" y="26472"/>
                      <a:pt x="36513" y="36513"/>
                    </a:cubicBezTo>
                  </a:path>
                </a:pathLst>
              </a:custGeom>
              <a:noFill/>
              <a:ln w="36513">
                <a:solidFill>
                  <a:schemeClr val="accent2"/>
                </a:solidFill>
              </a:ln>
            </p:spPr>
          </p:sp>
        </p:grpSp>
        <p:sp>
          <p:nvSpPr>
            <p:cNvPr id="21" name="TextBox 21"/>
            <p:cNvSpPr txBox="1"/>
            <p:nvPr/>
          </p:nvSpPr>
          <p:spPr>
            <a:xfrm>
              <a:off x="1397508" y="3422650"/>
              <a:ext cx="1935204" cy="469392"/>
            </a:xfrm>
            <a:prstGeom prst="rect">
              <a:avLst/>
            </a:prstGeom>
            <a:noFill/>
            <a:ln>
              <a:noFill/>
            </a:ln>
          </p:spPr>
          <p:txBody>
            <a:bodyPr wrap="none" lIns="0" tIns="0" rIns="0" bIns="0" anchor="t" anchorCtr="0">
              <a:spAutoFit/>
            </a:bodyPr>
            <a:lstStyle/>
            <a:p>
              <a:pPr algn="l"/>
              <a:r>
                <a:rPr lang="en-AU" sz="2400" b="1" dirty="0">
                  <a:solidFill>
                    <a:schemeClr val="accent1"/>
                  </a:solidFill>
                  <a:latin typeface="+mn-lt"/>
                  <a:ea typeface="+mn-ea"/>
                  <a:cs typeface="+mn-cs"/>
                </a:rPr>
                <a:t>Affordability</a:t>
              </a:r>
            </a:p>
          </p:txBody>
        </p:sp>
        <p:sp>
          <p:nvSpPr>
            <p:cNvPr id="22" name="TextBox 22"/>
            <p:cNvSpPr txBox="1"/>
            <p:nvPr/>
          </p:nvSpPr>
          <p:spPr>
            <a:xfrm>
              <a:off x="4904232" y="3441700"/>
              <a:ext cx="6080623" cy="410718"/>
            </a:xfrm>
            <a:prstGeom prst="rect">
              <a:avLst/>
            </a:prstGeom>
            <a:noFill/>
            <a:ln>
              <a:noFill/>
            </a:ln>
          </p:spPr>
          <p:txBody>
            <a:bodyPr wrap="none" lIns="0" tIns="0" rIns="0" bIns="0" anchor="t" anchorCtr="0">
              <a:spAutoFit/>
            </a:bodyPr>
            <a:lstStyle/>
            <a:p>
              <a:pPr algn="l"/>
              <a:r>
                <a:rPr lang="en-AU" sz="2100" dirty="0">
                  <a:solidFill>
                    <a:schemeClr val="dk1"/>
                  </a:solidFill>
                  <a:latin typeface="+mn-lt"/>
                  <a:ea typeface="+mn-ea"/>
                  <a:cs typeface="+mn-cs"/>
                </a:rPr>
                <a:t>Does cost prevent access to needed resources?</a:t>
              </a:r>
            </a:p>
          </p:txBody>
        </p:sp>
        <p:sp>
          <p:nvSpPr>
            <p:cNvPr id="23" name="Line 23"/>
            <p:cNvSpPr/>
            <p:nvPr/>
          </p:nvSpPr>
          <p:spPr>
            <a:xfrm>
              <a:off x="685800" y="4095750"/>
              <a:ext cx="10820400" cy="9525"/>
            </a:xfrm>
            <a:custGeom>
              <a:avLst/>
              <a:gdLst/>
              <a:ahLst/>
              <a:cxnLst/>
              <a:rect l="l" t="t" r="r" b="b"/>
              <a:pathLst>
                <a:path w="10820400" h="9525">
                  <a:moveTo>
                    <a:pt x="0" y="0"/>
                  </a:moveTo>
                  <a:lnTo>
                    <a:pt x="10820400" y="0"/>
                  </a:lnTo>
                </a:path>
              </a:pathLst>
            </a:custGeom>
            <a:noFill/>
            <a:ln w="9525">
              <a:solidFill>
                <a:srgbClr val="D6E0E7"/>
              </a:solidFill>
            </a:ln>
          </p:spPr>
        </p:sp>
      </p:grpSp>
      <p:grpSp>
        <p:nvGrpSpPr>
          <p:cNvPr id="29" name="dimension-3"/>
          <p:cNvGrpSpPr/>
          <p:nvPr/>
        </p:nvGrpSpPr>
        <p:grpSpPr>
          <a:xfrm>
            <a:off x="685800" y="4432300"/>
            <a:ext cx="10820400" cy="682625"/>
            <a:chOff x="685800" y="4432300"/>
            <a:chExt cx="10820400" cy="682625"/>
          </a:xfrm>
        </p:grpSpPr>
        <p:sp>
          <p:nvSpPr>
            <p:cNvPr id="25" name="Freeform 25"/>
            <p:cNvSpPr/>
            <p:nvPr/>
          </p:nvSpPr>
          <p:spPr>
            <a:xfrm>
              <a:off x="816769" y="4455319"/>
              <a:ext cx="328613" cy="328613"/>
            </a:xfrm>
            <a:custGeom>
              <a:avLst/>
              <a:gdLst/>
              <a:ahLst/>
              <a:cxnLst/>
              <a:rect l="l" t="t" r="r" b="b"/>
              <a:pathLst>
                <a:path w="328613" h="328613">
                  <a:moveTo>
                    <a:pt x="18256" y="73025"/>
                  </a:moveTo>
                  <a:lnTo>
                    <a:pt x="73025" y="73025"/>
                  </a:lnTo>
                  <a:cubicBezTo>
                    <a:pt x="83108" y="73025"/>
                    <a:pt x="91281" y="64852"/>
                    <a:pt x="91281" y="54769"/>
                  </a:cubicBezTo>
                  <a:lnTo>
                    <a:pt x="91281" y="36513"/>
                  </a:lnTo>
                  <a:cubicBezTo>
                    <a:pt x="91281" y="16347"/>
                    <a:pt x="107629" y="0"/>
                    <a:pt x="127794" y="0"/>
                  </a:cubicBezTo>
                  <a:cubicBezTo>
                    <a:pt x="147959" y="0"/>
                    <a:pt x="164307" y="16347"/>
                    <a:pt x="164307" y="36513"/>
                  </a:cubicBezTo>
                  <a:lnTo>
                    <a:pt x="164307" y="54769"/>
                  </a:lnTo>
                  <a:cubicBezTo>
                    <a:pt x="164307" y="64852"/>
                    <a:pt x="172480" y="73025"/>
                    <a:pt x="182563" y="73025"/>
                  </a:cubicBezTo>
                  <a:lnTo>
                    <a:pt x="237332" y="73025"/>
                  </a:lnTo>
                  <a:cubicBezTo>
                    <a:pt x="247414" y="73025"/>
                    <a:pt x="255588" y="81199"/>
                    <a:pt x="255588" y="91281"/>
                  </a:cubicBezTo>
                  <a:lnTo>
                    <a:pt x="255588" y="146050"/>
                  </a:lnTo>
                  <a:cubicBezTo>
                    <a:pt x="255588" y="156133"/>
                    <a:pt x="263762" y="164307"/>
                    <a:pt x="273844" y="164307"/>
                  </a:cubicBezTo>
                  <a:lnTo>
                    <a:pt x="292101" y="164307"/>
                  </a:lnTo>
                  <a:cubicBezTo>
                    <a:pt x="312266" y="164307"/>
                    <a:pt x="328613" y="180654"/>
                    <a:pt x="328613" y="200819"/>
                  </a:cubicBezTo>
                  <a:cubicBezTo>
                    <a:pt x="328613" y="220984"/>
                    <a:pt x="312266" y="237332"/>
                    <a:pt x="292101" y="237332"/>
                  </a:cubicBezTo>
                  <a:lnTo>
                    <a:pt x="273844" y="237332"/>
                  </a:lnTo>
                  <a:cubicBezTo>
                    <a:pt x="263762" y="237332"/>
                    <a:pt x="255588" y="245505"/>
                    <a:pt x="255588" y="255588"/>
                  </a:cubicBezTo>
                  <a:lnTo>
                    <a:pt x="255588" y="310357"/>
                  </a:lnTo>
                  <a:cubicBezTo>
                    <a:pt x="255588" y="320439"/>
                    <a:pt x="247414" y="328613"/>
                    <a:pt x="237332" y="328613"/>
                  </a:cubicBezTo>
                  <a:lnTo>
                    <a:pt x="182563" y="328613"/>
                  </a:lnTo>
                  <a:cubicBezTo>
                    <a:pt x="172480" y="328613"/>
                    <a:pt x="164307" y="320439"/>
                    <a:pt x="164307" y="310357"/>
                  </a:cubicBezTo>
                  <a:lnTo>
                    <a:pt x="164307" y="292101"/>
                  </a:lnTo>
                  <a:cubicBezTo>
                    <a:pt x="164307" y="271935"/>
                    <a:pt x="147959" y="255588"/>
                    <a:pt x="127794" y="255588"/>
                  </a:cubicBezTo>
                  <a:cubicBezTo>
                    <a:pt x="107629" y="255588"/>
                    <a:pt x="91281" y="271935"/>
                    <a:pt x="91281" y="292101"/>
                  </a:cubicBezTo>
                  <a:lnTo>
                    <a:pt x="91281" y="310357"/>
                  </a:lnTo>
                  <a:cubicBezTo>
                    <a:pt x="91281" y="320439"/>
                    <a:pt x="83108" y="328613"/>
                    <a:pt x="73025" y="328613"/>
                  </a:cubicBezTo>
                  <a:lnTo>
                    <a:pt x="18256" y="328613"/>
                  </a:lnTo>
                  <a:cubicBezTo>
                    <a:pt x="8174" y="328613"/>
                    <a:pt x="0" y="320439"/>
                    <a:pt x="0" y="310357"/>
                  </a:cubicBezTo>
                  <a:lnTo>
                    <a:pt x="0" y="255588"/>
                  </a:lnTo>
                  <a:cubicBezTo>
                    <a:pt x="0" y="245505"/>
                    <a:pt x="8174" y="237332"/>
                    <a:pt x="18256" y="237332"/>
                  </a:cubicBezTo>
                  <a:lnTo>
                    <a:pt x="36513" y="237332"/>
                  </a:lnTo>
                  <a:cubicBezTo>
                    <a:pt x="56678" y="237332"/>
                    <a:pt x="73025" y="220984"/>
                    <a:pt x="73025" y="200819"/>
                  </a:cubicBezTo>
                  <a:cubicBezTo>
                    <a:pt x="73025" y="180654"/>
                    <a:pt x="56678" y="164307"/>
                    <a:pt x="36513" y="164307"/>
                  </a:cubicBezTo>
                  <a:lnTo>
                    <a:pt x="18256" y="164307"/>
                  </a:lnTo>
                  <a:cubicBezTo>
                    <a:pt x="8174" y="164307"/>
                    <a:pt x="0" y="156133"/>
                    <a:pt x="0" y="146050"/>
                  </a:cubicBezTo>
                  <a:lnTo>
                    <a:pt x="0" y="91281"/>
                  </a:lnTo>
                  <a:cubicBezTo>
                    <a:pt x="0" y="81199"/>
                    <a:pt x="8174" y="73025"/>
                    <a:pt x="18256" y="73025"/>
                  </a:cubicBezTo>
                </a:path>
              </a:pathLst>
            </a:custGeom>
            <a:noFill/>
            <a:ln w="36513">
              <a:solidFill>
                <a:schemeClr val="accent2"/>
              </a:solidFill>
            </a:ln>
          </p:spPr>
        </p:sp>
        <p:sp>
          <p:nvSpPr>
            <p:cNvPr id="26" name="TextBox 26"/>
            <p:cNvSpPr txBox="1"/>
            <p:nvPr/>
          </p:nvSpPr>
          <p:spPr>
            <a:xfrm>
              <a:off x="1397508" y="4432300"/>
              <a:ext cx="1576107" cy="469392"/>
            </a:xfrm>
            <a:prstGeom prst="rect">
              <a:avLst/>
            </a:prstGeom>
            <a:noFill/>
            <a:ln>
              <a:noFill/>
            </a:ln>
          </p:spPr>
          <p:txBody>
            <a:bodyPr wrap="none" lIns="0" tIns="0" rIns="0" bIns="0" anchor="t" anchorCtr="0">
              <a:spAutoFit/>
            </a:bodyPr>
            <a:lstStyle/>
            <a:p>
              <a:pPr algn="l"/>
              <a:r>
                <a:rPr lang="en-AU" sz="2400" b="1" dirty="0">
                  <a:solidFill>
                    <a:schemeClr val="accent1"/>
                  </a:solidFill>
                  <a:latin typeface="+mn-lt"/>
                  <a:ea typeface="+mn-ea"/>
                  <a:cs typeface="+mn-cs"/>
                </a:rPr>
                <a:t>Suitability</a:t>
              </a:r>
            </a:p>
          </p:txBody>
        </p:sp>
        <p:sp>
          <p:nvSpPr>
            <p:cNvPr id="27" name="TextBox 27"/>
            <p:cNvSpPr txBox="1"/>
            <p:nvPr/>
          </p:nvSpPr>
          <p:spPr>
            <a:xfrm>
              <a:off x="4904232" y="4451350"/>
              <a:ext cx="4854454" cy="410718"/>
            </a:xfrm>
            <a:prstGeom prst="rect">
              <a:avLst/>
            </a:prstGeom>
            <a:noFill/>
            <a:ln>
              <a:noFill/>
            </a:ln>
          </p:spPr>
          <p:txBody>
            <a:bodyPr wrap="none" lIns="0" tIns="0" rIns="0" bIns="0" anchor="t" anchorCtr="0">
              <a:spAutoFit/>
            </a:bodyPr>
            <a:lstStyle/>
            <a:p>
              <a:pPr algn="l"/>
              <a:r>
                <a:rPr lang="en-AU" sz="2100" dirty="0">
                  <a:solidFill>
                    <a:schemeClr val="dk1"/>
                  </a:solidFill>
                  <a:latin typeface="+mn-lt"/>
                  <a:ea typeface="+mn-ea"/>
                  <a:cs typeface="+mn-cs"/>
                </a:rPr>
                <a:t>Do the items fit the child’s play needs?</a:t>
              </a:r>
            </a:p>
          </p:txBody>
        </p:sp>
        <p:sp>
          <p:nvSpPr>
            <p:cNvPr id="28" name="Line 28"/>
            <p:cNvSpPr/>
            <p:nvPr/>
          </p:nvSpPr>
          <p:spPr>
            <a:xfrm>
              <a:off x="685800" y="5105400"/>
              <a:ext cx="10820400" cy="9525"/>
            </a:xfrm>
            <a:custGeom>
              <a:avLst/>
              <a:gdLst/>
              <a:ahLst/>
              <a:cxnLst/>
              <a:rect l="l" t="t" r="r" b="b"/>
              <a:pathLst>
                <a:path w="10820400" h="9525">
                  <a:moveTo>
                    <a:pt x="0" y="0"/>
                  </a:moveTo>
                  <a:lnTo>
                    <a:pt x="10820400" y="0"/>
                  </a:lnTo>
                </a:path>
              </a:pathLst>
            </a:custGeom>
            <a:noFill/>
            <a:ln w="9525">
              <a:solidFill>
                <a:srgbClr val="D6E0E7"/>
              </a:solidFill>
            </a:ln>
          </p:spPr>
        </p:sp>
      </p:grpSp>
      <p:grpSp>
        <p:nvGrpSpPr>
          <p:cNvPr id="31" name="use-context"/>
          <p:cNvGrpSpPr/>
          <p:nvPr/>
        </p:nvGrpSpPr>
        <p:grpSpPr>
          <a:xfrm>
            <a:off x="676656" y="5448300"/>
            <a:ext cx="6794752" cy="352044"/>
            <a:chOff x="676656" y="5448300"/>
            <a:chExt cx="6794752" cy="352044"/>
          </a:xfrm>
        </p:grpSpPr>
        <p:sp>
          <p:nvSpPr>
            <p:cNvPr id="30" name="TextBox 30"/>
            <p:cNvSpPr txBox="1"/>
            <p:nvPr/>
          </p:nvSpPr>
          <p:spPr>
            <a:xfrm>
              <a:off x="676656" y="5448300"/>
              <a:ext cx="6794752"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Actual use adds context. It is not a validated access score.</a:t>
              </a:r>
            </a:p>
          </p:txBody>
        </p:sp>
      </p:grpSp>
      <p:grpSp>
        <p:nvGrpSpPr>
          <p:cNvPr id="33" name="source-note"/>
          <p:cNvGrpSpPr/>
          <p:nvPr/>
        </p:nvGrpSpPr>
        <p:grpSpPr>
          <a:xfrm>
            <a:off x="679704" y="5962650"/>
            <a:ext cx="7650254" cy="234696"/>
            <a:chOff x="679704" y="5962650"/>
            <a:chExt cx="7650254" cy="234696"/>
          </a:xfrm>
        </p:grpSpPr>
        <p:sp>
          <p:nvSpPr>
            <p:cNvPr id="32" name="TextBox 32"/>
            <p:cNvSpPr txBox="1"/>
            <p:nvPr/>
          </p:nvSpPr>
          <p:spPr>
            <a:xfrm>
              <a:off x="679704" y="5962650"/>
              <a:ext cx="7650254"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Author’s proposed operationalisation. Definition/context guidance: ONS n.d.; systems lens: Nguyen 2026c.</a:t>
              </a:r>
            </a:p>
          </p:txBody>
        </p:sp>
      </p:grpSp>
      <p:sp>
        <p:nvSpPr>
          <p:cNvPr id="34" name="Line 34"/>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35"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36"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04</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7132682" cy="645414"/>
            <a:chOff x="669036" y="527050"/>
            <a:chExt cx="7132682" cy="645414"/>
          </a:xfrm>
        </p:grpSpPr>
        <p:sp>
          <p:nvSpPr>
            <p:cNvPr id="2" name="TextBox 2"/>
            <p:cNvSpPr txBox="1"/>
            <p:nvPr/>
          </p:nvSpPr>
          <p:spPr>
            <a:xfrm>
              <a:off x="669036" y="527050"/>
              <a:ext cx="7132682"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Comparing measurement options</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6" name="comparison-intro"/>
          <p:cNvGrpSpPr/>
          <p:nvPr/>
        </p:nvGrpSpPr>
        <p:grpSpPr>
          <a:xfrm>
            <a:off x="675132" y="1622425"/>
            <a:ext cx="6378353" cy="410718"/>
            <a:chOff x="675132" y="1622425"/>
            <a:chExt cx="6378353" cy="410718"/>
          </a:xfrm>
        </p:grpSpPr>
        <p:sp>
          <p:nvSpPr>
            <p:cNvPr id="5" name="TextBox 5"/>
            <p:cNvSpPr txBox="1"/>
            <p:nvPr/>
          </p:nvSpPr>
          <p:spPr>
            <a:xfrm>
              <a:off x="675132" y="1622425"/>
              <a:ext cx="6378353" cy="410718"/>
            </a:xfrm>
            <a:prstGeom prst="rect">
              <a:avLst/>
            </a:prstGeom>
            <a:noFill/>
            <a:ln>
              <a:noFill/>
            </a:ln>
          </p:spPr>
          <p:txBody>
            <a:bodyPr wrap="none" lIns="0" tIns="0" rIns="0" bIns="0" anchor="t" anchorCtr="0">
              <a:spAutoFit/>
            </a:bodyPr>
            <a:lstStyle/>
            <a:p>
              <a:pPr algn="l"/>
              <a:r>
                <a:rPr lang="en-AU" sz="2100" dirty="0">
                  <a:solidFill>
                    <a:schemeClr val="accent6"/>
                  </a:solidFill>
                  <a:latin typeface="+mn-lt"/>
                  <a:ea typeface="+mn-ea"/>
                  <a:cs typeface="+mn-cs"/>
                </a:rPr>
                <a:t>Qualitative appraisal against the research question</a:t>
              </a:r>
            </a:p>
          </p:txBody>
        </p:sp>
      </p:grpSp>
      <p:graphicFrame>
        <p:nvGraphicFramePr>
          <p:cNvPr id="7" name="options-comparison"/>
          <p:cNvGraphicFramePr>
            <a:graphicFrameLocks noGrp="1"/>
          </p:cNvGraphicFramePr>
          <p:nvPr/>
        </p:nvGraphicFramePr>
        <p:xfrm>
          <a:off x="685800" y="2190750"/>
          <a:ext cx="10820400" cy="3276600"/>
        </p:xfrm>
        <a:graphic>
          <a:graphicData uri="http://schemas.openxmlformats.org/drawingml/2006/table">
            <a:tbl>
              <a:tblPr firstRow="1" bandRow="0">
                <a:tableStyleId>{5C22544A-7EE6-4342-B048-85BDC9FD1C3A}</a:tableStyleId>
              </a:tblPr>
              <a:tblGrid>
                <a:gridCol w="2857500"/>
                <a:gridCol w="3714750"/>
                <a:gridCol w="4248150"/>
              </a:tblGrid>
              <a:tr h="495300">
                <a:tc>
                  <a:txBody>
                    <a:bodyPr/>
                    <a:lstStyle/>
                    <a:p>
                      <a:pPr/>
                      <a:r>
                        <a:rPr lang="en-AU" sz="1800" b="1">
                          <a:solidFill>
                            <a:schemeClr val="accent1"/>
                          </a:solidFill>
                          <a:latin typeface="Arial"/>
                          <a:ea typeface="Microsoft YaHei"/>
                          <a:cs typeface="Arial"/>
                        </a:rPr>
                        <a:t>Option</a:t>
                      </a:r>
                    </a:p>
                  </a:txBody>
                  <a:tcPr anchor="ctr" marL="133350" marR="133350" marT="76200" marB="76200">
                    <a:lnB w="9525">
                      <a:solidFill>
                        <a:srgbClr val="D6E0E7"/>
                      </a:solidFill>
                      <a:prstDash val="solid"/>
                    </a:lnB>
                    <a:solidFill>
                      <a:schemeClr val="accent5"/>
                    </a:solidFill>
                  </a:tcPr>
                </a:tc>
                <a:tc>
                  <a:txBody>
                    <a:bodyPr/>
                    <a:lstStyle/>
                    <a:p>
                      <a:pPr/>
                      <a:r>
                        <a:rPr lang="en-AU" sz="1800" b="1">
                          <a:solidFill>
                            <a:schemeClr val="accent1"/>
                          </a:solidFill>
                          <a:latin typeface="Arial"/>
                          <a:ea typeface="Microsoft YaHei"/>
                          <a:cs typeface="Arial"/>
                        </a:rPr>
                        <a:t>What it contributes</a:t>
                      </a:r>
                    </a:p>
                  </a:txBody>
                  <a:tcPr anchor="ctr" marL="133350" marR="133350" marT="76200" marB="76200">
                    <a:lnB w="9525">
                      <a:solidFill>
                        <a:srgbClr val="D6E0E7"/>
                      </a:solidFill>
                      <a:prstDash val="solid"/>
                    </a:lnB>
                    <a:solidFill>
                      <a:schemeClr val="accent5"/>
                    </a:solidFill>
                  </a:tcPr>
                </a:tc>
                <a:tc>
                  <a:txBody>
                    <a:bodyPr/>
                    <a:lstStyle/>
                    <a:p>
                      <a:pPr/>
                      <a:r>
                        <a:rPr lang="en-AU" sz="1800" b="1">
                          <a:solidFill>
                            <a:schemeClr val="accent1"/>
                          </a:solidFill>
                          <a:latin typeface="Arial"/>
                          <a:ea typeface="Microsoft YaHei"/>
                          <a:cs typeface="Arial"/>
                        </a:rPr>
                        <a:t>Trade-off</a:t>
                      </a:r>
                    </a:p>
                  </a:txBody>
                  <a:tcPr anchor="ctr" marL="133350" marR="133350" marT="76200" marB="76200">
                    <a:lnB w="9525">
                      <a:solidFill>
                        <a:srgbClr val="D6E0E7"/>
                      </a:solidFill>
                      <a:prstDash val="solid"/>
                    </a:lnB>
                    <a:solidFill>
                      <a:schemeClr val="accent5"/>
                    </a:solidFill>
                  </a:tcPr>
                </a:tc>
              </a:tr>
              <a:tr h="666750">
                <a:tc>
                  <a:txBody>
                    <a:bodyPr/>
                    <a:lstStyle/>
                    <a:p>
                      <a:pPr/>
                      <a:r>
                        <a:rPr lang="en-AU" sz="1800" b="1">
                          <a:solidFill>
                            <a:schemeClr val="dk1"/>
                          </a:solidFill>
                          <a:latin typeface="Arial"/>
                          <a:ea typeface="Microsoft YaHei"/>
                          <a:cs typeface="Arial"/>
                        </a:rPr>
                        <a:t>Distribution records</a:t>
                      </a:r>
                    </a:p>
                  </a:txBody>
                  <a:tcPr anchor="ctr" marL="133350" marR="133350" marT="76200" marB="76200">
                    <a:lnB w="9525">
                      <a:solidFill>
                        <a:srgbClr val="D6E0E7"/>
                      </a:solidFill>
                      <a:prstDash val="solid"/>
                    </a:lnB>
                    <a:solidFill>
                      <a:schemeClr val="lt1"/>
                    </a:solidFill>
                  </a:tcPr>
                </a:tc>
                <a:tc>
                  <a:txBody>
                    <a:bodyPr/>
                    <a:lstStyle/>
                    <a:p>
                      <a:pPr/>
                      <a:r>
                        <a:rPr lang="en-AU" sz="1800" b="0">
                          <a:solidFill>
                            <a:schemeClr val="dk1"/>
                          </a:solidFill>
                          <a:latin typeface="Arial"/>
                          <a:ea typeface="Microsoft YaHei"/>
                          <a:cs typeface="Arial"/>
                        </a:rPr>
                        <a:t>Describe reach and activity</a:t>
                      </a:r>
                    </a:p>
                  </a:txBody>
                  <a:tcPr anchor="ctr" marL="133350" marR="133350" marT="76200" marB="76200">
                    <a:lnB w="9525">
                      <a:solidFill>
                        <a:srgbClr val="D6E0E7"/>
                      </a:solidFill>
                      <a:prstDash val="solid"/>
                    </a:lnB>
                    <a:solidFill>
                      <a:schemeClr val="lt1"/>
                    </a:solidFill>
                  </a:tcPr>
                </a:tc>
                <a:tc>
                  <a:txBody>
                    <a:bodyPr/>
                    <a:lstStyle/>
                    <a:p>
                      <a:pPr/>
                      <a:r>
                        <a:rPr lang="en-AU" sz="1800" b="0">
                          <a:solidFill>
                            <a:schemeClr val="dk1"/>
                          </a:solidFill>
                          <a:latin typeface="Arial"/>
                          <a:ea typeface="Microsoft YaHei"/>
                          <a:cs typeface="Arial"/>
                        </a:rPr>
                        <a:t>Indirect relevance to access</a:t>
                      </a:r>
                    </a:p>
                  </a:txBody>
                  <a:tcPr anchor="ctr" marL="133350" marR="133350" marT="76200" marB="76200">
                    <a:lnB w="9525">
                      <a:solidFill>
                        <a:srgbClr val="D6E0E7"/>
                      </a:solidFill>
                      <a:prstDash val="solid"/>
                    </a:lnB>
                    <a:solidFill>
                      <a:schemeClr val="lt1"/>
                    </a:solidFill>
                  </a:tcPr>
                </a:tc>
              </a:tr>
              <a:tr h="666750">
                <a:tc>
                  <a:txBody>
                    <a:bodyPr/>
                    <a:lstStyle/>
                    <a:p>
                      <a:pPr/>
                      <a:r>
                        <a:rPr lang="en-AU" sz="1800" b="1">
                          <a:solidFill>
                            <a:schemeClr val="dk1"/>
                          </a:solidFill>
                          <a:latin typeface="Arial"/>
                          <a:ea typeface="Microsoft YaHei"/>
                          <a:cs typeface="Arial"/>
                        </a:rPr>
                        <a:t>Satisfaction item</a:t>
                      </a:r>
                    </a:p>
                  </a:txBody>
                  <a:tcPr anchor="ctr" marL="133350" marR="133350" marT="76200" marB="76200">
                    <a:lnB w="9525">
                      <a:solidFill>
                        <a:srgbClr val="D6E0E7"/>
                      </a:solidFill>
                      <a:prstDash val="solid"/>
                    </a:lnB>
                    <a:solidFill>
                      <a:schemeClr val="lt1"/>
                    </a:solidFill>
                  </a:tcPr>
                </a:tc>
                <a:tc>
                  <a:txBody>
                    <a:bodyPr/>
                    <a:lstStyle/>
                    <a:p>
                      <a:pPr/>
                      <a:r>
                        <a:rPr lang="en-AU" sz="1800" b="0">
                          <a:solidFill>
                            <a:schemeClr val="dk1"/>
                          </a:solidFill>
                          <a:latin typeface="Arial"/>
                          <a:ea typeface="Microsoft YaHei"/>
                          <a:cs typeface="Arial"/>
                        </a:rPr>
                        <a:t>Describe service experience</a:t>
                      </a:r>
                    </a:p>
                  </a:txBody>
                  <a:tcPr anchor="ctr" marL="133350" marR="133350" marT="76200" marB="76200">
                    <a:lnB w="9525">
                      <a:solidFill>
                        <a:srgbClr val="D6E0E7"/>
                      </a:solidFill>
                      <a:prstDash val="solid"/>
                    </a:lnB>
                    <a:solidFill>
                      <a:schemeClr val="lt1"/>
                    </a:solidFill>
                  </a:tcPr>
                </a:tc>
                <a:tc>
                  <a:txBody>
                    <a:bodyPr/>
                    <a:lstStyle/>
                    <a:p>
                      <a:pPr/>
                      <a:r>
                        <a:rPr lang="en-AU" sz="1800" b="0">
                          <a:solidFill>
                            <a:schemeClr val="dk1"/>
                          </a:solidFill>
                          <a:latin typeface="Arial"/>
                          <a:ea typeface="Microsoft YaHei"/>
                          <a:cs typeface="Arial"/>
                        </a:rPr>
                        <a:t>Does not ask about change</a:t>
                      </a:r>
                    </a:p>
                  </a:txBody>
                  <a:tcPr anchor="ctr" marL="133350" marR="133350" marT="76200" marB="76200">
                    <a:lnB w="9525">
                      <a:solidFill>
                        <a:srgbClr val="D6E0E7"/>
                      </a:solidFill>
                      <a:prstDash val="solid"/>
                    </a:lnB>
                    <a:solidFill>
                      <a:schemeClr val="lt1"/>
                    </a:solidFill>
                  </a:tcPr>
                </a:tc>
              </a:tr>
              <a:tr h="666750">
                <a:tc>
                  <a:txBody>
                    <a:bodyPr/>
                    <a:lstStyle/>
                    <a:p>
                      <a:pPr/>
                      <a:r>
                        <a:rPr lang="en-AU" sz="1800" b="1">
                          <a:solidFill>
                            <a:schemeClr val="dk1"/>
                          </a:solidFill>
                          <a:latin typeface="Arial"/>
                          <a:ea typeface="Microsoft YaHei"/>
                          <a:cs typeface="Arial"/>
                        </a:rPr>
                        <a:t>Access-change item</a:t>
                      </a:r>
                    </a:p>
                  </a:txBody>
                  <a:tcPr anchor="ctr" marL="133350" marR="133350" marT="76200" marB="76200">
                    <a:lnB w="9525">
                      <a:solidFill>
                        <a:srgbClr val="D6E0E7"/>
                      </a:solidFill>
                      <a:prstDash val="solid"/>
                    </a:lnB>
                    <a:solidFill>
                      <a:schemeClr val="lt1"/>
                    </a:solidFill>
                  </a:tcPr>
                </a:tc>
                <a:tc>
                  <a:txBody>
                    <a:bodyPr/>
                    <a:lstStyle/>
                    <a:p>
                      <a:pPr/>
                      <a:r>
                        <a:rPr lang="en-AU" sz="1800" b="0">
                          <a:solidFill>
                            <a:schemeClr val="dk1"/>
                          </a:solidFill>
                          <a:latin typeface="Arial"/>
                          <a:ea typeface="Microsoft YaHei"/>
                          <a:cs typeface="Arial"/>
                        </a:rPr>
                        <a:t>Ask about perceived change</a:t>
                      </a:r>
                    </a:p>
                  </a:txBody>
                  <a:tcPr anchor="ctr" marL="133350" marR="133350" marT="76200" marB="76200">
                    <a:lnB w="9525">
                      <a:solidFill>
                        <a:srgbClr val="D6E0E7"/>
                      </a:solidFill>
                      <a:prstDash val="solid"/>
                    </a:lnB>
                    <a:solidFill>
                      <a:schemeClr val="lt1"/>
                    </a:solidFill>
                  </a:tcPr>
                </a:tc>
                <a:tc>
                  <a:txBody>
                    <a:bodyPr/>
                    <a:lstStyle/>
                    <a:p>
                      <a:pPr/>
                      <a:r>
                        <a:rPr lang="en-AU" sz="1800" b="0">
                          <a:solidFill>
                            <a:schemeClr val="dk1"/>
                          </a:solidFill>
                          <a:latin typeface="Arial"/>
                          <a:ea typeface="Microsoft YaHei"/>
                          <a:cs typeface="Arial"/>
                        </a:rPr>
                        <a:t>Requires recall of an earlier period</a:t>
                      </a:r>
                    </a:p>
                  </a:txBody>
                  <a:tcPr anchor="ctr" marL="133350" marR="133350" marT="76200" marB="76200">
                    <a:lnB w="9525">
                      <a:solidFill>
                        <a:srgbClr val="D6E0E7"/>
                      </a:solidFill>
                      <a:prstDash val="solid"/>
                    </a:lnB>
                    <a:solidFill>
                      <a:schemeClr val="lt1"/>
                    </a:solidFill>
                  </a:tcPr>
                </a:tc>
              </a:tr>
              <a:tr h="781050">
                <a:tc>
                  <a:txBody>
                    <a:bodyPr/>
                    <a:lstStyle/>
                    <a:p>
                      <a:pPr/>
                      <a:r>
                        <a:rPr lang="en-AU" sz="1800" b="1">
                          <a:solidFill>
                            <a:schemeClr val="accent2"/>
                          </a:solidFill>
                          <a:latin typeface="Arial"/>
                          <a:ea typeface="Microsoft YaHei"/>
                          <a:cs typeface="Arial"/>
                        </a:rPr>
                        <a:t>Short set + comment</a:t>
                      </a:r>
                    </a:p>
                  </a:txBody>
                  <a:tcPr anchor="ctr" marL="133350" marR="133350" marT="76200" marB="76200">
                    <a:lnB w="9525">
                      <a:solidFill>
                        <a:srgbClr val="D6E0E7"/>
                      </a:solidFill>
                      <a:prstDash val="solid"/>
                    </a:lnB>
                    <a:solidFill>
                      <a:srgbClr val="EDF5F5"/>
                    </a:solidFill>
                  </a:tcPr>
                </a:tc>
                <a:tc>
                  <a:txBody>
                    <a:bodyPr/>
                    <a:lstStyle/>
                    <a:p>
                      <a:pPr/>
                      <a:r>
                        <a:rPr lang="en-AU" sz="1800" b="0">
                          <a:solidFill>
                            <a:schemeClr val="accent2"/>
                          </a:solidFill>
                          <a:latin typeface="Arial"/>
                          <a:ea typeface="Microsoft YaHei"/>
                          <a:cs typeface="Arial"/>
                        </a:rPr>
                        <a:t>Add barriers, fit and explanation</a:t>
                      </a:r>
                    </a:p>
                  </a:txBody>
                  <a:tcPr anchor="ctr" marL="133350" marR="133350" marT="76200" marB="76200">
                    <a:lnB w="9525">
                      <a:solidFill>
                        <a:srgbClr val="D6E0E7"/>
                      </a:solidFill>
                      <a:prstDash val="solid"/>
                    </a:lnB>
                    <a:solidFill>
                      <a:srgbClr val="EDF5F5"/>
                    </a:solidFill>
                  </a:tcPr>
                </a:tc>
                <a:tc>
                  <a:txBody>
                    <a:bodyPr/>
                    <a:lstStyle/>
                    <a:p>
                      <a:pPr/>
                      <a:r>
                        <a:rPr lang="en-AU" sz="1800" b="0">
                          <a:solidFill>
                            <a:schemeClr val="accent2"/>
                          </a:solidFill>
                          <a:latin typeface="Arial"/>
                          <a:ea typeface="Microsoft YaHei"/>
                          <a:cs typeface="Arial"/>
                        </a:rPr>
                        <a:t>More time and coding; pilot first</a:t>
                      </a:r>
                    </a:p>
                  </a:txBody>
                  <a:tcPr anchor="ctr" marL="133350" marR="133350" marT="76200" marB="76200">
                    <a:lnB w="9525">
                      <a:solidFill>
                        <a:srgbClr val="D6E0E7"/>
                      </a:solidFill>
                      <a:prstDash val="solid"/>
                    </a:lnB>
                    <a:solidFill>
                      <a:srgbClr val="EDF5F5"/>
                    </a:solidFill>
                  </a:tcPr>
                </a:tc>
              </a:tr>
            </a:tbl>
          </a:graphicData>
        </a:graphic>
      </p:graphicFrame>
      <p:grpSp>
        <p:nvGrpSpPr>
          <p:cNvPr id="9" name="comparison-judgement"/>
          <p:cNvGrpSpPr/>
          <p:nvPr/>
        </p:nvGrpSpPr>
        <p:grpSpPr>
          <a:xfrm>
            <a:off x="676656" y="5591175"/>
            <a:ext cx="7014253" cy="352044"/>
            <a:chOff x="676656" y="5591175"/>
            <a:chExt cx="7014253" cy="352044"/>
          </a:xfrm>
        </p:grpSpPr>
        <p:sp>
          <p:nvSpPr>
            <p:cNvPr id="8" name="TextBox 8"/>
            <p:cNvSpPr txBox="1"/>
            <p:nvPr/>
          </p:nvSpPr>
          <p:spPr>
            <a:xfrm>
              <a:off x="676656" y="5591175"/>
              <a:ext cx="7014253"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Keep only questions that inform a decision or a report claim.</a:t>
              </a:r>
            </a:p>
          </p:txBody>
        </p:sp>
      </p:grpSp>
      <p:grpSp>
        <p:nvGrpSpPr>
          <p:cNvPr id="11" name="source-note"/>
          <p:cNvGrpSpPr/>
          <p:nvPr/>
        </p:nvGrpSpPr>
        <p:grpSpPr>
          <a:xfrm>
            <a:off x="679704" y="5962650"/>
            <a:ext cx="6573016" cy="234696"/>
            <a:chOff x="679704" y="5962650"/>
            <a:chExt cx="6573016" cy="234696"/>
          </a:xfrm>
        </p:grpSpPr>
        <p:sp>
          <p:nvSpPr>
            <p:cNvPr id="10" name="TextBox 10"/>
            <p:cNvSpPr txBox="1"/>
            <p:nvPr/>
          </p:nvSpPr>
          <p:spPr>
            <a:xfrm>
              <a:off x="679704" y="5962650"/>
              <a:ext cx="6573016"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Author appraisal, not measured ratings. Design principles: Bjarkefur et al. 2021; GDS n.d.a.</a:t>
              </a:r>
            </a:p>
          </p:txBody>
        </p:sp>
      </p:grpSp>
      <p:sp>
        <p:nvSpPr>
          <p:cNvPr id="12" name="Line 12"/>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13"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14"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05</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8836945" cy="645414"/>
            <a:chOff x="669036" y="527050"/>
            <a:chExt cx="8836945" cy="645414"/>
          </a:xfrm>
        </p:grpSpPr>
        <p:sp>
          <p:nvSpPr>
            <p:cNvPr id="2" name="TextBox 2"/>
            <p:cNvSpPr txBox="1"/>
            <p:nvPr/>
          </p:nvSpPr>
          <p:spPr>
            <a:xfrm>
              <a:off x="669036" y="527050"/>
              <a:ext cx="8836945"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Five questions, each with a clear purpose</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20" name="question-purposes"/>
          <p:cNvGrpSpPr/>
          <p:nvPr/>
        </p:nvGrpSpPr>
        <p:grpSpPr>
          <a:xfrm>
            <a:off x="676656" y="1955800"/>
            <a:ext cx="5501895" cy="3606419"/>
            <a:chOff x="676656" y="1955800"/>
            <a:chExt cx="5501895" cy="3606419"/>
          </a:xfrm>
        </p:grpSpPr>
        <p:sp>
          <p:nvSpPr>
            <p:cNvPr id="5" name="TextBox 5"/>
            <p:cNvSpPr txBox="1"/>
            <p:nvPr/>
          </p:nvSpPr>
          <p:spPr>
            <a:xfrm>
              <a:off x="676656" y="2000250"/>
              <a:ext cx="287840"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01</a:t>
              </a:r>
            </a:p>
          </p:txBody>
        </p:sp>
        <p:sp>
          <p:nvSpPr>
            <p:cNvPr id="6" name="TextBox 6"/>
            <p:cNvSpPr txBox="1"/>
            <p:nvPr/>
          </p:nvSpPr>
          <p:spPr>
            <a:xfrm>
              <a:off x="1246632" y="1955800"/>
              <a:ext cx="2089683"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Access change</a:t>
              </a:r>
            </a:p>
          </p:txBody>
        </p:sp>
        <p:sp>
          <p:nvSpPr>
            <p:cNvPr id="7" name="TextBox 7"/>
            <p:cNvSpPr txBox="1"/>
            <p:nvPr/>
          </p:nvSpPr>
          <p:spPr>
            <a:xfrm>
              <a:off x="1248156" y="2276475"/>
              <a:ext cx="3232407" cy="352044"/>
            </a:xfrm>
            <a:prstGeom prst="rect">
              <a:avLst/>
            </a:prstGeom>
            <a:noFill/>
            <a:ln>
              <a:noFill/>
            </a:ln>
          </p:spPr>
          <p:txBody>
            <a:bodyPr wrap="none" lIns="0" tIns="0" rIns="0" bIns="0" anchor="t" anchorCtr="0">
              <a:spAutoFit/>
            </a:bodyPr>
            <a:lstStyle/>
            <a:p>
              <a:pPr algn="l"/>
              <a:r>
                <a:rPr lang="en-AU" sz="1800" dirty="0">
                  <a:solidFill>
                    <a:schemeClr val="dk1"/>
                  </a:solidFill>
                  <a:latin typeface="+mn-lt"/>
                  <a:ea typeface="+mn-ea"/>
                  <a:cs typeface="+mn-cs"/>
                </a:rPr>
                <a:t>Easier, harder or unchanged?</a:t>
              </a:r>
            </a:p>
          </p:txBody>
        </p:sp>
        <p:sp>
          <p:nvSpPr>
            <p:cNvPr id="8" name="TextBox 8"/>
            <p:cNvSpPr txBox="1"/>
            <p:nvPr/>
          </p:nvSpPr>
          <p:spPr>
            <a:xfrm>
              <a:off x="676656" y="2733675"/>
              <a:ext cx="287840"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02</a:t>
              </a:r>
            </a:p>
          </p:txBody>
        </p:sp>
        <p:sp>
          <p:nvSpPr>
            <p:cNvPr id="9" name="TextBox 9"/>
            <p:cNvSpPr txBox="1"/>
            <p:nvPr/>
          </p:nvSpPr>
          <p:spPr>
            <a:xfrm>
              <a:off x="1246632" y="2689225"/>
              <a:ext cx="1632107"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Cost barrier</a:t>
              </a:r>
            </a:p>
          </p:txBody>
        </p:sp>
        <p:sp>
          <p:nvSpPr>
            <p:cNvPr id="10" name="TextBox 10"/>
            <p:cNvSpPr txBox="1"/>
            <p:nvPr/>
          </p:nvSpPr>
          <p:spPr>
            <a:xfrm>
              <a:off x="1248156" y="3009900"/>
              <a:ext cx="3851367" cy="352044"/>
            </a:xfrm>
            <a:prstGeom prst="rect">
              <a:avLst/>
            </a:prstGeom>
            <a:noFill/>
            <a:ln>
              <a:noFill/>
            </a:ln>
          </p:spPr>
          <p:txBody>
            <a:bodyPr wrap="none" lIns="0" tIns="0" rIns="0" bIns="0" anchor="t" anchorCtr="0">
              <a:spAutoFit/>
            </a:bodyPr>
            <a:lstStyle/>
            <a:p>
              <a:pPr algn="l"/>
              <a:r>
                <a:rPr lang="en-AU" sz="1800" dirty="0">
                  <a:solidFill>
                    <a:schemeClr val="dk1"/>
                  </a:solidFill>
                  <a:latin typeface="+mn-lt"/>
                  <a:ea typeface="+mn-ea"/>
                  <a:cs typeface="+mn-cs"/>
                </a:rPr>
                <a:t>How often did cost prevent access?</a:t>
              </a:r>
            </a:p>
          </p:txBody>
        </p:sp>
        <p:sp>
          <p:nvSpPr>
            <p:cNvPr id="11" name="TextBox 11"/>
            <p:cNvSpPr txBox="1"/>
            <p:nvPr/>
          </p:nvSpPr>
          <p:spPr>
            <a:xfrm>
              <a:off x="676656" y="3467100"/>
              <a:ext cx="287840"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03</a:t>
              </a:r>
            </a:p>
          </p:txBody>
        </p:sp>
        <p:sp>
          <p:nvSpPr>
            <p:cNvPr id="12" name="TextBox 12"/>
            <p:cNvSpPr txBox="1"/>
            <p:nvPr/>
          </p:nvSpPr>
          <p:spPr>
            <a:xfrm>
              <a:off x="1246632" y="3422650"/>
              <a:ext cx="1379094"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Suitability</a:t>
              </a:r>
            </a:p>
          </p:txBody>
        </p:sp>
        <p:sp>
          <p:nvSpPr>
            <p:cNvPr id="13" name="TextBox 13"/>
            <p:cNvSpPr txBox="1"/>
            <p:nvPr/>
          </p:nvSpPr>
          <p:spPr>
            <a:xfrm>
              <a:off x="1248156" y="3743325"/>
              <a:ext cx="3810215" cy="352044"/>
            </a:xfrm>
            <a:prstGeom prst="rect">
              <a:avLst/>
            </a:prstGeom>
            <a:noFill/>
            <a:ln>
              <a:noFill/>
            </a:ln>
          </p:spPr>
          <p:txBody>
            <a:bodyPr wrap="none" lIns="0" tIns="0" rIns="0" bIns="0" anchor="t" anchorCtr="0">
              <a:spAutoFit/>
            </a:bodyPr>
            <a:lstStyle/>
            <a:p>
              <a:pPr algn="l"/>
              <a:r>
                <a:rPr lang="en-AU" sz="1800" dirty="0">
                  <a:solidFill>
                    <a:schemeClr val="dk1"/>
                  </a:solidFill>
                  <a:latin typeface="+mn-lt"/>
                  <a:ea typeface="+mn-ea"/>
                  <a:cs typeface="+mn-cs"/>
                </a:rPr>
                <a:t>How well did the received items fit?</a:t>
              </a:r>
            </a:p>
          </p:txBody>
        </p:sp>
        <p:sp>
          <p:nvSpPr>
            <p:cNvPr id="14" name="TextBox 14"/>
            <p:cNvSpPr txBox="1"/>
            <p:nvPr/>
          </p:nvSpPr>
          <p:spPr>
            <a:xfrm>
              <a:off x="676656" y="4200525"/>
              <a:ext cx="287840"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04</a:t>
              </a:r>
            </a:p>
          </p:txBody>
        </p:sp>
        <p:sp>
          <p:nvSpPr>
            <p:cNvPr id="15" name="TextBox 15"/>
            <p:cNvSpPr txBox="1"/>
            <p:nvPr/>
          </p:nvSpPr>
          <p:spPr>
            <a:xfrm>
              <a:off x="1246632" y="4156075"/>
              <a:ext cx="1539207"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Recent use</a:t>
              </a:r>
            </a:p>
          </p:txBody>
        </p:sp>
        <p:sp>
          <p:nvSpPr>
            <p:cNvPr id="16" name="TextBox 16"/>
            <p:cNvSpPr txBox="1"/>
            <p:nvPr/>
          </p:nvSpPr>
          <p:spPr>
            <a:xfrm>
              <a:off x="1248156" y="4476750"/>
              <a:ext cx="3339413" cy="352044"/>
            </a:xfrm>
            <a:prstGeom prst="rect">
              <a:avLst/>
            </a:prstGeom>
            <a:noFill/>
            <a:ln>
              <a:noFill/>
            </a:ln>
          </p:spPr>
          <p:txBody>
            <a:bodyPr wrap="none" lIns="0" tIns="0" rIns="0" bIns="0" anchor="t" anchorCtr="0">
              <a:spAutoFit/>
            </a:bodyPr>
            <a:lstStyle/>
            <a:p>
              <a:pPr algn="l"/>
              <a:r>
                <a:rPr lang="en-AU" sz="1800" dirty="0">
                  <a:solidFill>
                    <a:schemeClr val="dk1"/>
                  </a:solidFill>
                  <a:latin typeface="+mn-lt"/>
                  <a:ea typeface="+mn-ea"/>
                  <a:cs typeface="+mn-cs"/>
                </a:rPr>
                <a:t>Use during the last seven days</a:t>
              </a:r>
            </a:p>
          </p:txBody>
        </p:sp>
        <p:sp>
          <p:nvSpPr>
            <p:cNvPr id="17" name="TextBox 17"/>
            <p:cNvSpPr txBox="1"/>
            <p:nvPr/>
          </p:nvSpPr>
          <p:spPr>
            <a:xfrm>
              <a:off x="676656" y="4933950"/>
              <a:ext cx="287840"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05</a:t>
              </a:r>
            </a:p>
          </p:txBody>
        </p:sp>
        <p:sp>
          <p:nvSpPr>
            <p:cNvPr id="18" name="TextBox 18"/>
            <p:cNvSpPr txBox="1"/>
            <p:nvPr/>
          </p:nvSpPr>
          <p:spPr>
            <a:xfrm>
              <a:off x="1246632" y="4889500"/>
              <a:ext cx="1631766"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Explanation</a:t>
              </a:r>
            </a:p>
          </p:txBody>
        </p:sp>
        <p:sp>
          <p:nvSpPr>
            <p:cNvPr id="19" name="TextBox 19"/>
            <p:cNvSpPr txBox="1"/>
            <p:nvPr/>
          </p:nvSpPr>
          <p:spPr>
            <a:xfrm>
              <a:off x="1248156" y="5210175"/>
              <a:ext cx="4930395" cy="352044"/>
            </a:xfrm>
            <a:prstGeom prst="rect">
              <a:avLst/>
            </a:prstGeom>
            <a:noFill/>
            <a:ln>
              <a:noFill/>
            </a:ln>
          </p:spPr>
          <p:txBody>
            <a:bodyPr wrap="none" lIns="0" tIns="0" rIns="0" bIns="0" anchor="t" anchorCtr="0">
              <a:spAutoFit/>
            </a:bodyPr>
            <a:lstStyle/>
            <a:p>
              <a:pPr algn="l"/>
              <a:r>
                <a:rPr lang="en-AU" sz="1800" dirty="0">
                  <a:solidFill>
                    <a:schemeClr val="dk1"/>
                  </a:solidFill>
                  <a:latin typeface="+mn-lt"/>
                  <a:ea typeface="+mn-ea"/>
                  <a:cs typeface="+mn-cs"/>
                </a:rPr>
                <a:t>What changed, and what helped or hindered?</a:t>
              </a:r>
            </a:p>
          </p:txBody>
        </p:sp>
      </p:grpSp>
      <p:grpSp>
        <p:nvGrpSpPr>
          <p:cNvPr id="25" name="survey-rules"/>
          <p:cNvGrpSpPr/>
          <p:nvPr/>
        </p:nvGrpSpPr>
        <p:grpSpPr>
          <a:xfrm>
            <a:off x="8237982" y="1822450"/>
            <a:ext cx="2917043" cy="3777869"/>
            <a:chOff x="8237982" y="1822450"/>
            <a:chExt cx="2917043" cy="3777869"/>
          </a:xfrm>
        </p:grpSpPr>
        <p:sp>
          <p:nvSpPr>
            <p:cNvPr id="21" name="TextBox 21"/>
            <p:cNvSpPr txBox="1"/>
            <p:nvPr/>
          </p:nvSpPr>
          <p:spPr>
            <a:xfrm>
              <a:off x="8237982" y="1822450"/>
              <a:ext cx="2653193"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Interpret separately</a:t>
              </a:r>
            </a:p>
          </p:txBody>
        </p:sp>
        <p:sp>
          <p:nvSpPr>
            <p:cNvPr id="22" name="TextBox 22"/>
            <p:cNvSpPr txBox="1"/>
            <p:nvPr/>
          </p:nvSpPr>
          <p:spPr>
            <a:xfrm>
              <a:off x="8239506" y="2441575"/>
              <a:ext cx="2915519" cy="675894"/>
            </a:xfrm>
            <a:prstGeom prst="rect">
              <a:avLst/>
            </a:prstGeom>
            <a:noFill/>
            <a:ln>
              <a:noFill/>
            </a:ln>
          </p:spPr>
          <p:txBody>
            <a:bodyPr wrap="none" lIns="0" tIns="0" rIns="0" bIns="0" anchor="t" anchorCtr="0">
              <a:spAutoFit/>
            </a:bodyPr>
            <a:lstStyle/>
            <a:p>
              <a:pPr algn="l">
                <a:lnSpc>
                  <a:spcPts val="2550"/>
                </a:lnSpc>
              </a:pPr>
              <a:r>
                <a:rPr lang="en-AU" sz="1800" dirty="0">
                  <a:solidFill>
                    <a:schemeClr val="dk1"/>
                  </a:solidFill>
                  <a:latin typeface="+mn-lt"/>
                  <a:ea typeface="+mn-ea"/>
                  <a:cs typeface="+mn-cs"/>
                </a:rPr>
                <a:t>Proposed: invite adult carers</a:t>
              </a:r>
              <a:br>
                <a:rPr lang="en-AU" sz="1800" dirty="0">
                  <a:solidFill>
                    <a:schemeClr val="dk1"/>
                  </a:solidFill>
                  <a:latin typeface="+mn-lt"/>
                  <a:ea typeface="+mn-ea"/>
                  <a:cs typeface="+mn-cs"/>
                </a:rPr>
              </a:br>
              <a:r>
                <a:rPr lang="en-AU" sz="1800" dirty="0">
                  <a:solidFill>
                    <a:schemeClr val="dk1"/>
                  </a:solidFill>
                  <a:latin typeface="+mn-lt"/>
                  <a:ea typeface="+mn-ea"/>
                  <a:cs typeface="+mn-cs"/>
                </a:rPr>
                <a:t>four weeks after one visit.</a:t>
              </a:r>
            </a:p>
          </p:txBody>
        </p:sp>
        <p:sp>
          <p:nvSpPr>
            <p:cNvPr id="23" name="TextBox 23"/>
            <p:cNvSpPr txBox="1"/>
            <p:nvPr/>
          </p:nvSpPr>
          <p:spPr>
            <a:xfrm>
              <a:off x="8240268" y="3460750"/>
              <a:ext cx="2905243" cy="1294257"/>
            </a:xfrm>
            <a:prstGeom prst="rect">
              <a:avLst/>
            </a:prstGeom>
            <a:noFill/>
            <a:ln>
              <a:noFill/>
            </a:ln>
          </p:spPr>
          <p:txBody>
            <a:bodyPr wrap="none" lIns="0" tIns="0" rIns="0" bIns="0" anchor="t" anchorCtr="0">
              <a:spAutoFit/>
            </a:bodyPr>
            <a:lstStyle/>
            <a:p>
              <a:pPr algn="l">
                <a:lnSpc>
                  <a:spcPts val="2550"/>
                </a:lnSpc>
              </a:pPr>
              <a:r>
                <a:rPr lang="en-AU" sz="1650" dirty="0">
                  <a:solidFill>
                    <a:schemeClr val="dk1"/>
                  </a:solidFill>
                  <a:latin typeface="+mn-lt"/>
                  <a:ea typeface="+mn-ea"/>
                  <a:cs typeface="+mn-cs"/>
                </a:rPr>
                <a:t>Define the reference periods.</a:t>
              </a:r>
              <a:br>
                <a:rPr lang="en-AU" sz="1650" dirty="0">
                  <a:solidFill>
                    <a:schemeClr val="dk1"/>
                  </a:solidFill>
                  <a:latin typeface="+mn-lt"/>
                  <a:ea typeface="+mn-ea"/>
                  <a:cs typeface="+mn-cs"/>
                </a:rPr>
              </a:br>
              <a:r>
                <a:rPr lang="en-AU" sz="1650" dirty="0">
                  <a:solidFill>
                    <a:schemeClr val="dk1"/>
                  </a:solidFill>
                  <a:latin typeface="+mn-lt"/>
                  <a:ea typeface="+mn-ea"/>
                  <a:cs typeface="+mn-cs"/>
                </a:rPr>
                <a:t>Keep valid “not sure” options.</a:t>
              </a:r>
              <a:br>
                <a:rPr lang="en-AU" sz="1650" dirty="0">
                  <a:solidFill>
                    <a:schemeClr val="dk1"/>
                  </a:solidFill>
                  <a:latin typeface="+mn-lt"/>
                  <a:ea typeface="+mn-ea"/>
                  <a:cs typeface="+mn-cs"/>
                </a:rPr>
              </a:br>
              <a:r>
                <a:rPr lang="en-AU" sz="1650" dirty="0">
                  <a:solidFill>
                    <a:schemeClr val="dk1"/>
                  </a:solidFill>
                  <a:latin typeface="+mn-lt"/>
                  <a:ea typeface="+mn-ea"/>
                  <a:cs typeface="+mn-cs"/>
                </a:rPr>
                <a:t>Leave options unselected.</a:t>
              </a:r>
              <a:br>
                <a:rPr lang="en-AU" sz="1650" dirty="0">
                  <a:solidFill>
                    <a:schemeClr val="dk1"/>
                  </a:solidFill>
                  <a:latin typeface="+mn-lt"/>
                  <a:ea typeface="+mn-ea"/>
                  <a:cs typeface="+mn-cs"/>
                </a:rPr>
              </a:br>
              <a:r>
                <a:rPr lang="en-AU" sz="1650" dirty="0">
                  <a:solidFill>
                    <a:schemeClr val="dk1"/>
                  </a:solidFill>
                  <a:latin typeface="+mn-lt"/>
                  <a:ea typeface="+mn-ea"/>
                  <a:cs typeface="+mn-cs"/>
                </a:rPr>
                <a:t>Allow review before submitting.</a:t>
              </a:r>
            </a:p>
          </p:txBody>
        </p:sp>
        <p:sp>
          <p:nvSpPr>
            <p:cNvPr id="24" name="TextBox 24"/>
            <p:cNvSpPr txBox="1"/>
            <p:nvPr/>
          </p:nvSpPr>
          <p:spPr>
            <a:xfrm>
              <a:off x="8239506" y="5248275"/>
              <a:ext cx="2585386"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No total access score.</a:t>
              </a:r>
            </a:p>
          </p:txBody>
        </p:sp>
      </p:grpSp>
      <p:grpSp>
        <p:nvGrpSpPr>
          <p:cNvPr id="27" name="source-note"/>
          <p:cNvGrpSpPr/>
          <p:nvPr/>
        </p:nvGrpSpPr>
        <p:grpSpPr>
          <a:xfrm>
            <a:off x="679704" y="5962650"/>
            <a:ext cx="7795061" cy="234696"/>
            <a:chOff x="679704" y="5962650"/>
            <a:chExt cx="7795061" cy="234696"/>
          </a:xfrm>
        </p:grpSpPr>
        <p:sp>
          <p:nvSpPr>
            <p:cNvPr id="26" name="TextBox 26"/>
            <p:cNvSpPr txBox="1"/>
            <p:nvPr/>
          </p:nvSpPr>
          <p:spPr>
            <a:xfrm>
              <a:off x="679704" y="5962650"/>
              <a:ext cx="7795061"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Draft items; pilot required. Sources: Bjarkefur et al. 2021; ONS n.d.; GDS n.d.a–c. Full wording: Appendix A.</a:t>
              </a:r>
            </a:p>
          </p:txBody>
        </p:sp>
      </p:grpSp>
      <p:sp>
        <p:nvSpPr>
          <p:cNvPr id="28" name="Line 28"/>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29"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30"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06</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5849036" cy="645414"/>
            <a:chOff x="669036" y="527050"/>
            <a:chExt cx="5849036" cy="645414"/>
          </a:xfrm>
        </p:grpSpPr>
        <p:sp>
          <p:nvSpPr>
            <p:cNvPr id="2" name="TextBox 2"/>
            <p:cNvSpPr txBox="1"/>
            <p:nvPr/>
          </p:nvSpPr>
          <p:spPr>
            <a:xfrm>
              <a:off x="669036" y="527050"/>
              <a:ext cx="5849036"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Reported change has limits</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6" name="limits-intro"/>
          <p:cNvGrpSpPr/>
          <p:nvPr/>
        </p:nvGrpSpPr>
        <p:grpSpPr>
          <a:xfrm>
            <a:off x="673608" y="1651000"/>
            <a:ext cx="7630346" cy="469392"/>
            <a:chOff x="673608" y="1651000"/>
            <a:chExt cx="7630346" cy="469392"/>
          </a:xfrm>
        </p:grpSpPr>
        <p:sp>
          <p:nvSpPr>
            <p:cNvPr id="5" name="TextBox 5"/>
            <p:cNvSpPr txBox="1"/>
            <p:nvPr/>
          </p:nvSpPr>
          <p:spPr>
            <a:xfrm>
              <a:off x="673608" y="1651000"/>
              <a:ext cx="7630346" cy="469392"/>
            </a:xfrm>
            <a:prstGeom prst="rect">
              <a:avLst/>
            </a:prstGeom>
            <a:noFill/>
            <a:ln>
              <a:noFill/>
            </a:ln>
          </p:spPr>
          <p:txBody>
            <a:bodyPr wrap="none" lIns="0" tIns="0" rIns="0" bIns="0" anchor="t" anchorCtr="0">
              <a:spAutoFit/>
            </a:bodyPr>
            <a:lstStyle/>
            <a:p>
              <a:pPr algn="l"/>
              <a:r>
                <a:rPr lang="en-AU" sz="2400" b="1" dirty="0">
                  <a:solidFill>
                    <a:schemeClr val="accent2"/>
                  </a:solidFill>
                  <a:latin typeface="+mn-lt"/>
                  <a:ea typeface="+mn-ea"/>
                  <a:cs typeface="+mn-cs"/>
                </a:rPr>
                <a:t>A recalled change report is not a causal estimate.</a:t>
              </a:r>
            </a:p>
          </p:txBody>
        </p:sp>
      </p:grpSp>
      <p:graphicFrame>
        <p:nvGraphicFramePr>
          <p:cNvPr id="7" name="evidence-rules"/>
          <p:cNvGraphicFramePr>
            <a:graphicFrameLocks noGrp="1"/>
          </p:cNvGraphicFramePr>
          <p:nvPr/>
        </p:nvGraphicFramePr>
        <p:xfrm>
          <a:off x="685800" y="2400300"/>
          <a:ext cx="10820400" cy="2857500"/>
        </p:xfrm>
        <a:graphic>
          <a:graphicData uri="http://schemas.openxmlformats.org/drawingml/2006/table">
            <a:tbl>
              <a:tblPr firstRow="1" bandRow="0">
                <a:tableStyleId>{5C22544A-7EE6-4342-B048-85BDC9FD1C3A}</a:tableStyleId>
              </a:tblPr>
              <a:tblGrid>
                <a:gridCol w="4191000"/>
                <a:gridCol w="6629400"/>
              </a:tblGrid>
              <a:tr h="514350">
                <a:tc>
                  <a:txBody>
                    <a:bodyPr/>
                    <a:lstStyle/>
                    <a:p>
                      <a:pPr/>
                      <a:r>
                        <a:rPr lang="en-AU" sz="1800" b="1">
                          <a:solidFill>
                            <a:schemeClr val="accent1"/>
                          </a:solidFill>
                          <a:latin typeface="Arial"/>
                          <a:ea typeface="Microsoft YaHei"/>
                          <a:cs typeface="Arial"/>
                        </a:rPr>
                        <a:t>Limitation</a:t>
                      </a:r>
                    </a:p>
                  </a:txBody>
                  <a:tcPr anchor="ctr" marL="133350" marR="133350" marT="76200" marB="76200">
                    <a:lnB w="9525">
                      <a:solidFill>
                        <a:srgbClr val="D6E0E7"/>
                      </a:solidFill>
                      <a:prstDash val="solid"/>
                    </a:lnB>
                    <a:solidFill>
                      <a:schemeClr val="accent5"/>
                    </a:solidFill>
                  </a:tcPr>
                </a:tc>
                <a:tc>
                  <a:txBody>
                    <a:bodyPr/>
                    <a:lstStyle/>
                    <a:p>
                      <a:pPr/>
                      <a:r>
                        <a:rPr lang="en-AU" sz="1800" b="1">
                          <a:solidFill>
                            <a:schemeClr val="accent1"/>
                          </a:solidFill>
                          <a:latin typeface="Arial"/>
                          <a:ea typeface="Microsoft YaHei"/>
                          <a:cs typeface="Arial"/>
                        </a:rPr>
                        <a:t>Reporting safeguard</a:t>
                      </a:r>
                    </a:p>
                  </a:txBody>
                  <a:tcPr anchor="ctr" marL="133350" marR="133350" marT="76200" marB="76200">
                    <a:lnB w="9525">
                      <a:solidFill>
                        <a:srgbClr val="D6E0E7"/>
                      </a:solidFill>
                      <a:prstDash val="solid"/>
                    </a:lnB>
                    <a:solidFill>
                      <a:schemeClr val="accent5"/>
                    </a:solidFill>
                  </a:tcPr>
                </a:tc>
              </a:tr>
              <a:tr h="781050">
                <a:tc>
                  <a:txBody>
                    <a:bodyPr/>
                    <a:lstStyle/>
                    <a:p>
                      <a:pPr/>
                      <a:r>
                        <a:rPr lang="en-AU" sz="1800" b="1">
                          <a:solidFill>
                            <a:schemeClr val="dk1"/>
                          </a:solidFill>
                          <a:latin typeface="Arial"/>
                          <a:ea typeface="Microsoft YaHei"/>
                          <a:cs typeface="Arial"/>
                        </a:rPr>
                        <a:t>Recall and selective response</a:t>
                      </a:r>
                    </a:p>
                  </a:txBody>
                  <a:tcPr anchor="ctr" marL="133350" marR="133350" marT="76200" marB="76200">
                    <a:lnB w="9525">
                      <a:solidFill>
                        <a:srgbClr val="D6E0E7"/>
                      </a:solidFill>
                      <a:prstDash val="solid"/>
                    </a:lnB>
                    <a:solidFill>
                      <a:schemeClr val="lt1"/>
                    </a:solidFill>
                  </a:tcPr>
                </a:tc>
                <a:tc>
                  <a:txBody>
                    <a:bodyPr/>
                    <a:lstStyle/>
                    <a:p>
                      <a:pPr/>
                      <a:r>
                        <a:rPr lang="en-AU" sz="1800" b="0">
                          <a:solidFill>
                            <a:schemeClr val="dk1"/>
                          </a:solidFill>
                          <a:latin typeface="Arial"/>
                          <a:ea typeface="Microsoft YaHei"/>
                          <a:cs typeface="Arial"/>
                        </a:rPr>
                        <a:t>Specify the period; say “among responding families”.</a:t>
                      </a:r>
                    </a:p>
                  </a:txBody>
                  <a:tcPr anchor="ctr" marL="133350" marR="133350" marT="76200" marB="76200">
                    <a:lnB w="9525">
                      <a:solidFill>
                        <a:srgbClr val="D6E0E7"/>
                      </a:solidFill>
                      <a:prstDash val="solid"/>
                    </a:lnB>
                    <a:solidFill>
                      <a:schemeClr val="lt1"/>
                    </a:solidFill>
                  </a:tcPr>
                </a:tc>
              </a:tr>
              <a:tr h="781050">
                <a:tc>
                  <a:txBody>
                    <a:bodyPr/>
                    <a:lstStyle/>
                    <a:p>
                      <a:pPr/>
                      <a:r>
                        <a:rPr lang="en-AU" sz="1800" b="1">
                          <a:solidFill>
                            <a:schemeClr val="dk1"/>
                          </a:solidFill>
                          <a:latin typeface="Arial"/>
                          <a:ea typeface="Microsoft YaHei"/>
                          <a:cs typeface="Arial"/>
                        </a:rPr>
                        <a:t>No baseline or counterfactual</a:t>
                      </a:r>
                    </a:p>
                  </a:txBody>
                  <a:tcPr anchor="ctr" marL="133350" marR="133350" marT="76200" marB="76200">
                    <a:lnB w="9525">
                      <a:solidFill>
                        <a:srgbClr val="D6E0E7"/>
                      </a:solidFill>
                      <a:prstDash val="solid"/>
                    </a:lnB>
                    <a:solidFill>
                      <a:schemeClr val="lt1"/>
                    </a:solidFill>
                  </a:tcPr>
                </a:tc>
                <a:tc>
                  <a:txBody>
                    <a:bodyPr/>
                    <a:lstStyle/>
                    <a:p>
                      <a:pPr/>
                      <a:r>
                        <a:rPr lang="en-AU" sz="1800" b="0">
                          <a:solidFill>
                            <a:schemeClr val="dk1"/>
                          </a:solidFill>
                          <a:latin typeface="Arial"/>
                          <a:ea typeface="Microsoft YaHei"/>
                          <a:cs typeface="Arial"/>
                        </a:rPr>
                        <a:t>Do not attribute the change to the programme.</a:t>
                      </a:r>
                    </a:p>
                  </a:txBody>
                  <a:tcPr anchor="ctr" marL="133350" marR="133350" marT="76200" marB="76200">
                    <a:lnB w="9525">
                      <a:solidFill>
                        <a:srgbClr val="D6E0E7"/>
                      </a:solidFill>
                      <a:prstDash val="solid"/>
                    </a:lnB>
                    <a:solidFill>
                      <a:schemeClr val="lt1"/>
                    </a:solidFill>
                  </a:tcPr>
                </a:tc>
              </a:tr>
              <a:tr h="781050">
                <a:tc>
                  <a:txBody>
                    <a:bodyPr/>
                    <a:lstStyle/>
                    <a:p>
                      <a:pPr/>
                      <a:r>
                        <a:rPr lang="en-AU" sz="1800" b="1">
                          <a:solidFill>
                            <a:schemeClr val="dk1"/>
                          </a:solidFill>
                          <a:latin typeface="Arial"/>
                          <a:ea typeface="Microsoft YaHei"/>
                          <a:cs typeface="Arial"/>
                        </a:rPr>
                        <a:t>General methods guidance</a:t>
                      </a:r>
                    </a:p>
                  </a:txBody>
                  <a:tcPr anchor="ctr" marL="133350" marR="133350" marT="76200" marB="76200">
                    <a:lnB w="9525">
                      <a:solidFill>
                        <a:srgbClr val="D6E0E7"/>
                      </a:solidFill>
                      <a:prstDash val="solid"/>
                    </a:lnB>
                    <a:solidFill>
                      <a:schemeClr val="lt1"/>
                    </a:solidFill>
                  </a:tcPr>
                </a:tc>
                <a:tc>
                  <a:txBody>
                    <a:bodyPr/>
                    <a:lstStyle/>
                    <a:p>
                      <a:pPr/>
                      <a:r>
                        <a:rPr lang="en-AU" sz="1800" b="0">
                          <a:solidFill>
                            <a:schemeClr val="dk1"/>
                          </a:solidFill>
                          <a:latin typeface="Arial"/>
                          <a:ea typeface="Microsoft YaHei"/>
                          <a:cs typeface="Arial"/>
                        </a:rPr>
                        <a:t>Test the items in this family and toy context.</a:t>
                      </a:r>
                    </a:p>
                  </a:txBody>
                  <a:tcPr anchor="ctr" marL="133350" marR="133350" marT="76200" marB="76200">
                    <a:lnB w="9525">
                      <a:solidFill>
                        <a:srgbClr val="D6E0E7"/>
                      </a:solidFill>
                      <a:prstDash val="solid"/>
                    </a:lnB>
                    <a:solidFill>
                      <a:schemeClr val="lt1"/>
                    </a:solidFill>
                  </a:tcPr>
                </a:tc>
              </a:tr>
            </a:tbl>
          </a:graphicData>
        </a:graphic>
      </p:graphicFrame>
      <p:grpSp>
        <p:nvGrpSpPr>
          <p:cNvPr id="9" name="triangulation"/>
          <p:cNvGrpSpPr/>
          <p:nvPr/>
        </p:nvGrpSpPr>
        <p:grpSpPr>
          <a:xfrm>
            <a:off x="676656" y="5543550"/>
            <a:ext cx="9437636" cy="352044"/>
            <a:chOff x="676656" y="5543550"/>
            <a:chExt cx="9437636" cy="352044"/>
          </a:xfrm>
        </p:grpSpPr>
        <p:sp>
          <p:nvSpPr>
            <p:cNvPr id="8" name="TextBox 8"/>
            <p:cNvSpPr txBox="1"/>
            <p:nvPr/>
          </p:nvSpPr>
          <p:spPr>
            <a:xfrm>
              <a:off x="676656" y="5543550"/>
              <a:ext cx="9437636" cy="352044"/>
            </a:xfrm>
            <a:prstGeom prst="rect">
              <a:avLst/>
            </a:prstGeom>
            <a:noFill/>
            <a:ln>
              <a:noFill/>
            </a:ln>
          </p:spPr>
          <p:txBody>
            <a:bodyPr wrap="none" lIns="0" tIns="0" rIns="0" bIns="0" anchor="t" anchorCtr="0">
              <a:spAutoFit/>
            </a:bodyPr>
            <a:lstStyle/>
            <a:p>
              <a:pPr algn="l"/>
              <a:r>
                <a:rPr lang="en-AU" sz="1800" b="1" dirty="0">
                  <a:solidFill>
                    <a:schemeClr val="accent1"/>
                  </a:solidFill>
                  <a:latin typeface="+mn-lt"/>
                  <a:ea typeface="+mn-ea"/>
                  <a:cs typeface="+mn-cs"/>
                </a:rPr>
                <a:t>Records and interviews strengthen interpretation; they do not establish causality.</a:t>
              </a:r>
            </a:p>
          </p:txBody>
        </p:sp>
      </p:grpSp>
      <p:grpSp>
        <p:nvGrpSpPr>
          <p:cNvPr id="11" name="source-note"/>
          <p:cNvGrpSpPr/>
          <p:nvPr/>
        </p:nvGrpSpPr>
        <p:grpSpPr>
          <a:xfrm>
            <a:off x="679704" y="5962650"/>
            <a:ext cx="6391650" cy="234696"/>
            <a:chOff x="679704" y="5962650"/>
            <a:chExt cx="6391650" cy="234696"/>
          </a:xfrm>
        </p:grpSpPr>
        <p:sp>
          <p:nvSpPr>
            <p:cNvPr id="10" name="TextBox 10"/>
            <p:cNvSpPr txBox="1"/>
            <p:nvPr/>
          </p:nvSpPr>
          <p:spPr>
            <a:xfrm>
              <a:off x="679704" y="5962650"/>
              <a:ext cx="6391650"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Counterfactual reasoning: Bjarkefur et al. 2021, ch.3. Other risks: A1 and Nguyen 2026a.</a:t>
              </a:r>
            </a:p>
          </p:txBody>
        </p:sp>
      </p:grpSp>
      <p:sp>
        <p:nvSpPr>
          <p:cNvPr id="12" name="Line 12"/>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13"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14"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07</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9107993" cy="645414"/>
            <a:chOff x="669036" y="527050"/>
            <a:chExt cx="9107993" cy="645414"/>
          </a:xfrm>
        </p:grpSpPr>
        <p:sp>
          <p:nvSpPr>
            <p:cNvPr id="2" name="TextBox 2"/>
            <p:cNvSpPr txBox="1"/>
            <p:nvPr/>
          </p:nvSpPr>
          <p:spPr>
            <a:xfrm>
              <a:off x="669036" y="527050"/>
              <a:ext cx="9107993"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Turn the framework into a team deliverable</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6" name="closing-claim"/>
          <p:cNvGrpSpPr/>
          <p:nvPr/>
        </p:nvGrpSpPr>
        <p:grpSpPr>
          <a:xfrm>
            <a:off x="672846" y="1689100"/>
            <a:ext cx="5353694" cy="936879"/>
            <a:chOff x="672846" y="1689100"/>
            <a:chExt cx="5353694" cy="936879"/>
          </a:xfrm>
        </p:grpSpPr>
        <p:sp>
          <p:nvSpPr>
            <p:cNvPr id="5" name="TextBox 5"/>
            <p:cNvSpPr txBox="1"/>
            <p:nvPr/>
          </p:nvSpPr>
          <p:spPr>
            <a:xfrm>
              <a:off x="672846" y="1689100"/>
              <a:ext cx="5353694" cy="936879"/>
            </a:xfrm>
            <a:prstGeom prst="rect">
              <a:avLst/>
            </a:prstGeom>
            <a:noFill/>
            <a:ln>
              <a:noFill/>
            </a:ln>
          </p:spPr>
          <p:txBody>
            <a:bodyPr wrap="none" lIns="0" tIns="0" rIns="0" bIns="0" anchor="t" anchorCtr="0">
              <a:spAutoFit/>
            </a:bodyPr>
            <a:lstStyle/>
            <a:p>
              <a:pPr algn="l">
                <a:lnSpc>
                  <a:spcPts val="3450"/>
                </a:lnSpc>
              </a:pPr>
              <a:r>
                <a:rPr lang="en-AU" sz="2550" b="1" dirty="0">
                  <a:solidFill>
                    <a:schemeClr val="accent1"/>
                  </a:solidFill>
                  <a:latin typeface="+mn-lt"/>
                  <a:ea typeface="+mn-ea"/>
                  <a:cs typeface="+mn-cs"/>
                </a:rPr>
                <a:t>Describe reported change.</a:t>
              </a:r>
              <a:br>
                <a:rPr lang="en-AU" sz="2550" b="1" dirty="0">
                  <a:solidFill>
                    <a:schemeClr val="accent1"/>
                  </a:solidFill>
                  <a:latin typeface="+mn-lt"/>
                  <a:ea typeface="+mn-ea"/>
                  <a:cs typeface="+mn-cs"/>
                </a:rPr>
              </a:br>
              <a:r>
                <a:rPr lang="en-AU" sz="2550" b="1" dirty="0">
                  <a:solidFill>
                    <a:schemeClr val="accent1"/>
                  </a:solidFill>
                  <a:latin typeface="+mn-lt"/>
                  <a:ea typeface="+mn-ea"/>
                  <a:cs typeface="+mn-cs"/>
                </a:rPr>
                <a:t>Match every claim to the evidence.</a:t>
              </a:r>
            </a:p>
          </p:txBody>
        </p:sp>
      </p:grpSp>
      <p:grpSp>
        <p:nvGrpSpPr>
          <p:cNvPr id="10" name="next-step-1"/>
          <p:cNvGrpSpPr/>
          <p:nvPr/>
        </p:nvGrpSpPr>
        <p:grpSpPr>
          <a:xfrm>
            <a:off x="673608" y="2946400"/>
            <a:ext cx="2893238" cy="1799844"/>
            <a:chOff x="673608" y="2946400"/>
            <a:chExt cx="2893238" cy="1799844"/>
          </a:xfrm>
        </p:grpSpPr>
        <p:sp>
          <p:nvSpPr>
            <p:cNvPr id="7" name="TextBox 7"/>
            <p:cNvSpPr txBox="1"/>
            <p:nvPr/>
          </p:nvSpPr>
          <p:spPr>
            <a:xfrm>
              <a:off x="673608" y="2946400"/>
              <a:ext cx="383787" cy="469392"/>
            </a:xfrm>
            <a:prstGeom prst="rect">
              <a:avLst/>
            </a:prstGeom>
            <a:noFill/>
            <a:ln>
              <a:noFill/>
            </a:ln>
          </p:spPr>
          <p:txBody>
            <a:bodyPr wrap="none" lIns="0" tIns="0" rIns="0" bIns="0" anchor="t" anchorCtr="0">
              <a:spAutoFit/>
            </a:bodyPr>
            <a:lstStyle/>
            <a:p>
              <a:pPr algn="l"/>
              <a:r>
                <a:rPr lang="en-AU" sz="2400" b="1" dirty="0">
                  <a:solidFill>
                    <a:schemeClr val="accent2"/>
                  </a:solidFill>
                  <a:latin typeface="+mn-lt"/>
                  <a:ea typeface="+mn-ea"/>
                  <a:cs typeface="+mn-cs"/>
                </a:rPr>
                <a:t>01</a:t>
              </a:r>
            </a:p>
          </p:txBody>
        </p:sp>
        <p:sp>
          <p:nvSpPr>
            <p:cNvPr id="8" name="TextBox 8"/>
            <p:cNvSpPr txBox="1"/>
            <p:nvPr/>
          </p:nvSpPr>
          <p:spPr>
            <a:xfrm>
              <a:off x="675132" y="3470275"/>
              <a:ext cx="2794629"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Agree with the client</a:t>
              </a:r>
            </a:p>
          </p:txBody>
        </p:sp>
        <p:sp>
          <p:nvSpPr>
            <p:cNvPr id="9" name="TextBox 9"/>
            <p:cNvSpPr txBox="1"/>
            <p:nvPr/>
          </p:nvSpPr>
          <p:spPr>
            <a:xfrm>
              <a:off x="676656" y="4070350"/>
              <a:ext cx="2890190" cy="675894"/>
            </a:xfrm>
            <a:prstGeom prst="rect">
              <a:avLst/>
            </a:prstGeom>
            <a:noFill/>
            <a:ln>
              <a:noFill/>
            </a:ln>
          </p:spPr>
          <p:txBody>
            <a:bodyPr wrap="none" lIns="0" tIns="0" rIns="0" bIns="0" anchor="t" anchorCtr="0">
              <a:spAutoFit/>
            </a:bodyPr>
            <a:lstStyle/>
            <a:p>
              <a:pPr algn="l">
                <a:lnSpc>
                  <a:spcPts val="2550"/>
                </a:lnSpc>
              </a:pPr>
              <a:r>
                <a:rPr lang="en-AU" sz="1800" dirty="0">
                  <a:solidFill>
                    <a:schemeClr val="dk1"/>
                  </a:solidFill>
                  <a:latin typeface="+mn-lt"/>
                  <a:ea typeface="+mn-ea"/>
                  <a:cs typeface="+mn-cs"/>
                </a:rPr>
                <a:t>Priority outcome, target</a:t>
              </a:r>
              <a:br>
                <a:rPr lang="en-AU" sz="1800" dirty="0">
                  <a:solidFill>
                    <a:schemeClr val="dk1"/>
                  </a:solidFill>
                  <a:latin typeface="+mn-lt"/>
                  <a:ea typeface="+mn-ea"/>
                  <a:cs typeface="+mn-cs"/>
                </a:rPr>
              </a:br>
              <a:r>
                <a:rPr lang="en-AU" sz="1800" dirty="0">
                  <a:solidFill>
                    <a:schemeClr val="dk1"/>
                  </a:solidFill>
                  <a:latin typeface="+mn-lt"/>
                  <a:ea typeface="+mn-ea"/>
                  <a:cs typeface="+mn-cs"/>
                </a:rPr>
                <a:t>carers and reference period.</a:t>
              </a:r>
            </a:p>
          </p:txBody>
        </p:sp>
      </p:grpSp>
      <p:grpSp>
        <p:nvGrpSpPr>
          <p:cNvPr id="14" name="next-step-2"/>
          <p:cNvGrpSpPr/>
          <p:nvPr/>
        </p:nvGrpSpPr>
        <p:grpSpPr>
          <a:xfrm>
            <a:off x="4407408" y="2946400"/>
            <a:ext cx="2937921" cy="2123694"/>
            <a:chOff x="4407408" y="2946400"/>
            <a:chExt cx="2937921" cy="2123694"/>
          </a:xfrm>
        </p:grpSpPr>
        <p:sp>
          <p:nvSpPr>
            <p:cNvPr id="11" name="TextBox 11"/>
            <p:cNvSpPr txBox="1"/>
            <p:nvPr/>
          </p:nvSpPr>
          <p:spPr>
            <a:xfrm>
              <a:off x="4407408" y="2946400"/>
              <a:ext cx="383787" cy="469392"/>
            </a:xfrm>
            <a:prstGeom prst="rect">
              <a:avLst/>
            </a:prstGeom>
            <a:noFill/>
            <a:ln>
              <a:noFill/>
            </a:ln>
          </p:spPr>
          <p:txBody>
            <a:bodyPr wrap="none" lIns="0" tIns="0" rIns="0" bIns="0" anchor="t" anchorCtr="0">
              <a:spAutoFit/>
            </a:bodyPr>
            <a:lstStyle/>
            <a:p>
              <a:pPr algn="l"/>
              <a:r>
                <a:rPr lang="en-AU" sz="2400" b="1" dirty="0">
                  <a:solidFill>
                    <a:schemeClr val="accent2"/>
                  </a:solidFill>
                  <a:latin typeface="+mn-lt"/>
                  <a:ea typeface="+mn-ea"/>
                  <a:cs typeface="+mn-cs"/>
                </a:rPr>
                <a:t>02</a:t>
              </a:r>
            </a:p>
          </p:txBody>
        </p:sp>
        <p:sp>
          <p:nvSpPr>
            <p:cNvPr id="12" name="TextBox 12"/>
            <p:cNvSpPr txBox="1"/>
            <p:nvPr/>
          </p:nvSpPr>
          <p:spPr>
            <a:xfrm>
              <a:off x="4408932" y="3470275"/>
              <a:ext cx="2936397"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Test with adult carers</a:t>
              </a:r>
            </a:p>
          </p:txBody>
        </p:sp>
        <p:sp>
          <p:nvSpPr>
            <p:cNvPr id="13" name="TextBox 13"/>
            <p:cNvSpPr txBox="1"/>
            <p:nvPr/>
          </p:nvSpPr>
          <p:spPr>
            <a:xfrm>
              <a:off x="4410456" y="4070350"/>
              <a:ext cx="2572756" cy="999744"/>
            </a:xfrm>
            <a:prstGeom prst="rect">
              <a:avLst/>
            </a:prstGeom>
            <a:noFill/>
            <a:ln>
              <a:noFill/>
            </a:ln>
          </p:spPr>
          <p:txBody>
            <a:bodyPr wrap="none" lIns="0" tIns="0" rIns="0" bIns="0" anchor="t" anchorCtr="0">
              <a:spAutoFit/>
            </a:bodyPr>
            <a:lstStyle/>
            <a:p>
              <a:pPr algn="l">
                <a:lnSpc>
                  <a:spcPts val="2550"/>
                </a:lnSpc>
              </a:pPr>
              <a:r>
                <a:rPr lang="en-AU" sz="1800" dirty="0">
                  <a:solidFill>
                    <a:schemeClr val="dk1"/>
                  </a:solidFill>
                  <a:latin typeface="+mn-lt"/>
                  <a:ea typeface="+mn-ea"/>
                  <a:cs typeface="+mn-cs"/>
                </a:rPr>
                <a:t>Understanding, response</a:t>
              </a:r>
              <a:br>
                <a:rPr lang="en-AU" sz="1800" dirty="0">
                  <a:solidFill>
                    <a:schemeClr val="dk1"/>
                  </a:solidFill>
                  <a:latin typeface="+mn-lt"/>
                  <a:ea typeface="+mn-ea"/>
                  <a:cs typeface="+mn-cs"/>
                </a:rPr>
              </a:br>
              <a:r>
                <a:rPr lang="en-AU" sz="1800" dirty="0">
                  <a:solidFill>
                    <a:schemeClr val="dk1"/>
                  </a:solidFill>
                  <a:latin typeface="+mn-lt"/>
                  <a:ea typeface="+mn-ea"/>
                  <a:cs typeface="+mn-cs"/>
                </a:rPr>
                <a:t>options and completion</a:t>
              </a:r>
              <a:br>
                <a:rPr lang="en-AU" sz="1800" dirty="0">
                  <a:solidFill>
                    <a:schemeClr val="dk1"/>
                  </a:solidFill>
                  <a:latin typeface="+mn-lt"/>
                  <a:ea typeface="+mn-ea"/>
                  <a:cs typeface="+mn-cs"/>
                </a:rPr>
              </a:br>
              <a:r>
                <a:rPr lang="en-AU" sz="1800" dirty="0">
                  <a:solidFill>
                    <a:schemeClr val="dk1"/>
                  </a:solidFill>
                  <a:latin typeface="+mn-lt"/>
                  <a:ea typeface="+mn-ea"/>
                  <a:cs typeface="+mn-cs"/>
                </a:rPr>
                <a:t>burden.</a:t>
              </a:r>
            </a:p>
          </p:txBody>
        </p:sp>
      </p:grpSp>
      <p:grpSp>
        <p:nvGrpSpPr>
          <p:cNvPr id="18" name="next-step-3"/>
          <p:cNvGrpSpPr/>
          <p:nvPr/>
        </p:nvGrpSpPr>
        <p:grpSpPr>
          <a:xfrm>
            <a:off x="8141208" y="2946400"/>
            <a:ext cx="3047827" cy="1799844"/>
            <a:chOff x="8141208" y="2946400"/>
            <a:chExt cx="3047827" cy="1799844"/>
          </a:xfrm>
        </p:grpSpPr>
        <p:sp>
          <p:nvSpPr>
            <p:cNvPr id="15" name="TextBox 15"/>
            <p:cNvSpPr txBox="1"/>
            <p:nvPr/>
          </p:nvSpPr>
          <p:spPr>
            <a:xfrm>
              <a:off x="8141208" y="2946400"/>
              <a:ext cx="383787" cy="469392"/>
            </a:xfrm>
            <a:prstGeom prst="rect">
              <a:avLst/>
            </a:prstGeom>
            <a:noFill/>
            <a:ln>
              <a:noFill/>
            </a:ln>
          </p:spPr>
          <p:txBody>
            <a:bodyPr wrap="none" lIns="0" tIns="0" rIns="0" bIns="0" anchor="t" anchorCtr="0">
              <a:spAutoFit/>
            </a:bodyPr>
            <a:lstStyle/>
            <a:p>
              <a:pPr algn="l"/>
              <a:r>
                <a:rPr lang="en-AU" sz="2400" b="1" dirty="0">
                  <a:solidFill>
                    <a:schemeClr val="accent2"/>
                  </a:solidFill>
                  <a:latin typeface="+mn-lt"/>
                  <a:ea typeface="+mn-ea"/>
                  <a:cs typeface="+mn-cs"/>
                </a:rPr>
                <a:t>03</a:t>
              </a:r>
            </a:p>
          </p:txBody>
        </p:sp>
        <p:sp>
          <p:nvSpPr>
            <p:cNvPr id="16" name="TextBox 16"/>
            <p:cNvSpPr txBox="1"/>
            <p:nvPr/>
          </p:nvSpPr>
          <p:spPr>
            <a:xfrm>
              <a:off x="8142732" y="3470275"/>
              <a:ext cx="3046303" cy="410718"/>
            </a:xfrm>
            <a:prstGeom prst="rect">
              <a:avLst/>
            </a:prstGeom>
            <a:noFill/>
            <a:ln>
              <a:noFill/>
            </a:ln>
          </p:spPr>
          <p:txBody>
            <a:bodyPr wrap="none" lIns="0" tIns="0" rIns="0" bIns="0" anchor="t" anchorCtr="0">
              <a:spAutoFit/>
            </a:bodyPr>
            <a:lstStyle/>
            <a:p>
              <a:pPr algn="l"/>
              <a:r>
                <a:rPr lang="en-AU" sz="2100" b="1" dirty="0">
                  <a:solidFill>
                    <a:schemeClr val="accent1"/>
                  </a:solidFill>
                  <a:latin typeface="+mn-lt"/>
                  <a:ea typeface="+mn-ea"/>
                  <a:cs typeface="+mn-cs"/>
                </a:rPr>
                <a:t>Revise and triangulate</a:t>
              </a:r>
            </a:p>
          </p:txBody>
        </p:sp>
        <p:sp>
          <p:nvSpPr>
            <p:cNvPr id="17" name="TextBox 17"/>
            <p:cNvSpPr txBox="1"/>
            <p:nvPr/>
          </p:nvSpPr>
          <p:spPr>
            <a:xfrm>
              <a:off x="8144256" y="4070350"/>
              <a:ext cx="2775295" cy="675894"/>
            </a:xfrm>
            <a:prstGeom prst="rect">
              <a:avLst/>
            </a:prstGeom>
            <a:noFill/>
            <a:ln>
              <a:noFill/>
            </a:ln>
          </p:spPr>
          <p:txBody>
            <a:bodyPr wrap="none" lIns="0" tIns="0" rIns="0" bIns="0" anchor="t" anchorCtr="0">
              <a:spAutoFit/>
            </a:bodyPr>
            <a:lstStyle/>
            <a:p>
              <a:pPr algn="l">
                <a:lnSpc>
                  <a:spcPts val="2550"/>
                </a:lnSpc>
              </a:pPr>
              <a:r>
                <a:rPr lang="en-AU" sz="1800" dirty="0">
                  <a:solidFill>
                    <a:schemeClr val="dk1"/>
                  </a:solidFill>
                  <a:latin typeface="+mn-lt"/>
                  <a:ea typeface="+mn-ea"/>
                  <a:cs typeface="+mn-cs"/>
                </a:rPr>
                <a:t>Refine items; compare with</a:t>
              </a:r>
              <a:br>
                <a:rPr lang="en-AU" sz="1800" dirty="0">
                  <a:solidFill>
                    <a:schemeClr val="dk1"/>
                  </a:solidFill>
                  <a:latin typeface="+mn-lt"/>
                  <a:ea typeface="+mn-ea"/>
                  <a:cs typeface="+mn-cs"/>
                </a:rPr>
              </a:br>
              <a:r>
                <a:rPr lang="en-AU" sz="1800" dirty="0">
                  <a:solidFill>
                    <a:schemeClr val="dk1"/>
                  </a:solidFill>
                  <a:latin typeface="+mn-lt"/>
                  <a:ea typeface="+mn-ea"/>
                  <a:cs typeface="+mn-cs"/>
                </a:rPr>
                <a:t>records or interviews.</a:t>
              </a:r>
            </a:p>
          </p:txBody>
        </p:sp>
      </p:grpSp>
      <p:grpSp>
        <p:nvGrpSpPr>
          <p:cNvPr id="21" name="deliverables"/>
          <p:cNvGrpSpPr/>
          <p:nvPr/>
        </p:nvGrpSpPr>
        <p:grpSpPr>
          <a:xfrm>
            <a:off x="675132" y="5299075"/>
            <a:ext cx="6314187" cy="649732"/>
            <a:chOff x="675132" y="5299075"/>
            <a:chExt cx="6314187" cy="649732"/>
          </a:xfrm>
        </p:grpSpPr>
        <p:sp>
          <p:nvSpPr>
            <p:cNvPr id="19" name="TextBox 19"/>
            <p:cNvSpPr txBox="1"/>
            <p:nvPr/>
          </p:nvSpPr>
          <p:spPr>
            <a:xfrm>
              <a:off x="675132" y="5299075"/>
              <a:ext cx="6314187" cy="410718"/>
            </a:xfrm>
            <a:prstGeom prst="rect">
              <a:avLst/>
            </a:prstGeom>
            <a:noFill/>
            <a:ln>
              <a:noFill/>
            </a:ln>
          </p:spPr>
          <p:txBody>
            <a:bodyPr wrap="none" lIns="0" tIns="0" rIns="0" bIns="0" anchor="t" anchorCtr="0">
              <a:spAutoFit/>
            </a:bodyPr>
            <a:lstStyle/>
            <a:p>
              <a:pPr algn="l"/>
              <a:r>
                <a:rPr lang="en-AU" sz="2100" b="1" dirty="0">
                  <a:solidFill>
                    <a:schemeClr val="accent2"/>
                  </a:solidFill>
                  <a:latin typeface="+mn-lt"/>
                  <a:ea typeface="+mn-ea"/>
                  <a:cs typeface="+mn-cs"/>
                </a:rPr>
                <a:t>Indicator guide + draft survey + reporting rules</a:t>
              </a:r>
            </a:p>
          </p:txBody>
        </p:sp>
        <p:sp>
          <p:nvSpPr>
            <p:cNvPr id="20" name="TextBox 20"/>
            <p:cNvSpPr txBox="1"/>
            <p:nvPr/>
          </p:nvSpPr>
          <p:spPr>
            <a:xfrm>
              <a:off x="677418" y="5626100"/>
              <a:ext cx="4309770" cy="322707"/>
            </a:xfrm>
            <a:prstGeom prst="rect">
              <a:avLst/>
            </a:prstGeom>
            <a:noFill/>
            <a:ln>
              <a:noFill/>
            </a:ln>
          </p:spPr>
          <p:txBody>
            <a:bodyPr wrap="none" lIns="0" tIns="0" rIns="0" bIns="0" anchor="t" anchorCtr="0">
              <a:spAutoFit/>
            </a:bodyPr>
            <a:lstStyle/>
            <a:p>
              <a:pPr algn="l"/>
              <a:r>
                <a:rPr lang="en-AU" sz="1650" dirty="0">
                  <a:solidFill>
                    <a:schemeClr val="accent6"/>
                  </a:solidFill>
                  <a:latin typeface="+mn-lt"/>
                  <a:ea typeface="+mn-ea"/>
                  <a:cs typeface="+mn-cs"/>
                </a:rPr>
                <a:t>For the Impact Report and Media Collateral</a:t>
              </a:r>
            </a:p>
          </p:txBody>
        </p:sp>
      </p:grpSp>
      <p:grpSp>
        <p:nvGrpSpPr>
          <p:cNvPr id="23" name="source-note"/>
          <p:cNvGrpSpPr/>
          <p:nvPr/>
        </p:nvGrpSpPr>
        <p:grpSpPr>
          <a:xfrm>
            <a:off x="679704" y="5962650"/>
            <a:ext cx="7034380" cy="234696"/>
            <a:chOff x="679704" y="5962650"/>
            <a:chExt cx="7034380" cy="234696"/>
          </a:xfrm>
        </p:grpSpPr>
        <p:sp>
          <p:nvSpPr>
            <p:cNvPr id="22" name="TextBox 22"/>
            <p:cNvSpPr txBox="1"/>
            <p:nvPr/>
          </p:nvSpPr>
          <p:spPr>
            <a:xfrm>
              <a:off x="679704" y="5962650"/>
              <a:ext cx="7034380"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Proposed A3 work plan. Pilot principles: Bjarkefur et al. 2021. Check/review guidance: GDS n.d.c.</a:t>
              </a:r>
            </a:p>
          </p:txBody>
        </p:sp>
      </p:grpSp>
      <p:sp>
        <p:nvSpPr>
          <p:cNvPr id="24" name="Line 24"/>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25"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26"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08</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7135034" cy="645414"/>
            <a:chOff x="669036" y="527050"/>
            <a:chExt cx="7135034" cy="645414"/>
          </a:xfrm>
        </p:grpSpPr>
        <p:sp>
          <p:nvSpPr>
            <p:cNvPr id="2" name="TextBox 2"/>
            <p:cNvSpPr txBox="1"/>
            <p:nvPr/>
          </p:nvSpPr>
          <p:spPr>
            <a:xfrm>
              <a:off x="669036" y="527050"/>
              <a:ext cx="7135034"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References | methods and design</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8" name="reference-1"/>
          <p:cNvGrpSpPr/>
          <p:nvPr/>
        </p:nvGrpSpPr>
        <p:grpSpPr>
          <a:xfrm>
            <a:off x="677418" y="1739900"/>
            <a:ext cx="8132222" cy="876046"/>
            <a:chOff x="677418" y="1739900"/>
            <a:chExt cx="8132222" cy="876046"/>
          </a:xfrm>
        </p:grpSpPr>
        <p:sp>
          <p:nvSpPr>
            <p:cNvPr id="5" name="TextBox 5"/>
            <p:cNvSpPr txBox="1"/>
            <p:nvPr/>
          </p:nvSpPr>
          <p:spPr>
            <a:xfrm>
              <a:off x="677418" y="1739900"/>
              <a:ext cx="7041772" cy="322707"/>
            </a:xfrm>
            <a:prstGeom prst="rect">
              <a:avLst/>
            </a:prstGeom>
            <a:noFill/>
            <a:ln>
              <a:noFill/>
            </a:ln>
          </p:spPr>
          <p:txBody>
            <a:bodyPr wrap="none" lIns="0" tIns="0" rIns="0" bIns="0" anchor="t" anchorCtr="0">
              <a:spAutoFit/>
            </a:bodyPr>
            <a:lstStyle/>
            <a:p>
              <a:pPr algn="l"/>
              <a:r>
                <a:rPr lang="en-AU" sz="1650" b="1" dirty="0">
                  <a:solidFill>
                    <a:schemeClr val="accent1"/>
                  </a:solidFill>
                  <a:latin typeface="+mn-lt"/>
                  <a:ea typeface="+mn-ea"/>
                  <a:cs typeface="+mn-cs"/>
                </a:rPr>
                <a:t>Bjarkefur, K., de Andrade, L.C., Daniels, B. and Jones, M.R. (2021)</a:t>
              </a:r>
            </a:p>
          </p:txBody>
        </p:sp>
        <p:sp>
          <p:nvSpPr>
            <p:cNvPr id="6" name="TextBox 6"/>
            <p:cNvSpPr txBox="1"/>
            <p:nvPr/>
          </p:nvSpPr>
          <p:spPr>
            <a:xfrm>
              <a:off x="678942" y="2054225"/>
              <a:ext cx="5936516" cy="264033"/>
            </a:xfrm>
            <a:prstGeom prst="rect">
              <a:avLst/>
            </a:prstGeom>
            <a:noFill/>
            <a:ln>
              <a:noFill/>
            </a:ln>
          </p:spPr>
          <p:txBody>
            <a:bodyPr wrap="none" lIns="0" tIns="0" rIns="0" bIns="0" anchor="t" anchorCtr="0">
              <a:spAutoFit/>
            </a:bodyPr>
            <a:lstStyle/>
            <a:p>
              <a:pPr algn="l"/>
              <a:r>
                <a:rPr lang="en-AU" sz="1350" dirty="0">
                  <a:solidFill>
                    <a:schemeClr val="dk1"/>
                  </a:solidFill>
                  <a:latin typeface="+mn-lt"/>
                  <a:ea typeface="+mn-ea"/>
                  <a:cs typeface="+mn-cs"/>
                </a:rPr>
                <a:t>Development Research in Practice: The DIME Analytics Data Handbook.</a:t>
              </a:r>
            </a:p>
          </p:txBody>
        </p:sp>
        <p:sp>
          <p:nvSpPr>
            <p:cNvPr id="7" name="TextBox 7"/>
            <p:cNvSpPr txBox="1"/>
            <p:nvPr/>
          </p:nvSpPr>
          <p:spPr>
            <a:xfrm>
              <a:off x="679704" y="2381250"/>
              <a:ext cx="8129936"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World Bank, chs.3–4, source version viewed 19 October 2026. https://github.com/worldbank/dime-data-handbook</a:t>
              </a:r>
            </a:p>
          </p:txBody>
        </p:sp>
      </p:grpSp>
      <p:grpSp>
        <p:nvGrpSpPr>
          <p:cNvPr id="12" name="reference-2"/>
          <p:cNvGrpSpPr/>
          <p:nvPr/>
        </p:nvGrpSpPr>
        <p:grpSpPr>
          <a:xfrm>
            <a:off x="677418" y="2740025"/>
            <a:ext cx="6928122" cy="876046"/>
            <a:chOff x="677418" y="2740025"/>
            <a:chExt cx="6928122" cy="876046"/>
          </a:xfrm>
        </p:grpSpPr>
        <p:sp>
          <p:nvSpPr>
            <p:cNvPr id="9" name="TextBox 9"/>
            <p:cNvSpPr txBox="1"/>
            <p:nvPr/>
          </p:nvSpPr>
          <p:spPr>
            <a:xfrm>
              <a:off x="677418" y="2740025"/>
              <a:ext cx="4332041" cy="322707"/>
            </a:xfrm>
            <a:prstGeom prst="rect">
              <a:avLst/>
            </a:prstGeom>
            <a:noFill/>
            <a:ln>
              <a:noFill/>
            </a:ln>
          </p:spPr>
          <p:txBody>
            <a:bodyPr wrap="none" lIns="0" tIns="0" rIns="0" bIns="0" anchor="t" anchorCtr="0">
              <a:spAutoFit/>
            </a:bodyPr>
            <a:lstStyle/>
            <a:p>
              <a:pPr algn="l"/>
              <a:r>
                <a:rPr lang="en-AU" sz="1650" b="1" dirty="0">
                  <a:solidFill>
                    <a:schemeClr val="accent1"/>
                  </a:solidFill>
                  <a:latin typeface="+mn-lt"/>
                  <a:ea typeface="+mn-ea"/>
                  <a:cs typeface="+mn-cs"/>
                </a:rPr>
                <a:t>Office for National Statistics (ONS) (n.d.)</a:t>
              </a:r>
            </a:p>
          </p:txBody>
        </p:sp>
        <p:sp>
          <p:nvSpPr>
            <p:cNvPr id="10" name="TextBox 10"/>
            <p:cNvSpPr txBox="1"/>
            <p:nvPr/>
          </p:nvSpPr>
          <p:spPr>
            <a:xfrm>
              <a:off x="678942" y="3054350"/>
              <a:ext cx="4081056" cy="264033"/>
            </a:xfrm>
            <a:prstGeom prst="rect">
              <a:avLst/>
            </a:prstGeom>
            <a:noFill/>
            <a:ln>
              <a:noFill/>
            </a:ln>
          </p:spPr>
          <p:txBody>
            <a:bodyPr wrap="none" lIns="0" tIns="0" rIns="0" bIns="0" anchor="t" anchorCtr="0">
              <a:spAutoFit/>
            </a:bodyPr>
            <a:lstStyle/>
            <a:p>
              <a:pPr algn="l"/>
              <a:r>
                <a:rPr lang="en-AU" sz="1350" dirty="0">
                  <a:solidFill>
                    <a:schemeClr val="dk1"/>
                  </a:solidFill>
                  <a:latin typeface="+mn-lt"/>
                  <a:ea typeface="+mn-ea"/>
                  <a:cs typeface="+mn-cs"/>
                </a:rPr>
                <a:t>Question anatomy example. ONS Design System.</a:t>
              </a:r>
            </a:p>
          </p:txBody>
        </p:sp>
        <p:sp>
          <p:nvSpPr>
            <p:cNvPr id="11" name="TextBox 11"/>
            <p:cNvSpPr txBox="1"/>
            <p:nvPr/>
          </p:nvSpPr>
          <p:spPr>
            <a:xfrm>
              <a:off x="679704" y="3381375"/>
              <a:ext cx="6925836"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Official source repository, viewed 19 October 2026. https://github.com/ONSdigital/design-system</a:t>
              </a:r>
            </a:p>
          </p:txBody>
        </p:sp>
      </p:grpSp>
      <p:grpSp>
        <p:nvGrpSpPr>
          <p:cNvPr id="16" name="reference-3"/>
          <p:cNvGrpSpPr/>
          <p:nvPr/>
        </p:nvGrpSpPr>
        <p:grpSpPr>
          <a:xfrm>
            <a:off x="677418" y="3740150"/>
            <a:ext cx="7280711" cy="876046"/>
            <a:chOff x="677418" y="3740150"/>
            <a:chExt cx="7280711" cy="876046"/>
          </a:xfrm>
        </p:grpSpPr>
        <p:sp>
          <p:nvSpPr>
            <p:cNvPr id="13" name="TextBox 13"/>
            <p:cNvSpPr txBox="1"/>
            <p:nvPr/>
          </p:nvSpPr>
          <p:spPr>
            <a:xfrm>
              <a:off x="677418" y="3740150"/>
              <a:ext cx="4385561" cy="322707"/>
            </a:xfrm>
            <a:prstGeom prst="rect">
              <a:avLst/>
            </a:prstGeom>
            <a:noFill/>
            <a:ln>
              <a:noFill/>
            </a:ln>
          </p:spPr>
          <p:txBody>
            <a:bodyPr wrap="none" lIns="0" tIns="0" rIns="0" bIns="0" anchor="t" anchorCtr="0">
              <a:spAutoFit/>
            </a:bodyPr>
            <a:lstStyle/>
            <a:p>
              <a:pPr algn="l"/>
              <a:r>
                <a:rPr lang="en-AU" sz="1650" b="1" dirty="0">
                  <a:solidFill>
                    <a:schemeClr val="accent1"/>
                  </a:solidFill>
                  <a:latin typeface="+mn-lt"/>
                  <a:ea typeface="+mn-ea"/>
                  <a:cs typeface="+mn-cs"/>
                </a:rPr>
                <a:t>Government Digital Service (GDS) (n.d.a)</a:t>
              </a:r>
            </a:p>
          </p:txBody>
        </p:sp>
        <p:sp>
          <p:nvSpPr>
            <p:cNvPr id="14" name="TextBox 14"/>
            <p:cNvSpPr txBox="1"/>
            <p:nvPr/>
          </p:nvSpPr>
          <p:spPr>
            <a:xfrm>
              <a:off x="678942" y="4054475"/>
              <a:ext cx="3469178" cy="264033"/>
            </a:xfrm>
            <a:prstGeom prst="rect">
              <a:avLst/>
            </a:prstGeom>
            <a:noFill/>
            <a:ln>
              <a:noFill/>
            </a:ln>
          </p:spPr>
          <p:txBody>
            <a:bodyPr wrap="none" lIns="0" tIns="0" rIns="0" bIns="0" anchor="t" anchorCtr="0">
              <a:spAutoFit/>
            </a:bodyPr>
            <a:lstStyle/>
            <a:p>
              <a:pPr algn="l"/>
              <a:r>
                <a:rPr lang="en-AU" sz="1350" dirty="0">
                  <a:solidFill>
                    <a:schemeClr val="dk1"/>
                  </a:solidFill>
                  <a:latin typeface="+mn-lt"/>
                  <a:ea typeface="+mn-ea"/>
                  <a:cs typeface="+mn-cs"/>
                </a:rPr>
                <a:t>Question pages. GOV.UK Design System.</a:t>
              </a:r>
            </a:p>
          </p:txBody>
        </p:sp>
        <p:sp>
          <p:nvSpPr>
            <p:cNvPr id="15" name="TextBox 15"/>
            <p:cNvSpPr txBox="1"/>
            <p:nvPr/>
          </p:nvSpPr>
          <p:spPr>
            <a:xfrm>
              <a:off x="679704" y="4381500"/>
              <a:ext cx="7278425"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Official source repository, viewed 19 October 2026. https://github.com/alphagov/govuk-design-system</a:t>
              </a:r>
            </a:p>
          </p:txBody>
        </p:sp>
      </p:grpSp>
      <p:grpSp>
        <p:nvGrpSpPr>
          <p:cNvPr id="20" name="reference-4"/>
          <p:cNvGrpSpPr/>
          <p:nvPr/>
        </p:nvGrpSpPr>
        <p:grpSpPr>
          <a:xfrm>
            <a:off x="677418" y="4740275"/>
            <a:ext cx="7280711" cy="876046"/>
            <a:chOff x="677418" y="4740275"/>
            <a:chExt cx="7280711" cy="876046"/>
          </a:xfrm>
        </p:grpSpPr>
        <p:sp>
          <p:nvSpPr>
            <p:cNvPr id="17" name="TextBox 17"/>
            <p:cNvSpPr txBox="1"/>
            <p:nvPr/>
          </p:nvSpPr>
          <p:spPr>
            <a:xfrm>
              <a:off x="677418" y="4740275"/>
              <a:ext cx="4397826" cy="322707"/>
            </a:xfrm>
            <a:prstGeom prst="rect">
              <a:avLst/>
            </a:prstGeom>
            <a:noFill/>
            <a:ln>
              <a:noFill/>
            </a:ln>
          </p:spPr>
          <p:txBody>
            <a:bodyPr wrap="none" lIns="0" tIns="0" rIns="0" bIns="0" anchor="t" anchorCtr="0">
              <a:spAutoFit/>
            </a:bodyPr>
            <a:lstStyle/>
            <a:p>
              <a:pPr algn="l"/>
              <a:r>
                <a:rPr lang="en-AU" sz="1650" b="1" dirty="0">
                  <a:solidFill>
                    <a:schemeClr val="accent1"/>
                  </a:solidFill>
                  <a:latin typeface="+mn-lt"/>
                  <a:ea typeface="+mn-ea"/>
                  <a:cs typeface="+mn-cs"/>
                </a:rPr>
                <a:t>Government Digital Service (GDS) (n.d.b)</a:t>
              </a:r>
            </a:p>
          </p:txBody>
        </p:sp>
        <p:sp>
          <p:nvSpPr>
            <p:cNvPr id="18" name="TextBox 18"/>
            <p:cNvSpPr txBox="1"/>
            <p:nvPr/>
          </p:nvSpPr>
          <p:spPr>
            <a:xfrm>
              <a:off x="678942" y="5054600"/>
              <a:ext cx="2763532" cy="264033"/>
            </a:xfrm>
            <a:prstGeom prst="rect">
              <a:avLst/>
            </a:prstGeom>
            <a:noFill/>
            <a:ln>
              <a:noFill/>
            </a:ln>
          </p:spPr>
          <p:txBody>
            <a:bodyPr wrap="none" lIns="0" tIns="0" rIns="0" bIns="0" anchor="t" anchorCtr="0">
              <a:spAutoFit/>
            </a:bodyPr>
            <a:lstStyle/>
            <a:p>
              <a:pPr algn="l"/>
              <a:r>
                <a:rPr lang="en-AU" sz="1350" dirty="0">
                  <a:solidFill>
                    <a:schemeClr val="dk1"/>
                  </a:solidFill>
                  <a:latin typeface="+mn-lt"/>
                  <a:ea typeface="+mn-ea"/>
                  <a:cs typeface="+mn-cs"/>
                </a:rPr>
                <a:t>Radios. GOV.UK Design System.</a:t>
              </a:r>
            </a:p>
          </p:txBody>
        </p:sp>
        <p:sp>
          <p:nvSpPr>
            <p:cNvPr id="19" name="TextBox 19"/>
            <p:cNvSpPr txBox="1"/>
            <p:nvPr/>
          </p:nvSpPr>
          <p:spPr>
            <a:xfrm>
              <a:off x="679704" y="5381625"/>
              <a:ext cx="7278425"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Official source repository, viewed 19 October 2026. https://github.com/alphagov/govuk-design-system</a:t>
              </a:r>
            </a:p>
          </p:txBody>
        </p:sp>
      </p:grpSp>
      <p:sp>
        <p:nvSpPr>
          <p:cNvPr id="21" name="Line 21"/>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22"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23"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09</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8961808" cy="645414"/>
            <a:chOff x="669036" y="527050"/>
            <a:chExt cx="8961808" cy="645414"/>
          </a:xfrm>
        </p:grpSpPr>
        <p:sp>
          <p:nvSpPr>
            <p:cNvPr id="2" name="TextBox 2"/>
            <p:cNvSpPr txBox="1"/>
            <p:nvPr/>
          </p:nvSpPr>
          <p:spPr>
            <a:xfrm>
              <a:off x="669036" y="527050"/>
              <a:ext cx="8961808"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References | guidance and course context</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8" name="reference-1"/>
          <p:cNvGrpSpPr/>
          <p:nvPr/>
        </p:nvGrpSpPr>
        <p:grpSpPr>
          <a:xfrm>
            <a:off x="677418" y="1739900"/>
            <a:ext cx="7280711" cy="876046"/>
            <a:chOff x="677418" y="1739900"/>
            <a:chExt cx="7280711" cy="876046"/>
          </a:xfrm>
        </p:grpSpPr>
        <p:sp>
          <p:nvSpPr>
            <p:cNvPr id="5" name="TextBox 5"/>
            <p:cNvSpPr txBox="1"/>
            <p:nvPr/>
          </p:nvSpPr>
          <p:spPr>
            <a:xfrm>
              <a:off x="677418" y="1739900"/>
              <a:ext cx="4385561" cy="322707"/>
            </a:xfrm>
            <a:prstGeom prst="rect">
              <a:avLst/>
            </a:prstGeom>
            <a:noFill/>
            <a:ln>
              <a:noFill/>
            </a:ln>
          </p:spPr>
          <p:txBody>
            <a:bodyPr wrap="none" lIns="0" tIns="0" rIns="0" bIns="0" anchor="t" anchorCtr="0">
              <a:spAutoFit/>
            </a:bodyPr>
            <a:lstStyle/>
            <a:p>
              <a:pPr algn="l"/>
              <a:r>
                <a:rPr lang="en-AU" sz="1650" b="1" dirty="0">
                  <a:solidFill>
                    <a:schemeClr val="accent1"/>
                  </a:solidFill>
                  <a:latin typeface="+mn-lt"/>
                  <a:ea typeface="+mn-ea"/>
                  <a:cs typeface="+mn-cs"/>
                </a:rPr>
                <a:t>Government Digital Service (GDS) (n.d.c)</a:t>
              </a:r>
            </a:p>
          </p:txBody>
        </p:sp>
        <p:sp>
          <p:nvSpPr>
            <p:cNvPr id="6" name="TextBox 6"/>
            <p:cNvSpPr txBox="1"/>
            <p:nvPr/>
          </p:nvSpPr>
          <p:spPr>
            <a:xfrm>
              <a:off x="678942" y="2054225"/>
              <a:ext cx="3439756" cy="264033"/>
            </a:xfrm>
            <a:prstGeom prst="rect">
              <a:avLst/>
            </a:prstGeom>
            <a:noFill/>
            <a:ln>
              <a:noFill/>
            </a:ln>
          </p:spPr>
          <p:txBody>
            <a:bodyPr wrap="none" lIns="0" tIns="0" rIns="0" bIns="0" anchor="t" anchorCtr="0">
              <a:spAutoFit/>
            </a:bodyPr>
            <a:lstStyle/>
            <a:p>
              <a:pPr algn="l"/>
              <a:r>
                <a:rPr lang="en-AU" sz="1350" dirty="0">
                  <a:solidFill>
                    <a:schemeClr val="dk1"/>
                  </a:solidFill>
                  <a:latin typeface="+mn-lt"/>
                  <a:ea typeface="+mn-ea"/>
                  <a:cs typeface="+mn-cs"/>
                </a:rPr>
                <a:t>Check answers. GOV.UK Design System.</a:t>
              </a:r>
            </a:p>
          </p:txBody>
        </p:sp>
        <p:sp>
          <p:nvSpPr>
            <p:cNvPr id="7" name="TextBox 7"/>
            <p:cNvSpPr txBox="1"/>
            <p:nvPr/>
          </p:nvSpPr>
          <p:spPr>
            <a:xfrm>
              <a:off x="679704" y="2381250"/>
              <a:ext cx="7278425"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Official source repository, viewed 19 October 2026. https://github.com/alphagov/govuk-design-system</a:t>
              </a:r>
            </a:p>
          </p:txBody>
        </p:sp>
      </p:grpSp>
      <p:grpSp>
        <p:nvGrpSpPr>
          <p:cNvPr id="12" name="reference-2"/>
          <p:cNvGrpSpPr/>
          <p:nvPr/>
        </p:nvGrpSpPr>
        <p:grpSpPr>
          <a:xfrm>
            <a:off x="677418" y="2740025"/>
            <a:ext cx="6621790" cy="876046"/>
            <a:chOff x="677418" y="2740025"/>
            <a:chExt cx="6621790" cy="876046"/>
          </a:xfrm>
        </p:grpSpPr>
        <p:sp>
          <p:nvSpPr>
            <p:cNvPr id="9" name="TextBox 9"/>
            <p:cNvSpPr txBox="1"/>
            <p:nvPr/>
          </p:nvSpPr>
          <p:spPr>
            <a:xfrm>
              <a:off x="677418" y="2740025"/>
              <a:ext cx="2007217" cy="322707"/>
            </a:xfrm>
            <a:prstGeom prst="rect">
              <a:avLst/>
            </a:prstGeom>
            <a:noFill/>
            <a:ln>
              <a:noFill/>
            </a:ln>
          </p:spPr>
          <p:txBody>
            <a:bodyPr wrap="none" lIns="0" tIns="0" rIns="0" bIns="0" anchor="t" anchorCtr="0">
              <a:spAutoFit/>
            </a:bodyPr>
            <a:lstStyle/>
            <a:p>
              <a:pPr algn="l"/>
              <a:r>
                <a:rPr lang="en-AU" sz="1650" b="1" dirty="0">
                  <a:solidFill>
                    <a:schemeClr val="accent1"/>
                  </a:solidFill>
                  <a:latin typeface="+mn-lt"/>
                  <a:ea typeface="+mn-ea"/>
                  <a:cs typeface="+mn-cs"/>
                </a:rPr>
                <a:t>Nguyen, L. (2026a)</a:t>
              </a:r>
            </a:p>
          </p:txBody>
        </p:sp>
        <p:sp>
          <p:nvSpPr>
            <p:cNvPr id="10" name="TextBox 10"/>
            <p:cNvSpPr txBox="1"/>
            <p:nvPr/>
          </p:nvSpPr>
          <p:spPr>
            <a:xfrm>
              <a:off x="678942" y="3054350"/>
              <a:ext cx="3600848" cy="264033"/>
            </a:xfrm>
            <a:prstGeom prst="rect">
              <a:avLst/>
            </a:prstGeom>
            <a:noFill/>
            <a:ln>
              <a:noFill/>
            </a:ln>
          </p:spPr>
          <p:txBody>
            <a:bodyPr wrap="none" lIns="0" tIns="0" rIns="0" bIns="0" anchor="t" anchorCtr="0">
              <a:spAutoFit/>
            </a:bodyPr>
            <a:lstStyle/>
            <a:p>
              <a:pPr algn="l"/>
              <a:r>
                <a:rPr lang="en-AU" sz="1350" dirty="0">
                  <a:solidFill>
                    <a:schemeClr val="dk1"/>
                  </a:solidFill>
                  <a:latin typeface="+mn-lt"/>
                  <a:ea typeface="+mn-ea"/>
                  <a:cs typeface="+mn-cs"/>
                </a:rPr>
                <a:t>Week 2: Action Research &amp; Data Collection.</a:t>
              </a:r>
            </a:p>
          </p:txBody>
        </p:sp>
        <p:sp>
          <p:nvSpPr>
            <p:cNvPr id="11" name="TextBox 11"/>
            <p:cNvSpPr txBox="1"/>
            <p:nvPr/>
          </p:nvSpPr>
          <p:spPr>
            <a:xfrm>
              <a:off x="679704" y="3381375"/>
              <a:ext cx="6619504"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COMM5030, UNSW Sydney, lecture guide, pp.18–19 and 29–30. Supplied course material.</a:t>
              </a:r>
            </a:p>
          </p:txBody>
        </p:sp>
      </p:grpSp>
      <p:grpSp>
        <p:nvGrpSpPr>
          <p:cNvPr id="16" name="reference-3"/>
          <p:cNvGrpSpPr/>
          <p:nvPr/>
        </p:nvGrpSpPr>
        <p:grpSpPr>
          <a:xfrm>
            <a:off x="677418" y="3740150"/>
            <a:ext cx="6366043" cy="876046"/>
            <a:chOff x="677418" y="3740150"/>
            <a:chExt cx="6366043" cy="876046"/>
          </a:xfrm>
        </p:grpSpPr>
        <p:sp>
          <p:nvSpPr>
            <p:cNvPr id="13" name="TextBox 13"/>
            <p:cNvSpPr txBox="1"/>
            <p:nvPr/>
          </p:nvSpPr>
          <p:spPr>
            <a:xfrm>
              <a:off x="677418" y="3740150"/>
              <a:ext cx="2019516" cy="322707"/>
            </a:xfrm>
            <a:prstGeom prst="rect">
              <a:avLst/>
            </a:prstGeom>
            <a:noFill/>
            <a:ln>
              <a:noFill/>
            </a:ln>
          </p:spPr>
          <p:txBody>
            <a:bodyPr wrap="none" lIns="0" tIns="0" rIns="0" bIns="0" anchor="t" anchorCtr="0">
              <a:spAutoFit/>
            </a:bodyPr>
            <a:lstStyle/>
            <a:p>
              <a:pPr algn="l"/>
              <a:r>
                <a:rPr lang="en-AU" sz="1650" b="1" dirty="0">
                  <a:solidFill>
                    <a:schemeClr val="accent1"/>
                  </a:solidFill>
                  <a:latin typeface="+mn-lt"/>
                  <a:ea typeface="+mn-ea"/>
                  <a:cs typeface="+mn-cs"/>
                </a:rPr>
                <a:t>Nguyen, L. (2026b)</a:t>
              </a:r>
            </a:p>
          </p:txBody>
        </p:sp>
        <p:sp>
          <p:nvSpPr>
            <p:cNvPr id="14" name="TextBox 14"/>
            <p:cNvSpPr txBox="1"/>
            <p:nvPr/>
          </p:nvSpPr>
          <p:spPr>
            <a:xfrm>
              <a:off x="678942" y="4054475"/>
              <a:ext cx="3059147" cy="264033"/>
            </a:xfrm>
            <a:prstGeom prst="rect">
              <a:avLst/>
            </a:prstGeom>
            <a:noFill/>
            <a:ln>
              <a:noFill/>
            </a:ln>
          </p:spPr>
          <p:txBody>
            <a:bodyPr wrap="none" lIns="0" tIns="0" rIns="0" bIns="0" anchor="t" anchorCtr="0">
              <a:spAutoFit/>
            </a:bodyPr>
            <a:lstStyle/>
            <a:p>
              <a:pPr algn="l"/>
              <a:r>
                <a:rPr lang="en-AU" sz="1350" dirty="0">
                  <a:solidFill>
                    <a:schemeClr val="dk1"/>
                  </a:solidFill>
                  <a:latin typeface="+mn-lt"/>
                  <a:ea typeface="+mn-ea"/>
                  <a:cs typeface="+mn-cs"/>
                </a:rPr>
                <a:t>Week 3: Social Impact Measurement.</a:t>
              </a:r>
            </a:p>
          </p:txBody>
        </p:sp>
        <p:sp>
          <p:nvSpPr>
            <p:cNvPr id="15" name="TextBox 15"/>
            <p:cNvSpPr txBox="1"/>
            <p:nvPr/>
          </p:nvSpPr>
          <p:spPr>
            <a:xfrm>
              <a:off x="679704" y="4381500"/>
              <a:ext cx="6363757"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COMM5030, UNSW Sydney, lecture slides, pp.25–31 and 42. Supplied course material.</a:t>
              </a:r>
            </a:p>
          </p:txBody>
        </p:sp>
      </p:grpSp>
      <p:grpSp>
        <p:nvGrpSpPr>
          <p:cNvPr id="20" name="reference-4"/>
          <p:cNvGrpSpPr/>
          <p:nvPr/>
        </p:nvGrpSpPr>
        <p:grpSpPr>
          <a:xfrm>
            <a:off x="677418" y="4740275"/>
            <a:ext cx="5824928" cy="876046"/>
            <a:chOff x="677418" y="4740275"/>
            <a:chExt cx="5824928" cy="876046"/>
          </a:xfrm>
        </p:grpSpPr>
        <p:sp>
          <p:nvSpPr>
            <p:cNvPr id="17" name="TextBox 17"/>
            <p:cNvSpPr txBox="1"/>
            <p:nvPr/>
          </p:nvSpPr>
          <p:spPr>
            <a:xfrm>
              <a:off x="677418" y="4740275"/>
              <a:ext cx="2007217" cy="322707"/>
            </a:xfrm>
            <a:prstGeom prst="rect">
              <a:avLst/>
            </a:prstGeom>
            <a:noFill/>
            <a:ln>
              <a:noFill/>
            </a:ln>
          </p:spPr>
          <p:txBody>
            <a:bodyPr wrap="none" lIns="0" tIns="0" rIns="0" bIns="0" anchor="t" anchorCtr="0">
              <a:spAutoFit/>
            </a:bodyPr>
            <a:lstStyle/>
            <a:p>
              <a:pPr algn="l"/>
              <a:r>
                <a:rPr lang="en-AU" sz="1650" b="1" dirty="0">
                  <a:solidFill>
                    <a:schemeClr val="accent1"/>
                  </a:solidFill>
                  <a:latin typeface="+mn-lt"/>
                  <a:ea typeface="+mn-ea"/>
                  <a:cs typeface="+mn-cs"/>
                </a:rPr>
                <a:t>Nguyen, L. (2026c)</a:t>
              </a:r>
            </a:p>
          </p:txBody>
        </p:sp>
        <p:sp>
          <p:nvSpPr>
            <p:cNvPr id="18" name="TextBox 18"/>
            <p:cNvSpPr txBox="1"/>
            <p:nvPr/>
          </p:nvSpPr>
          <p:spPr>
            <a:xfrm>
              <a:off x="678942" y="5054600"/>
              <a:ext cx="2235211" cy="264033"/>
            </a:xfrm>
            <a:prstGeom prst="rect">
              <a:avLst/>
            </a:prstGeom>
            <a:noFill/>
            <a:ln>
              <a:noFill/>
            </a:ln>
          </p:spPr>
          <p:txBody>
            <a:bodyPr wrap="none" lIns="0" tIns="0" rIns="0" bIns="0" anchor="t" anchorCtr="0">
              <a:spAutoFit/>
            </a:bodyPr>
            <a:lstStyle/>
            <a:p>
              <a:pPr algn="l"/>
              <a:r>
                <a:rPr lang="en-AU" sz="1350" dirty="0">
                  <a:solidFill>
                    <a:schemeClr val="dk1"/>
                  </a:solidFill>
                  <a:latin typeface="+mn-lt"/>
                  <a:ea typeface="+mn-ea"/>
                  <a:cs typeface="+mn-cs"/>
                </a:rPr>
                <a:t>Week 5: Systems Thinking.</a:t>
              </a:r>
            </a:p>
          </p:txBody>
        </p:sp>
        <p:sp>
          <p:nvSpPr>
            <p:cNvPr id="19" name="TextBox 19"/>
            <p:cNvSpPr txBox="1"/>
            <p:nvPr/>
          </p:nvSpPr>
          <p:spPr>
            <a:xfrm>
              <a:off x="679704" y="5381625"/>
              <a:ext cx="5822642"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COMM5030, UNSW Sydney, lecture slides, pp.17–28. Supplied course material.</a:t>
              </a:r>
            </a:p>
          </p:txBody>
        </p:sp>
      </p:grpSp>
      <p:grpSp>
        <p:nvGrpSpPr>
          <p:cNvPr id="22" name="preparation-note"/>
          <p:cNvGrpSpPr/>
          <p:nvPr/>
        </p:nvGrpSpPr>
        <p:grpSpPr>
          <a:xfrm>
            <a:off x="679704" y="5953125"/>
            <a:ext cx="7839211" cy="234696"/>
            <a:chOff x="679704" y="5953125"/>
            <a:chExt cx="7839211" cy="234696"/>
          </a:xfrm>
        </p:grpSpPr>
        <p:sp>
          <p:nvSpPr>
            <p:cNvPr id="21" name="TextBox 21"/>
            <p:cNvSpPr txBox="1"/>
            <p:nvPr/>
          </p:nvSpPr>
          <p:spPr>
            <a:xfrm>
              <a:off x="679704" y="5953125"/>
              <a:ext cx="7839211"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Preparation: ChatGPT assisted drafting; Image Gen informed style A; PPT Master supported editable export.</a:t>
              </a:r>
            </a:p>
          </p:txBody>
        </p:sp>
      </p:grpSp>
      <p:sp>
        <p:nvSpPr>
          <p:cNvPr id="23" name="Line 23"/>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24"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25"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10</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6926925" cy="645414"/>
            <a:chOff x="669036" y="527050"/>
            <a:chExt cx="6926925" cy="645414"/>
          </a:xfrm>
        </p:grpSpPr>
        <p:sp>
          <p:nvSpPr>
            <p:cNvPr id="2" name="TextBox 2"/>
            <p:cNvSpPr txBox="1"/>
            <p:nvPr/>
          </p:nvSpPr>
          <p:spPr>
            <a:xfrm>
              <a:off x="669036" y="527050"/>
              <a:ext cx="6926925"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Appendix A | draft parent survey</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6" name="survey-instructions"/>
          <p:cNvGrpSpPr/>
          <p:nvPr/>
        </p:nvGrpSpPr>
        <p:grpSpPr>
          <a:xfrm>
            <a:off x="677418" y="1584325"/>
            <a:ext cx="10068710" cy="608457"/>
            <a:chOff x="677418" y="1584325"/>
            <a:chExt cx="10068710" cy="608457"/>
          </a:xfrm>
        </p:grpSpPr>
        <p:sp>
          <p:nvSpPr>
            <p:cNvPr id="5" name="TextBox 5"/>
            <p:cNvSpPr txBox="1"/>
            <p:nvPr/>
          </p:nvSpPr>
          <p:spPr>
            <a:xfrm>
              <a:off x="677418" y="1584325"/>
              <a:ext cx="10068710" cy="608457"/>
            </a:xfrm>
            <a:prstGeom prst="rect">
              <a:avLst/>
            </a:prstGeom>
            <a:noFill/>
            <a:ln>
              <a:noFill/>
            </a:ln>
          </p:spPr>
          <p:txBody>
            <a:bodyPr wrap="none" lIns="0" tIns="0" rIns="0" bIns="0" anchor="t" anchorCtr="0">
              <a:spAutoFit/>
            </a:bodyPr>
            <a:lstStyle/>
            <a:p>
              <a:pPr algn="l">
                <a:lnSpc>
                  <a:spcPts val="2250"/>
                </a:lnSpc>
              </a:pPr>
              <a:r>
                <a:rPr lang="en-AU" sz="1650" dirty="0">
                  <a:solidFill>
                    <a:schemeClr val="accent6"/>
                  </a:solidFill>
                  <a:latin typeface="+mn-lt"/>
                  <a:ea typeface="+mn-ea"/>
                  <a:cs typeface="+mn-cs"/>
                </a:rPr>
                <a:t>Proposed: invite adult carers four weeks after a selected visit. Answer for one child; record no child identifier.</a:t>
              </a:r>
              <a:br>
                <a:rPr lang="en-AU" sz="1650" dirty="0">
                  <a:solidFill>
                    <a:schemeClr val="accent6"/>
                  </a:solidFill>
                  <a:latin typeface="+mn-lt"/>
                  <a:ea typeface="+mn-ea"/>
                  <a:cs typeface="+mn-cs"/>
                </a:rPr>
              </a:br>
              <a:r>
                <a:rPr lang="en-AU" sz="1650" dirty="0">
                  <a:solidFill>
                    <a:schemeClr val="accent6"/>
                  </a:solidFill>
                  <a:latin typeface="+mn-lt"/>
                  <a:ea typeface="+mn-ea"/>
                  <a:cs typeface="+mn-cs"/>
                </a:rPr>
                <a:t>Participation is optional and does not affect support.</a:t>
              </a:r>
            </a:p>
          </p:txBody>
        </p:sp>
      </p:grpSp>
      <p:grpSp>
        <p:nvGrpSpPr>
          <p:cNvPr id="10" name="survey-item-1"/>
          <p:cNvGrpSpPr/>
          <p:nvPr/>
        </p:nvGrpSpPr>
        <p:grpSpPr>
          <a:xfrm>
            <a:off x="677418" y="2378075"/>
            <a:ext cx="4706912" cy="1613408"/>
            <a:chOff x="677418" y="2378075"/>
            <a:chExt cx="4706912" cy="1613408"/>
          </a:xfrm>
        </p:grpSpPr>
        <p:sp>
          <p:nvSpPr>
            <p:cNvPr id="7" name="TextBox 7"/>
            <p:cNvSpPr txBox="1"/>
            <p:nvPr/>
          </p:nvSpPr>
          <p:spPr>
            <a:xfrm>
              <a:off x="677418" y="2378075"/>
              <a:ext cx="1890015" cy="322707"/>
            </a:xfrm>
            <a:prstGeom prst="rect">
              <a:avLst/>
            </a:prstGeom>
            <a:noFill/>
            <a:ln>
              <a:noFill/>
            </a:ln>
          </p:spPr>
          <p:txBody>
            <a:bodyPr wrap="none" lIns="0" tIns="0" rIns="0" bIns="0" anchor="t" anchorCtr="0">
              <a:spAutoFit/>
            </a:bodyPr>
            <a:lstStyle/>
            <a:p>
              <a:pPr algn="l"/>
              <a:r>
                <a:rPr lang="en-AU" sz="1650" b="1" dirty="0">
                  <a:solidFill>
                    <a:schemeClr val="accent2"/>
                  </a:solidFill>
                  <a:latin typeface="+mn-lt"/>
                  <a:ea typeface="+mn-ea"/>
                  <a:cs typeface="+mn-cs"/>
                </a:rPr>
                <a:t>1. Access change</a:t>
              </a:r>
            </a:p>
          </p:txBody>
        </p:sp>
        <p:sp>
          <p:nvSpPr>
            <p:cNvPr id="8" name="TextBox 8"/>
            <p:cNvSpPr txBox="1"/>
            <p:nvPr/>
          </p:nvSpPr>
          <p:spPr>
            <a:xfrm>
              <a:off x="678180" y="2705100"/>
              <a:ext cx="4706150" cy="788670"/>
            </a:xfrm>
            <a:prstGeom prst="rect">
              <a:avLst/>
            </a:prstGeom>
            <a:noFill/>
            <a:ln>
              <a:noFill/>
            </a:ln>
          </p:spPr>
          <p:txBody>
            <a:bodyPr wrap="none" lIns="0" tIns="0" rIns="0" bIns="0" anchor="t" anchorCtr="0">
              <a:spAutoFit/>
            </a:bodyPr>
            <a:lstStyle/>
            <a:p>
              <a:pPr algn="l">
                <a:lnSpc>
                  <a:spcPts val="1950"/>
                </a:lnSpc>
              </a:pPr>
              <a:r>
                <a:rPr lang="en-AU" sz="1500" dirty="0">
                  <a:solidFill>
                    <a:schemeClr val="dk1"/>
                  </a:solidFill>
                  <a:latin typeface="+mn-lt"/>
                  <a:ea typeface="+mn-ea"/>
                  <a:cs typeface="+mn-cs"/>
                </a:rPr>
                <a:t>Compared with the four weeks before that visit, how</a:t>
              </a:r>
              <a:br>
                <a:rPr lang="en-AU" sz="1500" dirty="0">
                  <a:solidFill>
                    <a:schemeClr val="dk1"/>
                  </a:solidFill>
                  <a:latin typeface="+mn-lt"/>
                  <a:ea typeface="+mn-ea"/>
                  <a:cs typeface="+mn-cs"/>
                </a:rPr>
              </a:br>
              <a:r>
                <a:rPr lang="en-AU" sz="1500" dirty="0">
                  <a:solidFill>
                    <a:schemeClr val="dk1"/>
                  </a:solidFill>
                  <a:latin typeface="+mn-lt"/>
                  <a:ea typeface="+mn-ea"/>
                  <a:cs typeface="+mn-cs"/>
                </a:rPr>
                <a:t>easy was it to obtain suitable toys or books for this child</a:t>
              </a:r>
              <a:br>
                <a:rPr lang="en-AU" sz="1500" dirty="0">
                  <a:solidFill>
                    <a:schemeClr val="dk1"/>
                  </a:solidFill>
                  <a:latin typeface="+mn-lt"/>
                  <a:ea typeface="+mn-ea"/>
                  <a:cs typeface="+mn-cs"/>
                </a:rPr>
              </a:br>
              <a:r>
                <a:rPr lang="en-AU" sz="1500" dirty="0">
                  <a:solidFill>
                    <a:schemeClr val="dk1"/>
                  </a:solidFill>
                  <a:latin typeface="+mn-lt"/>
                  <a:ea typeface="+mn-ea"/>
                  <a:cs typeface="+mn-cs"/>
                </a:rPr>
                <a:t>in the four weeks after it?</a:t>
              </a:r>
            </a:p>
          </p:txBody>
        </p:sp>
        <p:sp>
          <p:nvSpPr>
            <p:cNvPr id="9" name="TextBox 9"/>
            <p:cNvSpPr txBox="1"/>
            <p:nvPr/>
          </p:nvSpPr>
          <p:spPr>
            <a:xfrm>
              <a:off x="678942" y="3498850"/>
              <a:ext cx="4531081" cy="492633"/>
            </a:xfrm>
            <a:prstGeom prst="rect">
              <a:avLst/>
            </a:prstGeom>
            <a:noFill/>
            <a:ln>
              <a:noFill/>
            </a:ln>
          </p:spPr>
          <p:txBody>
            <a:bodyPr wrap="none" lIns="0" tIns="0" rIns="0" bIns="0" anchor="t" anchorCtr="0">
              <a:spAutoFit/>
            </a:bodyPr>
            <a:lstStyle/>
            <a:p>
              <a:pPr algn="l">
                <a:lnSpc>
                  <a:spcPts val="1800"/>
                </a:lnSpc>
              </a:pPr>
              <a:r>
                <a:rPr lang="en-AU" sz="1350" dirty="0">
                  <a:solidFill>
                    <a:schemeClr val="accent6"/>
                  </a:solidFill>
                  <a:latin typeface="+mn-lt"/>
                  <a:ea typeface="+mn-ea"/>
                  <a:cs typeface="+mn-cs"/>
                </a:rPr>
                <a:t>Much harder; a little harder; no change; a little easier; much</a:t>
              </a:r>
              <a:br>
                <a:rPr lang="en-AU" sz="1350" dirty="0">
                  <a:solidFill>
                    <a:schemeClr val="accent6"/>
                  </a:solidFill>
                  <a:latin typeface="+mn-lt"/>
                  <a:ea typeface="+mn-ea"/>
                  <a:cs typeface="+mn-cs"/>
                </a:rPr>
              </a:br>
              <a:r>
                <a:rPr lang="en-AU" sz="1350" dirty="0">
                  <a:solidFill>
                    <a:schemeClr val="accent6"/>
                  </a:solidFill>
                  <a:latin typeface="+mn-lt"/>
                  <a:ea typeface="+mn-ea"/>
                  <a:cs typeface="+mn-cs"/>
                </a:rPr>
                <a:t>easier; not sure.</a:t>
              </a:r>
            </a:p>
          </p:txBody>
        </p:sp>
      </p:grpSp>
      <p:grpSp>
        <p:nvGrpSpPr>
          <p:cNvPr id="14" name="survey-item-2"/>
          <p:cNvGrpSpPr/>
          <p:nvPr/>
        </p:nvGrpSpPr>
        <p:grpSpPr>
          <a:xfrm>
            <a:off x="677418" y="4187825"/>
            <a:ext cx="4411066" cy="1365758"/>
            <a:chOff x="677418" y="4187825"/>
            <a:chExt cx="4411066" cy="1365758"/>
          </a:xfrm>
        </p:grpSpPr>
        <p:sp>
          <p:nvSpPr>
            <p:cNvPr id="11" name="TextBox 11"/>
            <p:cNvSpPr txBox="1"/>
            <p:nvPr/>
          </p:nvSpPr>
          <p:spPr>
            <a:xfrm>
              <a:off x="677418" y="4187825"/>
              <a:ext cx="1530597" cy="322707"/>
            </a:xfrm>
            <a:prstGeom prst="rect">
              <a:avLst/>
            </a:prstGeom>
            <a:noFill/>
            <a:ln>
              <a:noFill/>
            </a:ln>
          </p:spPr>
          <p:txBody>
            <a:bodyPr wrap="none" lIns="0" tIns="0" rIns="0" bIns="0" anchor="t" anchorCtr="0">
              <a:spAutoFit/>
            </a:bodyPr>
            <a:lstStyle/>
            <a:p>
              <a:pPr algn="l"/>
              <a:r>
                <a:rPr lang="en-AU" sz="1650" b="1" dirty="0">
                  <a:solidFill>
                    <a:schemeClr val="accent2"/>
                  </a:solidFill>
                  <a:latin typeface="+mn-lt"/>
                  <a:ea typeface="+mn-ea"/>
                  <a:cs typeface="+mn-cs"/>
                </a:rPr>
                <a:t>2. Cost barrier</a:t>
              </a:r>
            </a:p>
          </p:txBody>
        </p:sp>
        <p:sp>
          <p:nvSpPr>
            <p:cNvPr id="12" name="TextBox 12"/>
            <p:cNvSpPr txBox="1"/>
            <p:nvPr/>
          </p:nvSpPr>
          <p:spPr>
            <a:xfrm>
              <a:off x="678180" y="4514850"/>
              <a:ext cx="4410304" cy="541020"/>
            </a:xfrm>
            <a:prstGeom prst="rect">
              <a:avLst/>
            </a:prstGeom>
            <a:noFill/>
            <a:ln>
              <a:noFill/>
            </a:ln>
          </p:spPr>
          <p:txBody>
            <a:bodyPr wrap="none" lIns="0" tIns="0" rIns="0" bIns="0" anchor="t" anchorCtr="0">
              <a:spAutoFit/>
            </a:bodyPr>
            <a:lstStyle/>
            <a:p>
              <a:pPr algn="l">
                <a:lnSpc>
                  <a:spcPts val="1950"/>
                </a:lnSpc>
              </a:pPr>
              <a:r>
                <a:rPr lang="en-AU" sz="1500" dirty="0">
                  <a:solidFill>
                    <a:schemeClr val="dk1"/>
                  </a:solidFill>
                  <a:latin typeface="+mn-lt"/>
                  <a:ea typeface="+mn-ea"/>
                  <a:cs typeface="+mn-cs"/>
                </a:rPr>
                <a:t>In the four weeks after that visit, how often did cost</a:t>
              </a:r>
              <a:br>
                <a:rPr lang="en-AU" sz="1500" dirty="0">
                  <a:solidFill>
                    <a:schemeClr val="dk1"/>
                  </a:solidFill>
                  <a:latin typeface="+mn-lt"/>
                  <a:ea typeface="+mn-ea"/>
                  <a:cs typeface="+mn-cs"/>
                </a:rPr>
              </a:br>
              <a:r>
                <a:rPr lang="en-AU" sz="1500" dirty="0">
                  <a:solidFill>
                    <a:schemeClr val="dk1"/>
                  </a:solidFill>
                  <a:latin typeface="+mn-lt"/>
                  <a:ea typeface="+mn-ea"/>
                  <a:cs typeface="+mn-cs"/>
                </a:rPr>
                <a:t>prevent you getting toys or books this child needed?</a:t>
              </a:r>
            </a:p>
          </p:txBody>
        </p:sp>
        <p:sp>
          <p:nvSpPr>
            <p:cNvPr id="13" name="TextBox 13"/>
            <p:cNvSpPr txBox="1"/>
            <p:nvPr/>
          </p:nvSpPr>
          <p:spPr>
            <a:xfrm>
              <a:off x="678942" y="5060950"/>
              <a:ext cx="4225694" cy="492633"/>
            </a:xfrm>
            <a:prstGeom prst="rect">
              <a:avLst/>
            </a:prstGeom>
            <a:noFill/>
            <a:ln>
              <a:noFill/>
            </a:ln>
          </p:spPr>
          <p:txBody>
            <a:bodyPr wrap="none" lIns="0" tIns="0" rIns="0" bIns="0" anchor="t" anchorCtr="0">
              <a:spAutoFit/>
            </a:bodyPr>
            <a:lstStyle/>
            <a:p>
              <a:pPr algn="l">
                <a:lnSpc>
                  <a:spcPts val="1800"/>
                </a:lnSpc>
              </a:pPr>
              <a:r>
                <a:rPr lang="en-AU" sz="1350" dirty="0">
                  <a:solidFill>
                    <a:schemeClr val="accent6"/>
                  </a:solidFill>
                  <a:latin typeface="+mn-lt"/>
                  <a:ea typeface="+mn-ea"/>
                  <a:cs typeface="+mn-cs"/>
                </a:rPr>
                <a:t>Never; sometimes; often; always; not sure; prefer not to</a:t>
              </a:r>
              <a:br>
                <a:rPr lang="en-AU" sz="1350" dirty="0">
                  <a:solidFill>
                    <a:schemeClr val="accent6"/>
                  </a:solidFill>
                  <a:latin typeface="+mn-lt"/>
                  <a:ea typeface="+mn-ea"/>
                  <a:cs typeface="+mn-cs"/>
                </a:rPr>
              </a:br>
              <a:r>
                <a:rPr lang="en-AU" sz="1350" dirty="0">
                  <a:solidFill>
                    <a:schemeClr val="accent6"/>
                  </a:solidFill>
                  <a:latin typeface="+mn-lt"/>
                  <a:ea typeface="+mn-ea"/>
                  <a:cs typeface="+mn-cs"/>
                </a:rPr>
                <a:t>answer.</a:t>
              </a:r>
            </a:p>
          </p:txBody>
        </p:sp>
      </p:grpSp>
      <p:grpSp>
        <p:nvGrpSpPr>
          <p:cNvPr id="18" name="survey-item-3"/>
          <p:cNvGrpSpPr/>
          <p:nvPr/>
        </p:nvGrpSpPr>
        <p:grpSpPr>
          <a:xfrm>
            <a:off x="6430518" y="2378075"/>
            <a:ext cx="4560585" cy="1365758"/>
            <a:chOff x="6430518" y="2378075"/>
            <a:chExt cx="4560585" cy="1365758"/>
          </a:xfrm>
        </p:grpSpPr>
        <p:sp>
          <p:nvSpPr>
            <p:cNvPr id="15" name="TextBox 15"/>
            <p:cNvSpPr txBox="1"/>
            <p:nvPr/>
          </p:nvSpPr>
          <p:spPr>
            <a:xfrm>
              <a:off x="6430518" y="2378075"/>
              <a:ext cx="1331801" cy="322707"/>
            </a:xfrm>
            <a:prstGeom prst="rect">
              <a:avLst/>
            </a:prstGeom>
            <a:noFill/>
            <a:ln>
              <a:noFill/>
            </a:ln>
          </p:spPr>
          <p:txBody>
            <a:bodyPr wrap="none" lIns="0" tIns="0" rIns="0" bIns="0" anchor="t" anchorCtr="0">
              <a:spAutoFit/>
            </a:bodyPr>
            <a:lstStyle/>
            <a:p>
              <a:pPr algn="l"/>
              <a:r>
                <a:rPr lang="en-AU" sz="1650" b="1" dirty="0">
                  <a:solidFill>
                    <a:schemeClr val="accent2"/>
                  </a:solidFill>
                  <a:latin typeface="+mn-lt"/>
                  <a:ea typeface="+mn-ea"/>
                  <a:cs typeface="+mn-cs"/>
                </a:rPr>
                <a:t>3. Suitability</a:t>
              </a:r>
            </a:p>
          </p:txBody>
        </p:sp>
        <p:sp>
          <p:nvSpPr>
            <p:cNvPr id="16" name="TextBox 16"/>
            <p:cNvSpPr txBox="1"/>
            <p:nvPr/>
          </p:nvSpPr>
          <p:spPr>
            <a:xfrm>
              <a:off x="6431280" y="2705100"/>
              <a:ext cx="4377538" cy="541020"/>
            </a:xfrm>
            <a:prstGeom prst="rect">
              <a:avLst/>
            </a:prstGeom>
            <a:noFill/>
            <a:ln>
              <a:noFill/>
            </a:ln>
          </p:spPr>
          <p:txBody>
            <a:bodyPr wrap="none" lIns="0" tIns="0" rIns="0" bIns="0" anchor="t" anchorCtr="0">
              <a:spAutoFit/>
            </a:bodyPr>
            <a:lstStyle/>
            <a:p>
              <a:pPr algn="l">
                <a:lnSpc>
                  <a:spcPts val="1950"/>
                </a:lnSpc>
              </a:pPr>
              <a:r>
                <a:rPr lang="en-AU" sz="1500" dirty="0">
                  <a:solidFill>
                    <a:schemeClr val="dk1"/>
                  </a:solidFill>
                  <a:latin typeface="+mn-lt"/>
                  <a:ea typeface="+mn-ea"/>
                  <a:cs typeface="+mn-cs"/>
                </a:rPr>
                <a:t>How suitable were the items received for this child’s</a:t>
              </a:r>
              <a:br>
                <a:rPr lang="en-AU" sz="1500" dirty="0">
                  <a:solidFill>
                    <a:schemeClr val="dk1"/>
                  </a:solidFill>
                  <a:latin typeface="+mn-lt"/>
                  <a:ea typeface="+mn-ea"/>
                  <a:cs typeface="+mn-cs"/>
                </a:rPr>
              </a:br>
              <a:r>
                <a:rPr lang="en-AU" sz="1500" dirty="0">
                  <a:solidFill>
                    <a:schemeClr val="dk1"/>
                  </a:solidFill>
                  <a:latin typeface="+mn-lt"/>
                  <a:ea typeface="+mn-ea"/>
                  <a:cs typeface="+mn-cs"/>
                </a:rPr>
                <a:t>play needs?</a:t>
              </a:r>
            </a:p>
          </p:txBody>
        </p:sp>
        <p:sp>
          <p:nvSpPr>
            <p:cNvPr id="17" name="TextBox 17"/>
            <p:cNvSpPr txBox="1"/>
            <p:nvPr/>
          </p:nvSpPr>
          <p:spPr>
            <a:xfrm>
              <a:off x="6432042" y="3251200"/>
              <a:ext cx="4559061" cy="492633"/>
            </a:xfrm>
            <a:prstGeom prst="rect">
              <a:avLst/>
            </a:prstGeom>
            <a:noFill/>
            <a:ln>
              <a:noFill/>
            </a:ln>
          </p:spPr>
          <p:txBody>
            <a:bodyPr wrap="none" lIns="0" tIns="0" rIns="0" bIns="0" anchor="t" anchorCtr="0">
              <a:spAutoFit/>
            </a:bodyPr>
            <a:lstStyle/>
            <a:p>
              <a:pPr algn="l">
                <a:lnSpc>
                  <a:spcPts val="1800"/>
                </a:lnSpc>
              </a:pPr>
              <a:r>
                <a:rPr lang="en-AU" sz="1350" dirty="0">
                  <a:solidFill>
                    <a:schemeClr val="accent6"/>
                  </a:solidFill>
                  <a:latin typeface="+mn-lt"/>
                  <a:ea typeface="+mn-ea"/>
                  <a:cs typeface="+mn-cs"/>
                </a:rPr>
                <a:t>Not at all; slightly; moderately; very; extremely; not sure; not</a:t>
              </a:r>
              <a:br>
                <a:rPr lang="en-AU" sz="1350" dirty="0">
                  <a:solidFill>
                    <a:schemeClr val="accent6"/>
                  </a:solidFill>
                  <a:latin typeface="+mn-lt"/>
                  <a:ea typeface="+mn-ea"/>
                  <a:cs typeface="+mn-cs"/>
                </a:rPr>
              </a:br>
              <a:r>
                <a:rPr lang="en-AU" sz="1350" dirty="0">
                  <a:solidFill>
                    <a:schemeClr val="accent6"/>
                  </a:solidFill>
                  <a:latin typeface="+mn-lt"/>
                  <a:ea typeface="+mn-ea"/>
                  <a:cs typeface="+mn-cs"/>
                </a:rPr>
                <a:t>used yet.</a:t>
              </a:r>
            </a:p>
          </p:txBody>
        </p:sp>
      </p:grpSp>
      <p:grpSp>
        <p:nvGrpSpPr>
          <p:cNvPr id="22" name="survey-item-4"/>
          <p:cNvGrpSpPr/>
          <p:nvPr/>
        </p:nvGrpSpPr>
        <p:grpSpPr>
          <a:xfrm>
            <a:off x="6430518" y="3806825"/>
            <a:ext cx="4209440" cy="1149858"/>
            <a:chOff x="6430518" y="3806825"/>
            <a:chExt cx="4209440" cy="1149858"/>
          </a:xfrm>
        </p:grpSpPr>
        <p:sp>
          <p:nvSpPr>
            <p:cNvPr id="19" name="TextBox 19"/>
            <p:cNvSpPr txBox="1"/>
            <p:nvPr/>
          </p:nvSpPr>
          <p:spPr>
            <a:xfrm>
              <a:off x="6430518" y="3806825"/>
              <a:ext cx="1457887" cy="322707"/>
            </a:xfrm>
            <a:prstGeom prst="rect">
              <a:avLst/>
            </a:prstGeom>
            <a:noFill/>
            <a:ln>
              <a:noFill/>
            </a:ln>
          </p:spPr>
          <p:txBody>
            <a:bodyPr wrap="none" lIns="0" tIns="0" rIns="0" bIns="0" anchor="t" anchorCtr="0">
              <a:spAutoFit/>
            </a:bodyPr>
            <a:lstStyle/>
            <a:p>
              <a:pPr algn="l"/>
              <a:r>
                <a:rPr lang="en-AU" sz="1650" b="1" dirty="0">
                  <a:solidFill>
                    <a:schemeClr val="accent2"/>
                  </a:solidFill>
                  <a:latin typeface="+mn-lt"/>
                  <a:ea typeface="+mn-ea"/>
                  <a:cs typeface="+mn-cs"/>
                </a:rPr>
                <a:t>4. Recent use</a:t>
              </a:r>
            </a:p>
          </p:txBody>
        </p:sp>
        <p:sp>
          <p:nvSpPr>
            <p:cNvPr id="20" name="TextBox 20"/>
            <p:cNvSpPr txBox="1"/>
            <p:nvPr/>
          </p:nvSpPr>
          <p:spPr>
            <a:xfrm>
              <a:off x="6431280" y="4133850"/>
              <a:ext cx="4208678" cy="541020"/>
            </a:xfrm>
            <a:prstGeom prst="rect">
              <a:avLst/>
            </a:prstGeom>
            <a:noFill/>
            <a:ln>
              <a:noFill/>
            </a:ln>
          </p:spPr>
          <p:txBody>
            <a:bodyPr wrap="none" lIns="0" tIns="0" rIns="0" bIns="0" anchor="t" anchorCtr="0">
              <a:spAutoFit/>
            </a:bodyPr>
            <a:lstStyle/>
            <a:p>
              <a:pPr algn="l">
                <a:lnSpc>
                  <a:spcPts val="1950"/>
                </a:lnSpc>
              </a:pPr>
              <a:r>
                <a:rPr lang="en-AU" sz="1500" dirty="0">
                  <a:solidFill>
                    <a:schemeClr val="dk1"/>
                  </a:solidFill>
                  <a:latin typeface="+mn-lt"/>
                  <a:ea typeface="+mn-ea"/>
                  <a:cs typeface="+mn-cs"/>
                </a:rPr>
                <a:t>In the last seven days, on how many days did this</a:t>
              </a:r>
              <a:br>
                <a:rPr lang="en-AU" sz="1500" dirty="0">
                  <a:solidFill>
                    <a:schemeClr val="dk1"/>
                  </a:solidFill>
                  <a:latin typeface="+mn-lt"/>
                  <a:ea typeface="+mn-ea"/>
                  <a:cs typeface="+mn-cs"/>
                </a:rPr>
              </a:br>
              <a:r>
                <a:rPr lang="en-AU" sz="1500" dirty="0">
                  <a:solidFill>
                    <a:schemeClr val="dk1"/>
                  </a:solidFill>
                  <a:latin typeface="+mn-lt"/>
                  <a:ea typeface="+mn-ea"/>
                  <a:cs typeface="+mn-cs"/>
                </a:rPr>
                <a:t>child use an item from that visit?</a:t>
              </a:r>
            </a:p>
          </p:txBody>
        </p:sp>
        <p:sp>
          <p:nvSpPr>
            <p:cNvPr id="21" name="TextBox 21"/>
            <p:cNvSpPr txBox="1"/>
            <p:nvPr/>
          </p:nvSpPr>
          <p:spPr>
            <a:xfrm>
              <a:off x="6432042" y="4692650"/>
              <a:ext cx="2373521" cy="264033"/>
            </a:xfrm>
            <a:prstGeom prst="rect">
              <a:avLst/>
            </a:prstGeom>
            <a:noFill/>
            <a:ln>
              <a:noFill/>
            </a:ln>
          </p:spPr>
          <p:txBody>
            <a:bodyPr wrap="none" lIns="0" tIns="0" rIns="0" bIns="0" anchor="t" anchorCtr="0">
              <a:spAutoFit/>
            </a:bodyPr>
            <a:lstStyle/>
            <a:p>
              <a:pPr algn="l"/>
              <a:r>
                <a:rPr lang="en-AU" sz="1350" dirty="0">
                  <a:solidFill>
                    <a:schemeClr val="accent6"/>
                  </a:solidFill>
                  <a:latin typeface="+mn-lt"/>
                  <a:ea typeface="+mn-ea"/>
                  <a:cs typeface="+mn-cs"/>
                </a:rPr>
                <a:t>Zero to seven days; not sure.</a:t>
              </a:r>
            </a:p>
          </p:txBody>
        </p:sp>
      </p:grpSp>
      <p:grpSp>
        <p:nvGrpSpPr>
          <p:cNvPr id="25" name="survey-item-5"/>
          <p:cNvGrpSpPr/>
          <p:nvPr/>
        </p:nvGrpSpPr>
        <p:grpSpPr>
          <a:xfrm>
            <a:off x="6430518" y="5064125"/>
            <a:ext cx="4156443" cy="868045"/>
            <a:chOff x="6430518" y="5064125"/>
            <a:chExt cx="4156443" cy="868045"/>
          </a:xfrm>
        </p:grpSpPr>
        <p:sp>
          <p:nvSpPr>
            <p:cNvPr id="23" name="TextBox 23"/>
            <p:cNvSpPr txBox="1"/>
            <p:nvPr/>
          </p:nvSpPr>
          <p:spPr>
            <a:xfrm>
              <a:off x="6430518" y="5064125"/>
              <a:ext cx="2603518" cy="322707"/>
            </a:xfrm>
            <a:prstGeom prst="rect">
              <a:avLst/>
            </a:prstGeom>
            <a:noFill/>
            <a:ln>
              <a:noFill/>
            </a:ln>
          </p:spPr>
          <p:txBody>
            <a:bodyPr wrap="none" lIns="0" tIns="0" rIns="0" bIns="0" anchor="t" anchorCtr="0">
              <a:spAutoFit/>
            </a:bodyPr>
            <a:lstStyle/>
            <a:p>
              <a:pPr algn="l"/>
              <a:r>
                <a:rPr lang="en-AU" sz="1650" b="1" dirty="0">
                  <a:solidFill>
                    <a:schemeClr val="accent2"/>
                  </a:solidFill>
                  <a:latin typeface="+mn-lt"/>
                  <a:ea typeface="+mn-ea"/>
                  <a:cs typeface="+mn-cs"/>
                </a:rPr>
                <a:t>5. Explanation (optional)</a:t>
              </a:r>
            </a:p>
          </p:txBody>
        </p:sp>
        <p:sp>
          <p:nvSpPr>
            <p:cNvPr id="24" name="TextBox 24"/>
            <p:cNvSpPr txBox="1"/>
            <p:nvPr/>
          </p:nvSpPr>
          <p:spPr>
            <a:xfrm>
              <a:off x="6431280" y="5391150"/>
              <a:ext cx="4155681" cy="541020"/>
            </a:xfrm>
            <a:prstGeom prst="rect">
              <a:avLst/>
            </a:prstGeom>
            <a:noFill/>
            <a:ln>
              <a:noFill/>
            </a:ln>
          </p:spPr>
          <p:txBody>
            <a:bodyPr wrap="none" lIns="0" tIns="0" rIns="0" bIns="0" anchor="t" anchorCtr="0">
              <a:spAutoFit/>
            </a:bodyPr>
            <a:lstStyle/>
            <a:p>
              <a:pPr algn="l">
                <a:lnSpc>
                  <a:spcPts val="1950"/>
                </a:lnSpc>
              </a:pPr>
              <a:r>
                <a:rPr lang="en-AU" sz="1500" dirty="0">
                  <a:solidFill>
                    <a:schemeClr val="dk1"/>
                  </a:solidFill>
                  <a:latin typeface="+mn-lt"/>
                  <a:ea typeface="+mn-ea"/>
                  <a:cs typeface="+mn-cs"/>
                </a:rPr>
                <a:t>What, if anything, changed in this child’s access?</a:t>
              </a:r>
              <a:br>
                <a:rPr lang="en-AU" sz="1500" dirty="0">
                  <a:solidFill>
                    <a:schemeClr val="dk1"/>
                  </a:solidFill>
                  <a:latin typeface="+mn-lt"/>
                  <a:ea typeface="+mn-ea"/>
                  <a:cs typeface="+mn-cs"/>
                </a:rPr>
              </a:br>
              <a:r>
                <a:rPr lang="en-AU" sz="1500" dirty="0">
                  <a:solidFill>
                    <a:schemeClr val="dk1"/>
                  </a:solidFill>
                  <a:latin typeface="+mn-lt"/>
                  <a:ea typeface="+mn-ea"/>
                  <a:cs typeface="+mn-cs"/>
                </a:rPr>
                <a:t>What helped or made access difficult?</a:t>
              </a:r>
            </a:p>
          </p:txBody>
        </p:sp>
      </p:grpSp>
      <p:grpSp>
        <p:nvGrpSpPr>
          <p:cNvPr id="27" name="source-note"/>
          <p:cNvGrpSpPr/>
          <p:nvPr/>
        </p:nvGrpSpPr>
        <p:grpSpPr>
          <a:xfrm>
            <a:off x="679704" y="5962650"/>
            <a:ext cx="8160748" cy="234696"/>
            <a:chOff x="679704" y="5962650"/>
            <a:chExt cx="8160748" cy="234696"/>
          </a:xfrm>
        </p:grpSpPr>
        <p:sp>
          <p:nvSpPr>
            <p:cNvPr id="26" name="TextBox 26"/>
            <p:cNvSpPr txBox="1"/>
            <p:nvPr/>
          </p:nvSpPr>
          <p:spPr>
            <a:xfrm>
              <a:off x="679704" y="5962650"/>
              <a:ext cx="8160748"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Author-drafted items; not validated. Pilot wording, periods and options. Design guidance: ONS n.d.; GDS n.d.a–b.</a:t>
              </a:r>
            </a:p>
          </p:txBody>
        </p:sp>
      </p:grpSp>
      <p:sp>
        <p:nvSpPr>
          <p:cNvPr id="28" name="Line 28"/>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29"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30"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11</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title"/>
          <p:cNvGrpSpPr/>
          <p:nvPr/>
        </p:nvGrpSpPr>
        <p:grpSpPr>
          <a:xfrm>
            <a:off x="669036" y="527050"/>
            <a:ext cx="9071888" cy="645414"/>
            <a:chOff x="669036" y="527050"/>
            <a:chExt cx="9071888" cy="645414"/>
          </a:xfrm>
        </p:grpSpPr>
        <p:sp>
          <p:nvSpPr>
            <p:cNvPr id="2" name="TextBox 2"/>
            <p:cNvSpPr txBox="1"/>
            <p:nvPr/>
          </p:nvSpPr>
          <p:spPr>
            <a:xfrm>
              <a:off x="669036" y="527050"/>
              <a:ext cx="9071888" cy="645414"/>
            </a:xfrm>
            <a:prstGeom prst="rect">
              <a:avLst/>
            </a:prstGeom>
            <a:noFill/>
            <a:ln>
              <a:noFill/>
            </a:ln>
          </p:spPr>
          <p:txBody>
            <a:bodyPr wrap="none" lIns="0" tIns="0" rIns="0" bIns="0" anchor="t" anchorCtr="0">
              <a:spAutoFit/>
            </a:bodyPr>
            <a:lstStyle/>
            <a:p>
              <a:pPr algn="l"/>
              <a:r>
                <a:rPr lang="en-AU" sz="3300" b="1" dirty="0">
                  <a:solidFill>
                    <a:schemeClr val="accent1"/>
                  </a:solidFill>
                  <a:latin typeface="+mn-lt"/>
                  <a:ea typeface="+mn-ea"/>
                  <a:cs typeface="+mn-cs"/>
                </a:rPr>
                <a:t>Appendix B | indicator and reporting guide</a:t>
              </a:r>
            </a:p>
          </p:txBody>
        </p:sp>
      </p:grpSp>
      <p:sp>
        <p:nvSpPr>
          <p:cNvPr id="4" name="Line 4"/>
          <p:cNvSpPr/>
          <p:nvPr/>
        </p:nvSpPr>
        <p:spPr>
          <a:xfrm>
            <a:off x="685800" y="1314450"/>
            <a:ext cx="666750" cy="9525"/>
          </a:xfrm>
          <a:custGeom>
            <a:avLst/>
            <a:gdLst/>
            <a:ahLst/>
            <a:cxnLst/>
            <a:rect l="l" t="t" r="r" b="b"/>
            <a:pathLst>
              <a:path w="666750" h="9525">
                <a:moveTo>
                  <a:pt x="0" y="0"/>
                </a:moveTo>
                <a:lnTo>
                  <a:pt x="666750" y="0"/>
                </a:lnTo>
              </a:path>
            </a:pathLst>
          </a:custGeom>
          <a:noFill/>
          <a:ln w="38100">
            <a:solidFill>
              <a:schemeClr val="accent2"/>
            </a:solidFill>
          </a:ln>
        </p:spPr>
      </p:sp>
      <p:grpSp>
        <p:nvGrpSpPr>
          <p:cNvPr id="6" name="reporting-intro"/>
          <p:cNvGrpSpPr/>
          <p:nvPr/>
        </p:nvGrpSpPr>
        <p:grpSpPr>
          <a:xfrm>
            <a:off x="676656" y="1638300"/>
            <a:ext cx="10451666" cy="352044"/>
            <a:chOff x="676656" y="1638300"/>
            <a:chExt cx="10451666" cy="352044"/>
          </a:xfrm>
        </p:grpSpPr>
        <p:sp>
          <p:nvSpPr>
            <p:cNvPr id="5" name="TextBox 5"/>
            <p:cNvSpPr txBox="1"/>
            <p:nvPr/>
          </p:nvSpPr>
          <p:spPr>
            <a:xfrm>
              <a:off x="676656" y="1638300"/>
              <a:ext cx="10451666" cy="352044"/>
            </a:xfrm>
            <a:prstGeom prst="rect">
              <a:avLst/>
            </a:prstGeom>
            <a:noFill/>
            <a:ln>
              <a:noFill/>
            </a:ln>
          </p:spPr>
          <p:txBody>
            <a:bodyPr wrap="none" lIns="0" tIns="0" rIns="0" bIns="0" anchor="t" anchorCtr="0">
              <a:spAutoFit/>
            </a:bodyPr>
            <a:lstStyle/>
            <a:p>
              <a:pPr algn="l"/>
              <a:r>
                <a:rPr lang="en-AU" sz="1800" b="1" dirty="0">
                  <a:solidFill>
                    <a:schemeClr val="accent2"/>
                  </a:solidFill>
                  <a:latin typeface="+mn-lt"/>
                  <a:ea typeface="+mn-ea"/>
                  <a:cs typeface="+mn-cs"/>
                </a:rPr>
                <a:t>Item-specific denominators. Keep unknown and skipped answers separate. No total score.</a:t>
              </a:r>
            </a:p>
          </p:txBody>
        </p:sp>
      </p:grpSp>
      <p:graphicFrame>
        <p:nvGraphicFramePr>
          <p:cNvPr id="7" name="indicator-guide"/>
          <p:cNvGraphicFramePr>
            <a:graphicFrameLocks noGrp="1"/>
          </p:cNvGraphicFramePr>
          <p:nvPr/>
        </p:nvGraphicFramePr>
        <p:xfrm>
          <a:off x="685800" y="2238375"/>
          <a:ext cx="10820400" cy="3476625"/>
        </p:xfrm>
        <a:graphic>
          <a:graphicData uri="http://schemas.openxmlformats.org/drawingml/2006/table">
            <a:tbl>
              <a:tblPr firstRow="1" bandRow="0">
                <a:tableStyleId>{5C22544A-7EE6-4342-B048-85BDC9FD1C3A}</a:tableStyleId>
              </a:tblPr>
              <a:tblGrid>
                <a:gridCol w="2190750"/>
                <a:gridCol w="4381500"/>
                <a:gridCol w="4248150"/>
              </a:tblGrid>
              <a:tr h="476250">
                <a:tc>
                  <a:txBody>
                    <a:bodyPr/>
                    <a:lstStyle/>
                    <a:p>
                      <a:pPr/>
                      <a:r>
                        <a:rPr lang="en-AU" sz="1650" b="1">
                          <a:solidFill>
                            <a:schemeClr val="accent1"/>
                          </a:solidFill>
                          <a:latin typeface="Arial"/>
                          <a:ea typeface="Microsoft YaHei"/>
                          <a:cs typeface="Arial"/>
                        </a:rPr>
                        <a:t>Item</a:t>
                      </a:r>
                    </a:p>
                  </a:txBody>
                  <a:tcPr anchor="ctr" marL="133350" marR="133350" marT="76200" marB="76200">
                    <a:lnB w="9525">
                      <a:solidFill>
                        <a:srgbClr val="D6E0E7"/>
                      </a:solidFill>
                      <a:prstDash val="solid"/>
                    </a:lnB>
                    <a:solidFill>
                      <a:schemeClr val="accent5"/>
                    </a:solidFill>
                  </a:tcPr>
                </a:tc>
                <a:tc>
                  <a:txBody>
                    <a:bodyPr/>
                    <a:lstStyle/>
                    <a:p>
                      <a:pPr/>
                      <a:r>
                        <a:rPr lang="en-AU" sz="1650" b="1">
                          <a:solidFill>
                            <a:schemeClr val="accent1"/>
                          </a:solidFill>
                          <a:latin typeface="Arial"/>
                          <a:ea typeface="Microsoft YaHei"/>
                          <a:cs typeface="Arial"/>
                        </a:rPr>
                        <a:t>Summary rule</a:t>
                      </a:r>
                    </a:p>
                  </a:txBody>
                  <a:tcPr anchor="ctr" marL="133350" marR="133350" marT="76200" marB="76200">
                    <a:lnB w="9525">
                      <a:solidFill>
                        <a:srgbClr val="D6E0E7"/>
                      </a:solidFill>
                      <a:prstDash val="solid"/>
                    </a:lnB>
                    <a:solidFill>
                      <a:schemeClr val="accent5"/>
                    </a:solidFill>
                  </a:tcPr>
                </a:tc>
                <a:tc>
                  <a:txBody>
                    <a:bodyPr/>
                    <a:lstStyle/>
                    <a:p>
                      <a:pPr/>
                      <a:r>
                        <a:rPr lang="en-AU" sz="1650" b="1">
                          <a:solidFill>
                            <a:schemeClr val="accent1"/>
                          </a:solidFill>
                          <a:latin typeface="Arial"/>
                          <a:ea typeface="Microsoft YaHei"/>
                          <a:cs typeface="Arial"/>
                        </a:rPr>
                        <a:t>Interpretation boundary</a:t>
                      </a:r>
                    </a:p>
                  </a:txBody>
                  <a:tcPr anchor="ctr" marL="133350" marR="133350" marT="76200" marB="76200">
                    <a:lnB w="9525">
                      <a:solidFill>
                        <a:srgbClr val="D6E0E7"/>
                      </a:solidFill>
                      <a:prstDash val="solid"/>
                    </a:lnB>
                    <a:solidFill>
                      <a:schemeClr val="accent5"/>
                    </a:solidFill>
                  </a:tcPr>
                </a:tc>
              </a:tr>
              <a:tr h="600075">
                <a:tc>
                  <a:txBody>
                    <a:bodyPr/>
                    <a:lstStyle/>
                    <a:p>
                      <a:pPr/>
                      <a:r>
                        <a:rPr lang="en-AU" sz="1650" b="1">
                          <a:solidFill>
                            <a:schemeClr val="dk1"/>
                          </a:solidFill>
                          <a:latin typeface="Arial"/>
                          <a:ea typeface="Microsoft YaHei"/>
                          <a:cs typeface="Arial"/>
                        </a:rPr>
                        <a:t>Access change</a:t>
                      </a:r>
                    </a:p>
                  </a:txBody>
                  <a:tcPr anchor="ctr" marL="133350" marR="133350" marT="76200" marB="76200">
                    <a:lnB w="9525">
                      <a:solidFill>
                        <a:srgbClr val="D6E0E7"/>
                      </a:solidFill>
                      <a:prstDash val="solid"/>
                    </a:lnB>
                    <a:solidFill>
                      <a:schemeClr val="lt1"/>
                    </a:solidFill>
                  </a:tcPr>
                </a:tc>
                <a:tc>
                  <a:txBody>
                    <a:bodyPr/>
                    <a:lstStyle/>
                    <a:p>
                      <a:pPr/>
                      <a:r>
                        <a:rPr lang="en-AU" sz="1650" b="0">
                          <a:solidFill>
                            <a:schemeClr val="dk1"/>
                          </a:solidFill>
                          <a:latin typeface="Arial"/>
                          <a:ea typeface="Microsoft YaHei"/>
                          <a:cs typeface="Arial"/>
                        </a:rPr>
                        <a:t>Report each response category and valid item count.</a:t>
                      </a:r>
                    </a:p>
                  </a:txBody>
                  <a:tcPr anchor="ctr" marL="133350" marR="133350" marT="76200" marB="76200">
                    <a:lnB w="9525">
                      <a:solidFill>
                        <a:srgbClr val="D6E0E7"/>
                      </a:solidFill>
                      <a:prstDash val="solid"/>
                    </a:lnB>
                    <a:solidFill>
                      <a:schemeClr val="lt1"/>
                    </a:solidFill>
                  </a:tcPr>
                </a:tc>
                <a:tc>
                  <a:txBody>
                    <a:bodyPr/>
                    <a:lstStyle/>
                    <a:p>
                      <a:pPr/>
                      <a:r>
                        <a:rPr lang="en-AU" sz="1650" b="0">
                          <a:solidFill>
                            <a:schemeClr val="dk1"/>
                          </a:solidFill>
                          <a:latin typeface="Arial"/>
                          <a:ea typeface="Microsoft YaHei"/>
                          <a:cs typeface="Arial"/>
                        </a:rPr>
                        <a:t>Recalled change, not programme effect.</a:t>
                      </a:r>
                    </a:p>
                  </a:txBody>
                  <a:tcPr anchor="ctr" marL="133350" marR="133350" marT="76200" marB="76200">
                    <a:lnB w="9525">
                      <a:solidFill>
                        <a:srgbClr val="D6E0E7"/>
                      </a:solidFill>
                      <a:prstDash val="solid"/>
                    </a:lnB>
                    <a:solidFill>
                      <a:schemeClr val="lt1"/>
                    </a:solidFill>
                  </a:tcPr>
                </a:tc>
              </a:tr>
              <a:tr h="600075">
                <a:tc>
                  <a:txBody>
                    <a:bodyPr/>
                    <a:lstStyle/>
                    <a:p>
                      <a:pPr/>
                      <a:r>
                        <a:rPr lang="en-AU" sz="1650" b="1">
                          <a:solidFill>
                            <a:schemeClr val="dk1"/>
                          </a:solidFill>
                          <a:latin typeface="Arial"/>
                          <a:ea typeface="Microsoft YaHei"/>
                          <a:cs typeface="Arial"/>
                        </a:rPr>
                        <a:t>Cost barrier</a:t>
                      </a:r>
                    </a:p>
                  </a:txBody>
                  <a:tcPr anchor="ctr" marL="133350" marR="133350" marT="76200" marB="76200">
                    <a:lnB w="9525">
                      <a:solidFill>
                        <a:srgbClr val="D6E0E7"/>
                      </a:solidFill>
                      <a:prstDash val="solid"/>
                    </a:lnB>
                    <a:solidFill>
                      <a:schemeClr val="lt1"/>
                    </a:solidFill>
                  </a:tcPr>
                </a:tc>
                <a:tc>
                  <a:txBody>
                    <a:bodyPr/>
                    <a:lstStyle/>
                    <a:p>
                      <a:pPr/>
                      <a:r>
                        <a:rPr lang="en-AU" sz="1650" b="0">
                          <a:solidFill>
                            <a:schemeClr val="dk1"/>
                          </a:solidFill>
                          <a:latin typeface="Arial"/>
                          <a:ea typeface="Microsoft YaHei"/>
                          <a:cs typeface="Arial"/>
                        </a:rPr>
                        <a:t>Report frequency categories for the stated period.</a:t>
                      </a:r>
                    </a:p>
                  </a:txBody>
                  <a:tcPr anchor="ctr" marL="133350" marR="133350" marT="76200" marB="76200">
                    <a:lnB w="9525">
                      <a:solidFill>
                        <a:srgbClr val="D6E0E7"/>
                      </a:solidFill>
                      <a:prstDash val="solid"/>
                    </a:lnB>
                    <a:solidFill>
                      <a:schemeClr val="lt1"/>
                    </a:solidFill>
                  </a:tcPr>
                </a:tc>
                <a:tc>
                  <a:txBody>
                    <a:bodyPr/>
                    <a:lstStyle/>
                    <a:p>
                      <a:pPr/>
                      <a:r>
                        <a:rPr lang="en-AU" sz="1650" b="0">
                          <a:solidFill>
                            <a:schemeClr val="dk1"/>
                          </a:solidFill>
                          <a:latin typeface="Arial"/>
                          <a:ea typeface="Microsoft YaHei"/>
                          <a:cs typeface="Arial"/>
                        </a:rPr>
                        <a:t>Current barrier, not evidence of cost reduction.</a:t>
                      </a:r>
                    </a:p>
                  </a:txBody>
                  <a:tcPr anchor="ctr" marL="133350" marR="133350" marT="76200" marB="76200">
                    <a:lnB w="9525">
                      <a:solidFill>
                        <a:srgbClr val="D6E0E7"/>
                      </a:solidFill>
                      <a:prstDash val="solid"/>
                    </a:lnB>
                    <a:solidFill>
                      <a:schemeClr val="lt1"/>
                    </a:solidFill>
                  </a:tcPr>
                </a:tc>
              </a:tr>
              <a:tr h="600075">
                <a:tc>
                  <a:txBody>
                    <a:bodyPr/>
                    <a:lstStyle/>
                    <a:p>
                      <a:pPr/>
                      <a:r>
                        <a:rPr lang="en-AU" sz="1650" b="1">
                          <a:solidFill>
                            <a:schemeClr val="dk1"/>
                          </a:solidFill>
                          <a:latin typeface="Arial"/>
                          <a:ea typeface="Microsoft YaHei"/>
                          <a:cs typeface="Arial"/>
                        </a:rPr>
                        <a:t>Suitability</a:t>
                      </a:r>
                    </a:p>
                  </a:txBody>
                  <a:tcPr anchor="ctr" marL="133350" marR="133350" marT="76200" marB="76200">
                    <a:lnB w="9525">
                      <a:solidFill>
                        <a:srgbClr val="D6E0E7"/>
                      </a:solidFill>
                      <a:prstDash val="solid"/>
                    </a:lnB>
                    <a:solidFill>
                      <a:schemeClr val="lt1"/>
                    </a:solidFill>
                  </a:tcPr>
                </a:tc>
                <a:tc>
                  <a:txBody>
                    <a:bodyPr/>
                    <a:lstStyle/>
                    <a:p>
                      <a:pPr/>
                      <a:r>
                        <a:rPr lang="en-AU" sz="1650" b="0">
                          <a:solidFill>
                            <a:schemeClr val="dk1"/>
                          </a:solidFill>
                          <a:latin typeface="Arial"/>
                          <a:ea typeface="Microsoft YaHei"/>
                          <a:cs typeface="Arial"/>
                        </a:rPr>
                        <a:t>Report the distribution of fit ratings.</a:t>
                      </a:r>
                    </a:p>
                  </a:txBody>
                  <a:tcPr anchor="ctr" marL="133350" marR="133350" marT="76200" marB="76200">
                    <a:lnB w="9525">
                      <a:solidFill>
                        <a:srgbClr val="D6E0E7"/>
                      </a:solidFill>
                      <a:prstDash val="solid"/>
                    </a:lnB>
                    <a:solidFill>
                      <a:schemeClr val="lt1"/>
                    </a:solidFill>
                  </a:tcPr>
                </a:tc>
                <a:tc>
                  <a:txBody>
                    <a:bodyPr/>
                    <a:lstStyle/>
                    <a:p>
                      <a:pPr/>
                      <a:r>
                        <a:rPr lang="en-AU" sz="1650" b="0">
                          <a:solidFill>
                            <a:schemeClr val="dk1"/>
                          </a:solidFill>
                          <a:latin typeface="Arial"/>
                          <a:ea typeface="Microsoft YaHei"/>
                          <a:cs typeface="Arial"/>
                        </a:rPr>
                        <a:t>Perceived fit, not child development.</a:t>
                      </a:r>
                    </a:p>
                  </a:txBody>
                  <a:tcPr anchor="ctr" marL="133350" marR="133350" marT="76200" marB="76200">
                    <a:lnB w="9525">
                      <a:solidFill>
                        <a:srgbClr val="D6E0E7"/>
                      </a:solidFill>
                      <a:prstDash val="solid"/>
                    </a:lnB>
                    <a:solidFill>
                      <a:schemeClr val="lt1"/>
                    </a:solidFill>
                  </a:tcPr>
                </a:tc>
              </a:tr>
              <a:tr h="600075">
                <a:tc>
                  <a:txBody>
                    <a:bodyPr/>
                    <a:lstStyle/>
                    <a:p>
                      <a:pPr/>
                      <a:r>
                        <a:rPr lang="en-AU" sz="1650" b="1">
                          <a:solidFill>
                            <a:schemeClr val="dk1"/>
                          </a:solidFill>
                          <a:latin typeface="Arial"/>
                          <a:ea typeface="Microsoft YaHei"/>
                          <a:cs typeface="Arial"/>
                        </a:rPr>
                        <a:t>Recent use</a:t>
                      </a:r>
                    </a:p>
                  </a:txBody>
                  <a:tcPr anchor="ctr" marL="133350" marR="133350" marT="76200" marB="76200">
                    <a:lnB w="9525">
                      <a:solidFill>
                        <a:srgbClr val="D6E0E7"/>
                      </a:solidFill>
                      <a:prstDash val="solid"/>
                    </a:lnB>
                    <a:solidFill>
                      <a:schemeClr val="lt1"/>
                    </a:solidFill>
                  </a:tcPr>
                </a:tc>
                <a:tc>
                  <a:txBody>
                    <a:bodyPr/>
                    <a:lstStyle/>
                    <a:p>
                      <a:pPr/>
                      <a:r>
                        <a:rPr lang="en-AU" sz="1650" b="0">
                          <a:solidFill>
                            <a:schemeClr val="dk1"/>
                          </a:solidFill>
                          <a:latin typeface="Arial"/>
                          <a:ea typeface="Microsoft YaHei"/>
                          <a:cs typeface="Arial"/>
                        </a:rPr>
                        <a:t>Report zero–seven days; show unknown separately.</a:t>
                      </a:r>
                    </a:p>
                  </a:txBody>
                  <a:tcPr anchor="ctr" marL="133350" marR="133350" marT="76200" marB="76200">
                    <a:lnB w="9525">
                      <a:solidFill>
                        <a:srgbClr val="D6E0E7"/>
                      </a:solidFill>
                      <a:prstDash val="solid"/>
                    </a:lnB>
                    <a:solidFill>
                      <a:schemeClr val="lt1"/>
                    </a:solidFill>
                  </a:tcPr>
                </a:tc>
                <a:tc>
                  <a:txBody>
                    <a:bodyPr/>
                    <a:lstStyle/>
                    <a:p>
                      <a:pPr/>
                      <a:r>
                        <a:rPr lang="en-AU" sz="1650" b="0">
                          <a:solidFill>
                            <a:schemeClr val="dk1"/>
                          </a:solidFill>
                          <a:latin typeface="Arial"/>
                          <a:ea typeface="Microsoft YaHei"/>
                          <a:cs typeface="Arial"/>
                        </a:rPr>
                        <a:t>Use of received items, not access improvement.</a:t>
                      </a:r>
                    </a:p>
                  </a:txBody>
                  <a:tcPr anchor="ctr" marL="133350" marR="133350" marT="76200" marB="76200">
                    <a:lnB w="9525">
                      <a:solidFill>
                        <a:srgbClr val="D6E0E7"/>
                      </a:solidFill>
                      <a:prstDash val="solid"/>
                    </a:lnB>
                    <a:solidFill>
                      <a:schemeClr val="lt1"/>
                    </a:solidFill>
                  </a:tcPr>
                </a:tc>
              </a:tr>
              <a:tr h="600075">
                <a:tc>
                  <a:txBody>
                    <a:bodyPr/>
                    <a:lstStyle/>
                    <a:p>
                      <a:pPr/>
                      <a:r>
                        <a:rPr lang="en-AU" sz="1650" b="1">
                          <a:solidFill>
                            <a:schemeClr val="dk1"/>
                          </a:solidFill>
                          <a:latin typeface="Arial"/>
                          <a:ea typeface="Microsoft YaHei"/>
                          <a:cs typeface="Arial"/>
                        </a:rPr>
                        <a:t>Open explanation</a:t>
                      </a:r>
                    </a:p>
                  </a:txBody>
                  <a:tcPr anchor="ctr" marL="133350" marR="133350" marT="76200" marB="76200">
                    <a:lnB w="9525">
                      <a:solidFill>
                        <a:srgbClr val="D6E0E7"/>
                      </a:solidFill>
                      <a:prstDash val="solid"/>
                    </a:lnB>
                    <a:solidFill>
                      <a:schemeClr val="lt1"/>
                    </a:solidFill>
                  </a:tcPr>
                </a:tc>
                <a:tc>
                  <a:txBody>
                    <a:bodyPr/>
                    <a:lstStyle/>
                    <a:p>
                      <a:pPr/>
                      <a:r>
                        <a:rPr lang="en-AU" sz="1650" b="0">
                          <a:solidFill>
                            <a:schemeClr val="dk1"/>
                          </a:solidFill>
                          <a:latin typeface="Arial"/>
                          <a:ea typeface="Microsoft YaHei"/>
                          <a:cs typeface="Arial"/>
                        </a:rPr>
                        <a:t>Code themes; illustrate with anonymised examples.</a:t>
                      </a:r>
                    </a:p>
                  </a:txBody>
                  <a:tcPr anchor="ctr" marL="133350" marR="133350" marT="76200" marB="76200">
                    <a:lnB w="9525">
                      <a:solidFill>
                        <a:srgbClr val="D6E0E7"/>
                      </a:solidFill>
                      <a:prstDash val="solid"/>
                    </a:lnB>
                    <a:solidFill>
                      <a:schemeClr val="lt1"/>
                    </a:solidFill>
                  </a:tcPr>
                </a:tc>
                <a:tc>
                  <a:txBody>
                    <a:bodyPr/>
                    <a:lstStyle/>
                    <a:p>
                      <a:pPr/>
                      <a:r>
                        <a:rPr lang="en-AU" sz="1650" b="0">
                          <a:solidFill>
                            <a:schemeClr val="dk1"/>
                          </a:solidFill>
                          <a:latin typeface="Arial"/>
                          <a:ea typeface="Microsoft YaHei"/>
                          <a:cs typeface="Arial"/>
                        </a:rPr>
                        <a:t>Comments do not estimate population prevalence.</a:t>
                      </a:r>
                    </a:p>
                  </a:txBody>
                  <a:tcPr anchor="ctr" marL="133350" marR="133350" marT="76200" marB="76200">
                    <a:lnB w="9525">
                      <a:solidFill>
                        <a:srgbClr val="D6E0E7"/>
                      </a:solidFill>
                      <a:prstDash val="solid"/>
                    </a:lnB>
                    <a:solidFill>
                      <a:schemeClr val="lt1"/>
                    </a:solidFill>
                  </a:tcPr>
                </a:tc>
              </a:tr>
            </a:tbl>
          </a:graphicData>
        </a:graphic>
      </p:graphicFrame>
      <p:grpSp>
        <p:nvGrpSpPr>
          <p:cNvPr id="9" name="source-note"/>
          <p:cNvGrpSpPr/>
          <p:nvPr/>
        </p:nvGrpSpPr>
        <p:grpSpPr>
          <a:xfrm>
            <a:off x="679704" y="5962650"/>
            <a:ext cx="8239976" cy="234696"/>
            <a:chOff x="679704" y="5962650"/>
            <a:chExt cx="8239976" cy="234696"/>
          </a:xfrm>
        </p:grpSpPr>
        <p:sp>
          <p:nvSpPr>
            <p:cNvPr id="8" name="TextBox 8"/>
            <p:cNvSpPr txBox="1"/>
            <p:nvPr/>
          </p:nvSpPr>
          <p:spPr>
            <a:xfrm>
              <a:off x="679704" y="5962650"/>
              <a:ext cx="8239976" cy="234696"/>
            </a:xfrm>
            <a:prstGeom prst="rect">
              <a:avLst/>
            </a:prstGeom>
            <a:noFill/>
            <a:ln>
              <a:noFill/>
            </a:ln>
          </p:spPr>
          <p:txBody>
            <a:bodyPr wrap="none" lIns="0" tIns="0" rIns="0" bIns="0" anchor="t" anchorCtr="0">
              <a:spAutoFit/>
            </a:bodyPr>
            <a:lstStyle/>
            <a:p>
              <a:pPr algn="l"/>
              <a:r>
                <a:rPr lang="en-AU" sz="1200" dirty="0">
                  <a:solidFill>
                    <a:schemeClr val="accent6"/>
                  </a:solidFill>
                  <a:latin typeface="+mn-lt"/>
                  <a:ea typeface="+mn-ea"/>
                  <a:cs typeface="+mn-cs"/>
                </a:rPr>
                <a:t>Author’s proposed reporting protocol. Missing/review guidance: GDS n.d.b–c. Full source trail retained with project.</a:t>
              </a:r>
            </a:p>
          </p:txBody>
        </p:sp>
      </p:grpSp>
      <p:sp>
        <p:nvSpPr>
          <p:cNvPr id="10" name="Line 10"/>
          <p:cNvSpPr/>
          <p:nvPr/>
        </p:nvSpPr>
        <p:spPr>
          <a:xfrm>
            <a:off x="685800" y="6315075"/>
            <a:ext cx="10820400" cy="9525"/>
          </a:xfrm>
          <a:custGeom>
            <a:avLst/>
            <a:gdLst/>
            <a:ahLst/>
            <a:cxnLst/>
            <a:rect l="l" t="t" r="r" b="b"/>
            <a:pathLst>
              <a:path w="10820400" h="9525">
                <a:moveTo>
                  <a:pt x="0" y="0"/>
                </a:moveTo>
                <a:lnTo>
                  <a:pt x="10820400" y="0"/>
                </a:lnTo>
              </a:path>
            </a:pathLst>
          </a:custGeom>
          <a:noFill/>
          <a:ln w="9525">
            <a:solidFill>
              <a:srgbClr val="D6E0E7"/>
            </a:solidFill>
          </a:ln>
        </p:spPr>
      </p:sp>
      <p:sp>
        <p:nvSpPr>
          <p:cNvPr id="11" name="footer-label"/>
          <p:cNvSpPr txBox="1"/>
          <p:nvPr/>
        </p:nvSpPr>
        <p:spPr>
          <a:xfrm>
            <a:off x="679704" y="6457950"/>
            <a:ext cx="1992397" cy="234696"/>
          </a:xfrm>
          <a:prstGeom prst="rect">
            <a:avLst/>
          </a:prstGeom>
          <a:noFill/>
          <a:ln>
            <a:noFill/>
          </a:ln>
        </p:spPr>
        <p:txBody>
          <a:bodyPr wrap="none" lIns="0" tIns="0" rIns="0" bIns="0" anchor="t" anchorCtr="0">
            <a:spAutoFit/>
          </a:bodyPr>
          <a:lstStyle/>
          <a:p>
            <a:pPr algn="l"/>
            <a:r>
              <a:rPr lang="en-AU" sz="1200" dirty="0">
                <a:solidFill>
                  <a:schemeClr val="accent1"/>
                </a:solidFill>
                <a:latin typeface="+mn-lt"/>
                <a:ea typeface="+mn-ea"/>
                <a:cs typeface="+mn-cs"/>
              </a:rPr>
              <a:t>Joy of Giving | COMM5030</a:t>
            </a:r>
          </a:p>
        </p:txBody>
      </p:sp>
      <p:sp>
        <p:nvSpPr>
          <p:cNvPr id="12" name="page-number"/>
          <p:cNvSpPr txBox="1"/>
          <p:nvPr/>
        </p:nvSpPr>
        <p:spPr>
          <a:xfrm>
            <a:off x="11320402" y="6457950"/>
            <a:ext cx="191894" cy="234696"/>
          </a:xfrm>
          <a:prstGeom prst="rect">
            <a:avLst/>
          </a:prstGeom>
          <a:noFill/>
          <a:ln>
            <a:noFill/>
          </a:ln>
        </p:spPr>
        <p:txBody>
          <a:bodyPr wrap="none" lIns="0" tIns="0" rIns="0" bIns="0" anchor="t" anchorCtr="0">
            <a:spAutoFit/>
          </a:bodyPr>
          <a:lstStyle/>
          <a:p>
            <a:pPr algn="r"/>
            <a:r>
              <a:rPr lang="en-AU" sz="1200" dirty="0">
                <a:solidFill>
                  <a:schemeClr val="accent1"/>
                </a:solidFill>
                <a:latin typeface="+mn-lt"/>
                <a:ea typeface="+mn-ea"/>
                <a:cs typeface="+mn-cs"/>
              </a:rPr>
              <a:t>12</a:t>
            </a:r>
          </a:p>
        </p:txBody>
      </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comm5030_play_access">
  <a:themeElements>
    <a:clrScheme name="comm5030_play_access">
      <a:dk1>
        <a:srgbClr val="25313E"/>
      </a:dk1>
      <a:lt1>
        <a:srgbClr val="FFFFFF"/>
      </a:lt1>
      <a:dk2>
        <a:srgbClr val="1F497D"/>
      </a:dk2>
      <a:lt2>
        <a:srgbClr val="FFFFFF"/>
      </a:lt2>
      <a:accent1>
        <a:srgbClr val="16324F"/>
      </a:accent1>
      <a:accent2>
        <a:srgbClr val="2E7D86"/>
      </a:accent2>
      <a:accent3>
        <a:srgbClr val="7A98AC"/>
      </a:accent3>
      <a:accent4>
        <a:srgbClr val="16324F"/>
      </a:accent4>
      <a:accent5>
        <a:srgbClr val="EEF3F6"/>
      </a:accent5>
      <a:accent6>
        <a:srgbClr val="596A79"/>
      </a:accent6>
      <a:hlink>
        <a:srgbClr val="2E7D86"/>
      </a:hlink>
      <a:folHlink>
        <a:srgbClr val="7A98AC"/>
      </a:folHlink>
    </a:clrScheme>
    <a:fontScheme name="comm5030_play_access">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m5030_play_acces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comm5030_play_access">
  <a:themeElements>
    <a:clrScheme name="comm5030_play_access">
      <a:dk1>
        <a:srgbClr val="25313E"/>
      </a:dk1>
      <a:lt1>
        <a:srgbClr val="FFFFFF"/>
      </a:lt1>
      <a:dk2>
        <a:srgbClr val="1F497D"/>
      </a:dk2>
      <a:lt2>
        <a:srgbClr val="FFFFFF"/>
      </a:lt2>
      <a:accent1>
        <a:srgbClr val="16324F"/>
      </a:accent1>
      <a:accent2>
        <a:srgbClr val="2E7D86"/>
      </a:accent2>
      <a:accent3>
        <a:srgbClr val="7A98AC"/>
      </a:accent3>
      <a:accent4>
        <a:srgbClr val="16324F"/>
      </a:accent4>
      <a:accent5>
        <a:srgbClr val="EEF3F6"/>
      </a:accent5>
      <a:accent6>
        <a:srgbClr val="596A79"/>
      </a:accent6>
      <a:hlink>
        <a:srgbClr val="2E7D86"/>
      </a:hlink>
      <a:folHlink>
        <a:srgbClr val="7A98AC"/>
      </a:folHlink>
    </a:clrScheme>
    <a:fontScheme name="comm5030_play_access">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m5030_play_acces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en-AU</dc:language>
  <cp:lastModifiedBy/>
  <cp:revision>1</cp:revision>
  <dcterms:created xsi:type="dcterms:W3CDTF">2026-10-18T18:23:18Z</dcterms:created>
  <dcterms:modified xsi:type="dcterms:W3CDTF">2026-10-18T18:23:18Z</dcterms:modified>
  <cp:category/>
  <cp:contentStatus/>
</cp:coreProperties>
</file>