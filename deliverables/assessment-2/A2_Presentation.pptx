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en-AU"/>
    </a:defPPr>
    <a:lvl1pPr marL="0" algn="l" defTabSz="457200" rtl="0" eaLnBrk="1" latinLnBrk="0" hangingPunct="1">
      <a:defRPr sz="1800" kern="1200" lang="en-AU">
        <a:solidFill>
          <a:schemeClr val="tx1"/>
        </a:solidFill>
        <a:latin typeface="+mn-lt"/>
        <a:ea typeface="+mn-ea"/>
        <a:cs typeface="+mn-cs"/>
      </a:defRPr>
    </a:lvl1pPr>
    <a:lvl2pPr marL="457200" algn="l" defTabSz="457200" rtl="0" eaLnBrk="1" latinLnBrk="0" hangingPunct="1">
      <a:defRPr sz="1800" kern="1200" lang="en-AU">
        <a:solidFill>
          <a:schemeClr val="tx1"/>
        </a:solidFill>
        <a:latin typeface="+mn-lt"/>
        <a:ea typeface="+mn-ea"/>
        <a:cs typeface="+mn-cs"/>
      </a:defRPr>
    </a:lvl2pPr>
    <a:lvl3pPr marL="914400" algn="l" defTabSz="457200" rtl="0" eaLnBrk="1" latinLnBrk="0" hangingPunct="1">
      <a:defRPr sz="1800" kern="1200" lang="en-AU">
        <a:solidFill>
          <a:schemeClr val="tx1"/>
        </a:solidFill>
        <a:latin typeface="+mn-lt"/>
        <a:ea typeface="+mn-ea"/>
        <a:cs typeface="+mn-cs"/>
      </a:defRPr>
    </a:lvl3pPr>
    <a:lvl4pPr marL="1371600" algn="l" defTabSz="457200" rtl="0" eaLnBrk="1" latinLnBrk="0" hangingPunct="1">
      <a:defRPr sz="1800" kern="1200" lang="en-AU">
        <a:solidFill>
          <a:schemeClr val="tx1"/>
        </a:solidFill>
        <a:latin typeface="+mn-lt"/>
        <a:ea typeface="+mn-ea"/>
        <a:cs typeface="+mn-cs"/>
      </a:defRPr>
    </a:lvl4pPr>
    <a:lvl5pPr marL="1828800" algn="l" defTabSz="457200" rtl="0" eaLnBrk="1" latinLnBrk="0" hangingPunct="1">
      <a:defRPr sz="1800" kern="1200" lang="en-AU">
        <a:solidFill>
          <a:schemeClr val="tx1"/>
        </a:solidFill>
        <a:latin typeface="+mn-lt"/>
        <a:ea typeface="+mn-ea"/>
        <a:cs typeface="+mn-cs"/>
      </a:defRPr>
    </a:lvl5pPr>
    <a:lvl6pPr marL="2286000" algn="l" defTabSz="457200" rtl="0" eaLnBrk="1" latinLnBrk="0" hangingPunct="1">
      <a:defRPr sz="1800" kern="1200" lang="en-AU">
        <a:solidFill>
          <a:schemeClr val="tx1"/>
        </a:solidFill>
        <a:latin typeface="+mn-lt"/>
        <a:ea typeface="+mn-ea"/>
        <a:cs typeface="+mn-cs"/>
      </a:defRPr>
    </a:lvl6pPr>
    <a:lvl7pPr marL="2743200" algn="l" defTabSz="457200" rtl="0" eaLnBrk="1" latinLnBrk="0" hangingPunct="1">
      <a:defRPr sz="1800" kern="1200" lang="en-AU">
        <a:solidFill>
          <a:schemeClr val="tx1"/>
        </a:solidFill>
        <a:latin typeface="+mn-lt"/>
        <a:ea typeface="+mn-ea"/>
        <a:cs typeface="+mn-cs"/>
      </a:defRPr>
    </a:lvl7pPr>
    <a:lvl8pPr marL="3200400" algn="l" defTabSz="457200" rtl="0" eaLnBrk="1" latinLnBrk="0" hangingPunct="1">
      <a:defRPr sz="1800" kern="1200" lang="en-AU">
        <a:solidFill>
          <a:schemeClr val="tx1"/>
        </a:solidFill>
        <a:latin typeface="+mn-lt"/>
        <a:ea typeface="+mn-ea"/>
        <a:cs typeface="+mn-cs"/>
      </a:defRPr>
    </a:lvl8pPr>
    <a:lvl9pPr marL="3657600" algn="l" defTabSz="457200" rtl="0" eaLnBrk="1" latinLnBrk="0" hangingPunct="1">
      <a:defRPr sz="1800" kern="1200" lang="en-AU">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A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AU"/>
          </a:p>
        </p:txBody>
      </p:sp>
    </p:spTree>
  </p:cSld>
  <p:clrMap bg1="lt1" tx1="dk1" bg2="lt2" tx2="dk2" accent1="accent1" accent2="accent2" accent3="accent3" accent4="accent4" accent5="accent5" accent6="accent6" hlink="hlink" folHlink="folHlink"/>
  <p:hf/>
  <p:notesStyle>
    <a:lvl1pPr marL="0" algn="l">
      <a:defRPr sz="1200" lang="en-AU"/>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Hello, I'm Yangyang Xiao. My research asks how a brief parent survey can describe families' reported changes in access to suitable play resources after a Joy of Giving visit. The contribution is a measurement framework for our impact report.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I used a desk-based review, comparing measurement options against relevance, respondent burden, feasibility and interpretation. Toy Libraries Australia supplies sector evidence about access, cost and appropriate toys. The ONS report supports questionnaire testing, while World Bank and GDS guidance informs measurement and administration. Each source has a different role. These proposed items have not been validated in Joy of Giving, and I collected no participant data.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intended outcome is improved access to suitable play resources. Toy redistribution is the activity, and items received are outputs. Family-reported access change is evidence about the outcome, rather than the outcome itself. Satisfaction describes service experience. Keeping these separate prevents a positive service rating or a toy count from standing in for improved access.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Toy Libraries Australia's submission changes the proposed content. It reports wider choice and saving money as joining motives, describes uneven service access, and presents developmentally appropriate toys as a benefit. I therefore retain overall access change, cost barriers and perceived suitability. This sector submission reports market research without full survey methods. Lending also differs from redistribution, so it suggests candidates rather than validating this questionnaire. Availability remains a coverage gap because Q1 does not measure it separately. Q2 and Q3 provide context, while Q4 records use and Q5 asks about barriers. Transport, storage and household circumstances may help explain an answer.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matrix applies all four criteria. Relevance comes first because access change is the research question; feasibility then limits what fits before A3. Usable records can have low burden but mainly describe activity. Satisfaction is simple but weakly aligned with access change. Retrospective change needs one follow-up, but relies on recall. Prospective baseline and follow-up reduces reliance on recalled change, but needs two waves, comparable questions, linkage and enough time; attrition remains. My conditional choice is retrospective change plus contextual items if an eligible four-week follow-up fits. Prefer a suitable prospective design if feasible. If neither fits, audit existing questions and data. Burden and interpretation remain constraints. These are design judgements, not measured ratings.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items have distinct reporting roles. Q1 is the main reported access-change indicator. Q2 covers cost, Q3 perceived suitability, and Q4 recent use; these provide context. Q5 helps explain change and barriers. Report categories and valid item counts, while showing uncertain and skipped answers separately. Do not combine the answers into an access score.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Recall can distort the comparison, and responding families may differ from others. Specify the reference periods and say 'among responding families'. Without an adequate comparison, neither retrospective nor prospective responses establish programme effects. Records and interviews can help interpret accounts, but do not remove that limitation.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First, ask the client or tutor to arrange recruitment and confirm contact arrangements, baseline data and the A3 analysis deadline. Check whether families already passed four weeks; a new wait must still leave analysis and writing time. Second, I propose three to five adult-carer cognitive interviews, probing question meaning, recall periods and answer choices. Log misunderstandings, missing options and form completion time. The proposed three-minute form target excludes interview probes. Following ONS, add an end-to-end walkthrough if digital; UX also checks understanding. Third, reword unclear terms, add options, remove unnecessary items and recheck changes. If the survey is fixed or time too short, audit current questions and data, then recommend the next cycle. The team receives the survey, indicator guide and reporting rules for its impact report and media collateral.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References for reading only. Toy Libraries Australia (2024) Opportunities in the circular economy: Productivity Commission submission. Submission 130, November, pp.1–3. Supplied PDF; industry submission reporting sector evidence. Office for National Statistics (ONS) (n.d.) Question and questionnaire development overview for Census 2021. §§3–4, §7 and Annex 2. Supplied converted reading copy, pp.4, 7, 14, 18–19; viewed 19 October 2026. Bjarkefur, K., de Andrade, L.C., Daniels, B. and Jones, M.R. (2021) Development Research in Practice: The DIME Analytics Data Handbook. World Bank, chs.3–4, source version viewed 19 October 2026. https://github.com/worldbank/dime-data-handbook Government Digital Service (GDS) (n.d.a) Question pages. GOV.UK Design System. Official source repository, viewed 19 October 2026. https://github.com/alphagov/govuk-design-system The ONS source consulted was the supplied converted reading copy, not an ONS-issued PDF. Its original publication date was not shown. The embedded original-report link is https://www.ons.gov.uk/census/censustransformationprogramme/questiondevelopment/questionandquestionnairedevelopmentoverviewforcensus2021. TLA is an industry submission; its family-motive figures cite Glow Market Research, whose original survey methods were not supplied. No proportions from that market research are used here. World Bank source chapters: https://github.com/worldbank/dime-data-handbook/tree/96442f873e3fb81fd1359669eeb2a548cb9c4be5/chapters . GDS Question pages source: https://github.com/alphagov/govuk-design-system/blob/a1bfd60d1e0fcc2de52a1d357b934c3098ec62a6/src/patterns/question-pages/index.md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References for reading only. Government Digital Service (GDS) (n.d.b) Radios. GOV.UK Design System. Official source repository, viewed 19 October 2026. https://github.com/alphagov/govuk-design-system Government Digital Service (GDS) (n.d.c) Check answers. GOV.UK Design System. Official source repository, viewed 19 October 2026. https://github.com/alphagov/govuk-design-system Nguyen, L. (2026a) Week 2: Action Research &amp; Data Collection. COMM5030, UNSW Sydney, lecture guide, pp.18–19 and 29–30. Supplied course material. Nguyen, L. (2026b) Week 3: Social Impact Measurement. COMM5030, UNSW Sydney, lecture slides, pp.25–31 and 42. Supplied course material. Nguyen, L. (2026c) Week 5: Systems Thinking. COMM5030, UNSW Sydney, lecture slides, pp.17–28. Supplied course material. GDS Radios source: https://github.com/alphagov/govuk-design-system/blob/a1bfd60d1e0fcc2de52a1d357b934c3098ec62a6/src/components/radios/index.md . GDS Check answers source: https://github.com/alphagov/govuk-design-system/blob/a1bfd60d1e0fcc2de52a1d357b934c3098ec62a6/src/patterns/check-answers/index.md . Preparation: ChatGPT assisted drafting, Image Gen informed the selected visual direction, and PPT Master exported the editable presentation.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Appendix for reading only. These proposed items are for review and testing, not an administered questionnaire. Display the selected visit date and use the same nominated child throughout. The four-week before/after windows should remain fixed. Q4 uses the last seven days as separate recent-use context. All participation is voluntary and support does not depend on taking part. Keep valid unsure responses and leave response options unselected. Let carers review their answers before submission. Review question meaning, recall periods and response selection in cognitive interviews; these are proposed operations informed by the ONS method description. If digital, conduct an end-to-end walkthrough too: UX can expose understanding problems as well as completion and navigation problems. The three-minute target concerns form completion, excluding interview probes. A short pilot is not full scale validation.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Appendix for reading only. Use item-specific substantive-response denominators and display all excluded categories as separate counts. For Q1, valid change categories run from much harder through no change to much easier; show unsure and skipped counts separately. For Q2, keep not sure and prefer not to answer separate from substantive frequency categories. For Q3, show not sure and not used yet separately from fit ratings. For Q4, show unknown separately from zero to seven days. Q5 comments support themes and examples, not population prevalence. The items serve different roles and must not be summed. None of these reporting rules creates a causal programme-effect estimate.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omm5030_play_access_v2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AU" smtClean="0"/>
              <a:t>1/27/13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1FF6DA9-008F-8B48-92A6-B652298478BF}"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omm5030_play_access_v2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AU">
                <a:solidFill>
                  <a:schemeClr val="tx1">
                    <a:tint val="75000"/>
                  </a:schemeClr>
                </a:solidFill>
              </a:defRPr>
            </a:lvl1pPr>
          </a:lstStyle>
          <a:p>
            <a:fld id="{5BCAD085-E8A6-8845-BD4E-CB4CCA059FC4}" type="datetimeFigureOut">
              <a:rPr lang="en-AU" smtClean="0"/>
              <a:t>1/27/13</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AU">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AU">
                <a:solidFill>
                  <a:schemeClr val="tx1">
                    <a:tint val="75000"/>
                  </a:schemeClr>
                </a:solidFill>
              </a:defRPr>
            </a:lvl1pPr>
          </a:lstStyle>
          <a:p>
            <a:fld id="{C1FF6DA9-008F-8B48-92A6-B652298478BF}"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en-AU">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AU">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AU">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AU">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AU">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AU">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AU">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AU">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AU">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AU">
          <a:solidFill>
            <a:schemeClr val="tx1"/>
          </a:solidFill>
          <a:latin typeface="+mn-lt"/>
          <a:ea typeface="+mn-ea"/>
          <a:cs typeface="+mn-cs"/>
        </a:defRPr>
      </a:lvl9pPr>
    </p:bodyStyle>
    <p:otherStyle>
      <a:defPPr>
        <a:defRPr lang="en-AU"/>
      </a:defPPr>
      <a:lvl1pPr marL="0" algn="l" defTabSz="457200" rtl="0" eaLnBrk="1" latinLnBrk="0" hangingPunct="1">
        <a:defRPr sz="2100" kern="1200" lang="en-AU">
          <a:solidFill>
            <a:schemeClr val="tx1"/>
          </a:solidFill>
          <a:latin typeface="+mn-lt"/>
          <a:ea typeface="+mn-ea"/>
          <a:cs typeface="+mn-cs"/>
        </a:defRPr>
      </a:lvl1pPr>
      <a:lvl2pPr marL="457200" algn="l" defTabSz="457200" rtl="0" eaLnBrk="1" latinLnBrk="0" hangingPunct="1">
        <a:defRPr sz="1950" kern="1200" lang="en-AU">
          <a:solidFill>
            <a:schemeClr val="tx1"/>
          </a:solidFill>
          <a:latin typeface="+mn-lt"/>
          <a:ea typeface="+mn-ea"/>
          <a:cs typeface="+mn-cs"/>
        </a:defRPr>
      </a:lvl2pPr>
      <a:lvl3pPr marL="914400" algn="l" defTabSz="457200" rtl="0" eaLnBrk="1" latinLnBrk="0" hangingPunct="1">
        <a:defRPr sz="1850" kern="1200" lang="en-AU">
          <a:solidFill>
            <a:schemeClr val="tx1"/>
          </a:solidFill>
          <a:latin typeface="+mn-lt"/>
          <a:ea typeface="+mn-ea"/>
          <a:cs typeface="+mn-cs"/>
        </a:defRPr>
      </a:lvl3pPr>
      <a:lvl4pPr marL="1371600" algn="l" defTabSz="457200" rtl="0" eaLnBrk="1" latinLnBrk="0" hangingPunct="1">
        <a:defRPr sz="1700" kern="1200" lang="en-AU">
          <a:solidFill>
            <a:schemeClr val="tx1"/>
          </a:solidFill>
          <a:latin typeface="+mn-lt"/>
          <a:ea typeface="+mn-ea"/>
          <a:cs typeface="+mn-cs"/>
        </a:defRPr>
      </a:lvl4pPr>
      <a:lvl5pPr marL="1828800" algn="l" defTabSz="457200" rtl="0" eaLnBrk="1" latinLnBrk="0" hangingPunct="1">
        <a:defRPr sz="1600" kern="1200" lang="en-AU">
          <a:solidFill>
            <a:schemeClr val="tx1"/>
          </a:solidFill>
          <a:latin typeface="+mn-lt"/>
          <a:ea typeface="+mn-ea"/>
          <a:cs typeface="+mn-cs"/>
        </a:defRPr>
      </a:lvl5pPr>
      <a:lvl6pPr marL="2286000" algn="l" defTabSz="457200" rtl="0" eaLnBrk="1" latinLnBrk="0" hangingPunct="1">
        <a:defRPr sz="1450" kern="1200" lang="en-AU">
          <a:solidFill>
            <a:schemeClr val="tx1"/>
          </a:solidFill>
          <a:latin typeface="+mn-lt"/>
          <a:ea typeface="+mn-ea"/>
          <a:cs typeface="+mn-cs"/>
        </a:defRPr>
      </a:lvl6pPr>
      <a:lvl7pPr marL="2743200" algn="l" defTabSz="457200" rtl="0" eaLnBrk="1" latinLnBrk="0" hangingPunct="1">
        <a:defRPr sz="1300" kern="1200" lang="en-AU">
          <a:solidFill>
            <a:schemeClr val="tx1"/>
          </a:solidFill>
          <a:latin typeface="+mn-lt"/>
          <a:ea typeface="+mn-ea"/>
          <a:cs typeface="+mn-cs"/>
        </a:defRPr>
      </a:lvl7pPr>
      <a:lvl8pPr marL="3200400" algn="l" defTabSz="457200" rtl="0" eaLnBrk="1" latinLnBrk="0" hangingPunct="1">
        <a:defRPr sz="1200" kern="1200" lang="en-AU">
          <a:solidFill>
            <a:schemeClr val="tx1"/>
          </a:solidFill>
          <a:latin typeface="+mn-lt"/>
          <a:ea typeface="+mn-ea"/>
          <a:cs typeface="+mn-cs"/>
        </a:defRPr>
      </a:lvl8pPr>
      <a:lvl9pPr marL="3657600" algn="l" defTabSz="457200" rtl="0" eaLnBrk="1" latinLnBrk="0" hangingPunct="1">
        <a:defRPr sz="1050" kern="1200" lang="en-AU">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identity"/>
          <p:cNvGrpSpPr/>
          <p:nvPr/>
        </p:nvGrpSpPr>
        <p:grpSpPr>
          <a:xfrm>
            <a:off x="677418" y="558800"/>
            <a:ext cx="5717683" cy="322707"/>
            <a:chOff x="677418" y="558800"/>
            <a:chExt cx="5717683" cy="322707"/>
          </a:xfrm>
        </p:grpSpPr>
        <p:sp>
          <p:nvSpPr>
            <p:cNvPr id="2" name="TextBox 2"/>
            <p:cNvSpPr txBox="1"/>
            <p:nvPr/>
          </p:nvSpPr>
          <p:spPr>
            <a:xfrm>
              <a:off x="677418" y="558800"/>
              <a:ext cx="5717683" cy="322707"/>
            </a:xfrm>
            <a:prstGeom prst="rect">
              <a:avLst/>
            </a:prstGeom>
            <a:noFill/>
            <a:ln>
              <a:noFill/>
            </a:ln>
          </p:spPr>
          <p:txBody>
            <a:bodyPr wrap="none" lIns="0" tIns="0" rIns="0" bIns="0" anchor="t" anchorCtr="0">
              <a:spAutoFit/>
            </a:bodyPr>
            <a:lstStyle/>
            <a:p>
              <a:pPr algn="l"/>
              <a:r>
                <a:rPr lang="en-AU" sz="1650" dirty="0">
                  <a:solidFill>
                    <a:schemeClr val="accent1"/>
                  </a:solidFill>
                  <a:latin typeface="+mn-lt"/>
                  <a:ea typeface="+mn-ea"/>
                  <a:cs typeface="+mn-cs"/>
                </a:rPr>
                <a:t>Yangyang Xiao | z5707699 | COMM5030 | Assessment 2</a:t>
              </a:r>
            </a:p>
          </p:txBody>
        </p:sp>
      </p:grpSp>
      <p:grpSp>
        <p:nvGrpSpPr>
          <p:cNvPr id="5" name="title"/>
          <p:cNvGrpSpPr/>
          <p:nvPr/>
        </p:nvGrpSpPr>
        <p:grpSpPr>
          <a:xfrm>
            <a:off x="666750" y="1581150"/>
            <a:ext cx="4943799" cy="2295525"/>
            <a:chOff x="666750" y="1581150"/>
            <a:chExt cx="4943799" cy="2295525"/>
          </a:xfrm>
        </p:grpSpPr>
        <p:sp>
          <p:nvSpPr>
            <p:cNvPr id="4" name="TextBox 4"/>
            <p:cNvSpPr txBox="1"/>
            <p:nvPr/>
          </p:nvSpPr>
          <p:spPr>
            <a:xfrm>
              <a:off x="666750" y="1581150"/>
              <a:ext cx="4943799" cy="2295525"/>
            </a:xfrm>
            <a:prstGeom prst="rect">
              <a:avLst/>
            </a:prstGeom>
            <a:noFill/>
            <a:ln>
              <a:noFill/>
            </a:ln>
          </p:spPr>
          <p:txBody>
            <a:bodyPr wrap="none" lIns="0" tIns="0" rIns="0" bIns="0" anchor="t" anchorCtr="0">
              <a:spAutoFit/>
            </a:bodyPr>
            <a:lstStyle/>
            <a:p>
              <a:pPr algn="l">
                <a:lnSpc>
                  <a:spcPts val="7800"/>
                </a:lnSpc>
              </a:pPr>
              <a:r>
                <a:rPr lang="en-AU" sz="6750" b="1" dirty="0">
                  <a:solidFill>
                    <a:schemeClr val="accent1"/>
                  </a:solidFill>
                  <a:latin typeface="+mn-lt"/>
                  <a:ea typeface="+mn-ea"/>
                  <a:cs typeface="+mn-cs"/>
                </a:rPr>
                <a:t>Beyond Toy</a:t>
              </a:r>
              <a:br>
                <a:rPr lang="en-AU" sz="6750" b="1" dirty="0">
                  <a:solidFill>
                    <a:schemeClr val="accent1"/>
                  </a:solidFill>
                  <a:latin typeface="+mn-lt"/>
                  <a:ea typeface="+mn-ea"/>
                  <a:cs typeface="+mn-cs"/>
                </a:rPr>
              </a:br>
              <a:r>
                <a:rPr lang="en-AU" sz="6750" b="1" dirty="0">
                  <a:solidFill>
                    <a:schemeClr val="accent1"/>
                  </a:solidFill>
                  <a:latin typeface="+mn-lt"/>
                  <a:ea typeface="+mn-ea"/>
                  <a:cs typeface="+mn-cs"/>
                </a:rPr>
                <a:t>Counts</a:t>
              </a:r>
            </a:p>
          </p:txBody>
        </p:sp>
      </p:grpSp>
      <p:grpSp>
        <p:nvGrpSpPr>
          <p:cNvPr id="22" name="research-motif"/>
          <p:cNvGrpSpPr/>
          <p:nvPr/>
        </p:nvGrpSpPr>
        <p:grpSpPr>
          <a:xfrm>
            <a:off x="8782050" y="1844675"/>
            <a:ext cx="2438400" cy="2178228"/>
            <a:chOff x="8782050" y="1844675"/>
            <a:chExt cx="2438400" cy="2178228"/>
          </a:xfrm>
        </p:grpSpPr>
        <p:grpSp>
          <p:nvGrpSpPr>
            <p:cNvPr id="9" name="Group 9"/>
            <p:cNvGrpSpPr/>
            <p:nvPr/>
          </p:nvGrpSpPr>
          <p:grpSpPr>
            <a:xfrm>
              <a:off x="9449594" y="1844675"/>
              <a:ext cx="722313" cy="825501"/>
              <a:chOff x="9449594" y="1844675"/>
              <a:chExt cx="722313" cy="825501"/>
            </a:xfrm>
          </p:grpSpPr>
          <p:sp>
            <p:nvSpPr>
              <p:cNvPr id="6" name="Freeform 6"/>
              <p:cNvSpPr/>
              <p:nvPr/>
            </p:nvSpPr>
            <p:spPr>
              <a:xfrm>
                <a:off x="9449594" y="1844675"/>
                <a:ext cx="722313" cy="825501"/>
              </a:xfrm>
              <a:custGeom>
                <a:avLst/>
                <a:gdLst/>
                <a:ahLst/>
                <a:cxnLst/>
                <a:rect l="l" t="t" r="r" b="b"/>
                <a:pathLst>
                  <a:path w="722313" h="825501">
                    <a:moveTo>
                      <a:pt x="722313" y="0"/>
                    </a:moveTo>
                    <a:lnTo>
                      <a:pt x="722313" y="825501"/>
                    </a:lnTo>
                    <a:lnTo>
                      <a:pt x="103188" y="825501"/>
                    </a:lnTo>
                    <a:cubicBezTo>
                      <a:pt x="46199" y="825501"/>
                      <a:pt x="0" y="779302"/>
                      <a:pt x="0" y="722313"/>
                    </a:cubicBezTo>
                    <a:lnTo>
                      <a:pt x="0" y="103188"/>
                    </a:lnTo>
                    <a:cubicBezTo>
                      <a:pt x="0" y="46199"/>
                      <a:pt x="46199" y="0"/>
                      <a:pt x="103188" y="0"/>
                    </a:cubicBezTo>
                    <a:lnTo>
                      <a:pt x="722313" y="0"/>
                    </a:lnTo>
                  </a:path>
                </a:pathLst>
              </a:custGeom>
              <a:noFill/>
              <a:ln w="103188">
                <a:solidFill>
                  <a:schemeClr val="accent1"/>
                </a:solidFill>
              </a:ln>
            </p:spPr>
          </p:sp>
          <p:sp>
            <p:nvSpPr>
              <p:cNvPr id="7" name="Freeform 7"/>
              <p:cNvSpPr/>
              <p:nvPr/>
            </p:nvSpPr>
            <p:spPr>
              <a:xfrm>
                <a:off x="9449594" y="2463801"/>
                <a:ext cx="722313" cy="103188"/>
              </a:xfrm>
              <a:custGeom>
                <a:avLst/>
                <a:gdLst/>
                <a:ahLst/>
                <a:cxnLst/>
                <a:rect l="l" t="t" r="r" b="b"/>
                <a:pathLst>
                  <a:path w="722313" h="103188">
                    <a:moveTo>
                      <a:pt x="722313" y="0"/>
                    </a:moveTo>
                    <a:lnTo>
                      <a:pt x="103188" y="0"/>
                    </a:lnTo>
                    <a:cubicBezTo>
                      <a:pt x="46199" y="0"/>
                      <a:pt x="0" y="46199"/>
                      <a:pt x="0" y="103188"/>
                    </a:cubicBezTo>
                  </a:path>
                </a:pathLst>
              </a:custGeom>
              <a:noFill/>
              <a:ln w="103188">
                <a:solidFill>
                  <a:schemeClr val="accent1"/>
                </a:solidFill>
              </a:ln>
            </p:spPr>
          </p:sp>
          <p:sp>
            <p:nvSpPr>
              <p:cNvPr id="8" name="Freeform 8"/>
              <p:cNvSpPr/>
              <p:nvPr/>
            </p:nvSpPr>
            <p:spPr>
              <a:xfrm>
                <a:off x="9655969" y="2051050"/>
                <a:ext cx="309563" cy="9525"/>
              </a:xfrm>
              <a:custGeom>
                <a:avLst/>
                <a:gdLst/>
                <a:ahLst/>
                <a:cxnLst/>
                <a:rect l="l" t="t" r="r" b="b"/>
                <a:pathLst>
                  <a:path w="309563" h="9525">
                    <a:moveTo>
                      <a:pt x="0" y="0"/>
                    </a:moveTo>
                    <a:lnTo>
                      <a:pt x="309563" y="0"/>
                    </a:lnTo>
                  </a:path>
                </a:pathLst>
              </a:custGeom>
              <a:noFill/>
              <a:ln w="103188">
                <a:solidFill>
                  <a:schemeClr val="accent1"/>
                </a:solidFill>
              </a:ln>
            </p:spPr>
          </p:sp>
        </p:grpSp>
        <p:grpSp>
          <p:nvGrpSpPr>
            <p:cNvPr id="14" name="Group 14"/>
            <p:cNvGrpSpPr/>
            <p:nvPr/>
          </p:nvGrpSpPr>
          <p:grpSpPr>
            <a:xfrm>
              <a:off x="8782050" y="3254159"/>
              <a:ext cx="685800" cy="768744"/>
              <a:chOff x="8782050" y="3254159"/>
              <a:chExt cx="685800" cy="768744"/>
            </a:xfrm>
          </p:grpSpPr>
          <p:sp>
            <p:nvSpPr>
              <p:cNvPr id="10" name="Freeform 10"/>
              <p:cNvSpPr/>
              <p:nvPr/>
            </p:nvSpPr>
            <p:spPr>
              <a:xfrm>
                <a:off x="8782050" y="3254159"/>
                <a:ext cx="685800" cy="768744"/>
              </a:xfrm>
              <a:custGeom>
                <a:avLst/>
                <a:gdLst/>
                <a:ahLst/>
                <a:cxnLst/>
                <a:rect l="l" t="t" r="r" b="b"/>
                <a:pathLst>
                  <a:path w="685800" h="768744">
                    <a:moveTo>
                      <a:pt x="685800" y="537096"/>
                    </a:moveTo>
                    <a:lnTo>
                      <a:pt x="685800" y="231610"/>
                    </a:lnTo>
                    <a:cubicBezTo>
                      <a:pt x="685753" y="204549"/>
                      <a:pt x="671214" y="179586"/>
                      <a:pt x="647700" y="166192"/>
                    </a:cubicBezTo>
                    <a:lnTo>
                      <a:pt x="381000" y="13487"/>
                    </a:lnTo>
                    <a:cubicBezTo>
                      <a:pt x="357390" y="0"/>
                      <a:pt x="328410" y="0"/>
                      <a:pt x="304800" y="13487"/>
                    </a:cubicBezTo>
                    <a:lnTo>
                      <a:pt x="38100" y="166192"/>
                    </a:lnTo>
                    <a:cubicBezTo>
                      <a:pt x="14516" y="179718"/>
                      <a:pt x="0" y="204673"/>
                      <a:pt x="0" y="231648"/>
                    </a:cubicBezTo>
                    <a:lnTo>
                      <a:pt x="0" y="537134"/>
                    </a:lnTo>
                    <a:cubicBezTo>
                      <a:pt x="0" y="564147"/>
                      <a:pt x="14516" y="589064"/>
                      <a:pt x="38100" y="602551"/>
                    </a:cubicBezTo>
                    <a:lnTo>
                      <a:pt x="304800" y="755256"/>
                    </a:lnTo>
                    <a:cubicBezTo>
                      <a:pt x="328410" y="768744"/>
                      <a:pt x="357390" y="768744"/>
                      <a:pt x="381000" y="755256"/>
                    </a:cubicBezTo>
                    <a:lnTo>
                      <a:pt x="647700" y="602551"/>
                    </a:lnTo>
                    <a:cubicBezTo>
                      <a:pt x="671284" y="589026"/>
                      <a:pt x="685800" y="564070"/>
                      <a:pt x="685800" y="537096"/>
                    </a:cubicBezTo>
                  </a:path>
                </a:pathLst>
              </a:custGeom>
              <a:noFill/>
              <a:ln w="76200">
                <a:solidFill>
                  <a:schemeClr val="accent1"/>
                </a:solidFill>
              </a:ln>
            </p:spPr>
          </p:sp>
          <p:sp>
            <p:nvSpPr>
              <p:cNvPr id="11" name="Freeform 11"/>
              <p:cNvSpPr/>
              <p:nvPr/>
            </p:nvSpPr>
            <p:spPr>
              <a:xfrm>
                <a:off x="9124950" y="3638550"/>
                <a:ext cx="9525" cy="381000"/>
              </a:xfrm>
              <a:custGeom>
                <a:avLst/>
                <a:gdLst/>
                <a:ahLst/>
                <a:cxnLst/>
                <a:rect l="l" t="t" r="r" b="b"/>
                <a:pathLst>
                  <a:path w="9525" h="381000">
                    <a:moveTo>
                      <a:pt x="0" y="381000"/>
                    </a:moveTo>
                    <a:lnTo>
                      <a:pt x="0" y="0"/>
                    </a:lnTo>
                  </a:path>
                </a:pathLst>
              </a:custGeom>
              <a:noFill/>
              <a:ln w="76200">
                <a:solidFill>
                  <a:schemeClr val="accent1"/>
                </a:solidFill>
              </a:ln>
            </p:spPr>
          </p:sp>
          <p:sp>
            <p:nvSpPr>
              <p:cNvPr id="12" name="Freeform 12"/>
              <p:cNvSpPr/>
              <p:nvPr/>
            </p:nvSpPr>
            <p:spPr>
              <a:xfrm>
                <a:off x="9124950" y="3446526"/>
                <a:ext cx="332613" cy="192024"/>
              </a:xfrm>
              <a:custGeom>
                <a:avLst/>
                <a:gdLst/>
                <a:ahLst/>
                <a:cxnLst/>
                <a:rect l="l" t="t" r="r" b="b"/>
                <a:pathLst>
                  <a:path w="332613" h="192024">
                    <a:moveTo>
                      <a:pt x="0" y="192024"/>
                    </a:moveTo>
                    <a:lnTo>
                      <a:pt x="332613" y="0"/>
                    </a:lnTo>
                  </a:path>
                </a:pathLst>
              </a:custGeom>
              <a:noFill/>
              <a:ln w="76200">
                <a:solidFill>
                  <a:schemeClr val="accent1"/>
                </a:solidFill>
              </a:ln>
            </p:spPr>
          </p:sp>
          <p:sp>
            <p:nvSpPr>
              <p:cNvPr id="13" name="Freeform 13"/>
              <p:cNvSpPr/>
              <p:nvPr/>
            </p:nvSpPr>
            <p:spPr>
              <a:xfrm>
                <a:off x="8792337" y="3446526"/>
                <a:ext cx="332613" cy="192024"/>
              </a:xfrm>
              <a:custGeom>
                <a:avLst/>
                <a:gdLst/>
                <a:ahLst/>
                <a:cxnLst/>
                <a:rect l="l" t="t" r="r" b="b"/>
                <a:pathLst>
                  <a:path w="332613" h="192024">
                    <a:moveTo>
                      <a:pt x="0" y="0"/>
                    </a:moveTo>
                    <a:lnTo>
                      <a:pt x="332613" y="192024"/>
                    </a:lnTo>
                  </a:path>
                </a:pathLst>
              </a:custGeom>
              <a:noFill/>
              <a:ln w="76200">
                <a:solidFill>
                  <a:schemeClr val="accent1"/>
                </a:solidFill>
              </a:ln>
            </p:spPr>
          </p:sp>
        </p:grpSp>
        <p:grpSp>
          <p:nvGrpSpPr>
            <p:cNvPr id="18" name="Group 18"/>
            <p:cNvGrpSpPr/>
            <p:nvPr/>
          </p:nvGrpSpPr>
          <p:grpSpPr>
            <a:xfrm>
              <a:off x="10687050" y="3209925"/>
              <a:ext cx="533400" cy="685800"/>
              <a:chOff x="10687050" y="3209925"/>
              <a:chExt cx="533400" cy="685800"/>
            </a:xfrm>
          </p:grpSpPr>
          <p:sp>
            <p:nvSpPr>
              <p:cNvPr id="15" name="Freeform 15"/>
              <p:cNvSpPr/>
              <p:nvPr/>
            </p:nvSpPr>
            <p:spPr>
              <a:xfrm>
                <a:off x="10687050" y="3286125"/>
                <a:ext cx="533400" cy="609600"/>
              </a:xfrm>
              <a:custGeom>
                <a:avLst/>
                <a:gdLst/>
                <a:ahLst/>
                <a:cxnLst/>
                <a:rect l="l" t="t" r="r" b="b"/>
                <a:pathLst>
                  <a:path w="533400" h="609600">
                    <a:moveTo>
                      <a:pt x="152400" y="0"/>
                    </a:moveTo>
                    <a:lnTo>
                      <a:pt x="76200" y="0"/>
                    </a:lnTo>
                    <a:cubicBezTo>
                      <a:pt x="34116" y="0"/>
                      <a:pt x="0" y="34116"/>
                      <a:pt x="0" y="76200"/>
                    </a:cubicBezTo>
                    <a:lnTo>
                      <a:pt x="0" y="533400"/>
                    </a:lnTo>
                    <a:cubicBezTo>
                      <a:pt x="0" y="575484"/>
                      <a:pt x="34116" y="609600"/>
                      <a:pt x="76200" y="609600"/>
                    </a:cubicBezTo>
                    <a:lnTo>
                      <a:pt x="457200" y="609600"/>
                    </a:lnTo>
                    <a:cubicBezTo>
                      <a:pt x="499284" y="609600"/>
                      <a:pt x="533400" y="575484"/>
                      <a:pt x="533400" y="533400"/>
                    </a:cubicBezTo>
                    <a:lnTo>
                      <a:pt x="533400" y="76200"/>
                    </a:lnTo>
                    <a:cubicBezTo>
                      <a:pt x="533400" y="34116"/>
                      <a:pt x="499284" y="0"/>
                      <a:pt x="457200" y="0"/>
                    </a:cubicBezTo>
                    <a:lnTo>
                      <a:pt x="381000" y="0"/>
                    </a:lnTo>
                  </a:path>
                </a:pathLst>
              </a:custGeom>
              <a:noFill/>
              <a:ln w="76200">
                <a:solidFill>
                  <a:schemeClr val="accent2"/>
                </a:solidFill>
              </a:ln>
            </p:spPr>
          </p:sp>
          <p:sp>
            <p:nvSpPr>
              <p:cNvPr id="16" name="Freeform 16"/>
              <p:cNvSpPr/>
              <p:nvPr/>
            </p:nvSpPr>
            <p:spPr>
              <a:xfrm>
                <a:off x="10839450" y="3209925"/>
                <a:ext cx="228600" cy="152400"/>
              </a:xfrm>
              <a:custGeom>
                <a:avLst/>
                <a:gdLst/>
                <a:ahLst/>
                <a:cxnLst/>
                <a:rect l="l" t="t" r="r" b="b"/>
                <a:pathLst>
                  <a:path w="228600" h="152400">
                    <a:moveTo>
                      <a:pt x="0" y="76200"/>
                    </a:moveTo>
                    <a:cubicBezTo>
                      <a:pt x="0" y="34116"/>
                      <a:pt x="34116" y="0"/>
                      <a:pt x="76200" y="0"/>
                    </a:cubicBezTo>
                    <a:lnTo>
                      <a:pt x="152400" y="0"/>
                    </a:lnTo>
                    <a:cubicBezTo>
                      <a:pt x="194484" y="0"/>
                      <a:pt x="228600" y="34116"/>
                      <a:pt x="228600" y="76200"/>
                    </a:cubicBezTo>
                    <a:cubicBezTo>
                      <a:pt x="228600" y="118284"/>
                      <a:pt x="194484" y="152400"/>
                      <a:pt x="152400" y="152400"/>
                    </a:cubicBezTo>
                    <a:lnTo>
                      <a:pt x="76200" y="152400"/>
                    </a:lnTo>
                    <a:cubicBezTo>
                      <a:pt x="34116" y="152400"/>
                      <a:pt x="0" y="118284"/>
                      <a:pt x="0" y="76200"/>
                    </a:cubicBezTo>
                  </a:path>
                </a:pathLst>
              </a:custGeom>
              <a:noFill/>
              <a:ln w="76200">
                <a:solidFill>
                  <a:schemeClr val="accent2"/>
                </a:solidFill>
              </a:ln>
            </p:spPr>
          </p:sp>
          <p:sp>
            <p:nvSpPr>
              <p:cNvPr id="17" name="Freeform 17"/>
              <p:cNvSpPr/>
              <p:nvPr/>
            </p:nvSpPr>
            <p:spPr>
              <a:xfrm>
                <a:off x="10839450" y="3552825"/>
                <a:ext cx="228600" cy="152400"/>
              </a:xfrm>
              <a:custGeom>
                <a:avLst/>
                <a:gdLst/>
                <a:ahLst/>
                <a:cxnLst/>
                <a:rect l="l" t="t" r="r" b="b"/>
                <a:pathLst>
                  <a:path w="228600" h="152400">
                    <a:moveTo>
                      <a:pt x="0" y="76200"/>
                    </a:moveTo>
                    <a:lnTo>
                      <a:pt x="76200" y="152400"/>
                    </a:lnTo>
                    <a:lnTo>
                      <a:pt x="228600" y="0"/>
                    </a:lnTo>
                  </a:path>
                </a:pathLst>
              </a:custGeom>
              <a:noFill/>
              <a:ln w="76200">
                <a:solidFill>
                  <a:schemeClr val="accent2"/>
                </a:solidFill>
              </a:ln>
            </p:spPr>
          </p:sp>
        </p:grpSp>
        <p:sp>
          <p:nvSpPr>
            <p:cNvPr id="19" name="Line 19"/>
            <p:cNvSpPr/>
            <p:nvPr/>
          </p:nvSpPr>
          <p:spPr>
            <a:xfrm>
              <a:off x="9067800" y="2952750"/>
              <a:ext cx="323850" cy="152400"/>
            </a:xfrm>
            <a:custGeom>
              <a:avLst/>
              <a:gdLst/>
              <a:ahLst/>
              <a:cxnLst/>
              <a:rect l="l" t="t" r="r" b="b"/>
              <a:pathLst>
                <a:path w="323850" h="152400">
                  <a:moveTo>
                    <a:pt x="323850" y="0"/>
                  </a:moveTo>
                  <a:lnTo>
                    <a:pt x="0" y="152400"/>
                  </a:lnTo>
                </a:path>
              </a:pathLst>
            </a:custGeom>
            <a:noFill/>
            <a:ln w="28575">
              <a:solidFill>
                <a:schemeClr val="accent2"/>
              </a:solidFill>
            </a:ln>
          </p:spPr>
        </p:sp>
        <p:sp>
          <p:nvSpPr>
            <p:cNvPr id="20" name="Line 20"/>
            <p:cNvSpPr/>
            <p:nvPr/>
          </p:nvSpPr>
          <p:spPr>
            <a:xfrm>
              <a:off x="10096500" y="2400300"/>
              <a:ext cx="819150" cy="542925"/>
            </a:xfrm>
            <a:custGeom>
              <a:avLst/>
              <a:gdLst/>
              <a:ahLst/>
              <a:cxnLst/>
              <a:rect l="l" t="t" r="r" b="b"/>
              <a:pathLst>
                <a:path w="819150" h="542925">
                  <a:moveTo>
                    <a:pt x="0" y="0"/>
                  </a:moveTo>
                  <a:lnTo>
                    <a:pt x="819150" y="542925"/>
                  </a:lnTo>
                </a:path>
              </a:pathLst>
            </a:custGeom>
            <a:noFill/>
            <a:ln w="28575">
              <a:solidFill>
                <a:schemeClr val="accent2"/>
              </a:solidFill>
            </a:ln>
          </p:spPr>
        </p:sp>
        <p:sp>
          <p:nvSpPr>
            <p:cNvPr id="21" name="Line 21"/>
            <p:cNvSpPr/>
            <p:nvPr/>
          </p:nvSpPr>
          <p:spPr>
            <a:xfrm>
              <a:off x="9677400" y="3667125"/>
              <a:ext cx="704850" cy="9525"/>
            </a:xfrm>
            <a:custGeom>
              <a:avLst/>
              <a:gdLst/>
              <a:ahLst/>
              <a:cxnLst/>
              <a:rect l="l" t="t" r="r" b="b"/>
              <a:pathLst>
                <a:path w="704850" h="9525">
                  <a:moveTo>
                    <a:pt x="0" y="0"/>
                  </a:moveTo>
                  <a:lnTo>
                    <a:pt x="704850" y="0"/>
                  </a:lnTo>
                </a:path>
              </a:pathLst>
            </a:custGeom>
            <a:noFill/>
            <a:ln w="28575">
              <a:solidFill>
                <a:schemeClr val="accent2"/>
              </a:solidFill>
            </a:ln>
          </p:spPr>
        </p:sp>
      </p:grpSp>
      <p:grpSp>
        <p:nvGrpSpPr>
          <p:cNvPr id="25" name="subtitle"/>
          <p:cNvGrpSpPr/>
          <p:nvPr/>
        </p:nvGrpSpPr>
        <p:grpSpPr>
          <a:xfrm>
            <a:off x="673608" y="4546600"/>
            <a:ext cx="7279001" cy="906018"/>
            <a:chOff x="673608" y="4546600"/>
            <a:chExt cx="7279001" cy="906018"/>
          </a:xfrm>
        </p:grpSpPr>
        <p:sp>
          <p:nvSpPr>
            <p:cNvPr id="23" name="TextBox 23"/>
            <p:cNvSpPr txBox="1"/>
            <p:nvPr/>
          </p:nvSpPr>
          <p:spPr>
            <a:xfrm>
              <a:off x="673608" y="4546600"/>
              <a:ext cx="7279001" cy="469392"/>
            </a:xfrm>
            <a:prstGeom prst="rect">
              <a:avLst/>
            </a:prstGeom>
            <a:noFill/>
            <a:ln>
              <a:noFill/>
            </a:ln>
          </p:spPr>
          <p:txBody>
            <a:bodyPr wrap="none" lIns="0" tIns="0" rIns="0" bIns="0" anchor="t" anchorCtr="0">
              <a:spAutoFit/>
            </a:bodyPr>
            <a:lstStyle/>
            <a:p>
              <a:pPr algn="l"/>
              <a:r>
                <a:rPr lang="en-AU" sz="2400" b="1" dirty="0">
                  <a:solidFill>
                    <a:schemeClr val="accent1"/>
                  </a:solidFill>
                  <a:latin typeface="+mn-lt"/>
                  <a:ea typeface="+mn-ea"/>
                  <a:cs typeface="+mn-cs"/>
                </a:rPr>
                <a:t>Measuring Families’ Access to Play Resources</a:t>
              </a:r>
            </a:p>
          </p:txBody>
        </p:sp>
        <p:sp>
          <p:nvSpPr>
            <p:cNvPr id="24" name="TextBox 24"/>
            <p:cNvSpPr txBox="1"/>
            <p:nvPr/>
          </p:nvSpPr>
          <p:spPr>
            <a:xfrm>
              <a:off x="675132" y="5041900"/>
              <a:ext cx="5388850" cy="410718"/>
            </a:xfrm>
            <a:prstGeom prst="rect">
              <a:avLst/>
            </a:prstGeom>
            <a:noFill/>
            <a:ln>
              <a:noFill/>
            </a:ln>
          </p:spPr>
          <p:txBody>
            <a:bodyPr wrap="none" lIns="0" tIns="0" rIns="0" bIns="0" anchor="t" anchorCtr="0">
              <a:spAutoFit/>
            </a:bodyPr>
            <a:lstStyle/>
            <a:p>
              <a:pPr algn="l"/>
              <a:r>
                <a:rPr lang="en-AU" sz="2100" dirty="0">
                  <a:solidFill>
                    <a:schemeClr val="accent6"/>
                  </a:solidFill>
                  <a:latin typeface="+mn-lt"/>
                  <a:ea typeface="+mn-ea"/>
                  <a:cs typeface="+mn-cs"/>
                </a:rPr>
                <a:t>A short-survey framework for Joy of Giving</a:t>
              </a:r>
            </a:p>
          </p:txBody>
        </p:sp>
      </p:grpSp>
      <p:grpSp>
        <p:nvGrpSpPr>
          <p:cNvPr id="27" name="scope"/>
          <p:cNvGrpSpPr/>
          <p:nvPr/>
        </p:nvGrpSpPr>
        <p:grpSpPr>
          <a:xfrm>
            <a:off x="677418" y="5721350"/>
            <a:ext cx="5526205" cy="322707"/>
            <a:chOff x="677418" y="5721350"/>
            <a:chExt cx="5526205" cy="322707"/>
          </a:xfrm>
        </p:grpSpPr>
        <p:sp>
          <p:nvSpPr>
            <p:cNvPr id="26" name="TextBox 26"/>
            <p:cNvSpPr txBox="1"/>
            <p:nvPr/>
          </p:nvSpPr>
          <p:spPr>
            <a:xfrm>
              <a:off x="677418" y="5721350"/>
              <a:ext cx="5526205" cy="322707"/>
            </a:xfrm>
            <a:prstGeom prst="rect">
              <a:avLst/>
            </a:prstGeom>
            <a:noFill/>
            <a:ln>
              <a:noFill/>
            </a:ln>
          </p:spPr>
          <p:txBody>
            <a:bodyPr wrap="none" lIns="0" tIns="0" rIns="0" bIns="0" anchor="t" anchorCtr="0">
              <a:spAutoFit/>
            </a:bodyPr>
            <a:lstStyle/>
            <a:p>
              <a:pPr algn="l"/>
              <a:r>
                <a:rPr lang="en-AU" sz="1650" dirty="0">
                  <a:solidFill>
                    <a:schemeClr val="accent2"/>
                  </a:solidFill>
                  <a:latin typeface="+mn-lt"/>
                  <a:ea typeface="+mn-ea"/>
                  <a:cs typeface="+mn-cs"/>
                </a:rPr>
                <a:t>Proposed measurement design | family-reported access</a:t>
              </a:r>
            </a:p>
          </p:txBody>
        </p:sp>
      </p:grpSp>
      <p:sp>
        <p:nvSpPr>
          <p:cNvPr id="28" name="Line 28"/>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9"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30"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01</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7775421" cy="645414"/>
            <a:chOff x="669036" y="527050"/>
            <a:chExt cx="7775421" cy="645414"/>
          </a:xfrm>
        </p:grpSpPr>
        <p:sp>
          <p:nvSpPr>
            <p:cNvPr id="2" name="TextBox 2"/>
            <p:cNvSpPr txBox="1"/>
            <p:nvPr/>
          </p:nvSpPr>
          <p:spPr>
            <a:xfrm>
              <a:off x="669036" y="527050"/>
              <a:ext cx="7775421"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Evidence roles and appraisal criteria</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6" name="scope"/>
          <p:cNvGrpSpPr/>
          <p:nvPr/>
        </p:nvGrpSpPr>
        <p:grpSpPr>
          <a:xfrm>
            <a:off x="674370" y="1692275"/>
            <a:ext cx="7170132" cy="440055"/>
            <a:chOff x="674370" y="1692275"/>
            <a:chExt cx="7170132" cy="440055"/>
          </a:xfrm>
        </p:grpSpPr>
        <p:sp>
          <p:nvSpPr>
            <p:cNvPr id="5" name="TextBox 5"/>
            <p:cNvSpPr txBox="1"/>
            <p:nvPr/>
          </p:nvSpPr>
          <p:spPr>
            <a:xfrm>
              <a:off x="674370" y="1692275"/>
              <a:ext cx="7170132" cy="440055"/>
            </a:xfrm>
            <a:prstGeom prst="rect">
              <a:avLst/>
            </a:prstGeom>
            <a:noFill/>
            <a:ln>
              <a:noFill/>
            </a:ln>
          </p:spPr>
          <p:txBody>
            <a:bodyPr wrap="none" lIns="0" tIns="0" rIns="0" bIns="0" anchor="t" anchorCtr="0">
              <a:spAutoFit/>
            </a:bodyPr>
            <a:lstStyle/>
            <a:p>
              <a:pPr algn="l"/>
              <a:r>
                <a:rPr lang="en-AU" sz="2250" b="1" dirty="0">
                  <a:solidFill>
                    <a:schemeClr val="accent1"/>
                  </a:solidFill>
                  <a:latin typeface="+mn-lt"/>
                  <a:ea typeface="+mn-ea"/>
                  <a:cs typeface="+mn-cs"/>
                </a:rPr>
                <a:t>Desk-based design appraisal | no participant data</a:t>
              </a:r>
            </a:p>
          </p:txBody>
        </p:sp>
      </p:grpSp>
      <p:grpSp>
        <p:nvGrpSpPr>
          <p:cNvPr id="10" name="evidence-roles"/>
          <p:cNvGrpSpPr/>
          <p:nvPr/>
        </p:nvGrpSpPr>
        <p:grpSpPr>
          <a:xfrm>
            <a:off x="675132" y="2355850"/>
            <a:ext cx="3933170" cy="3094482"/>
            <a:chOff x="675132" y="2355850"/>
            <a:chExt cx="3933170" cy="3094482"/>
          </a:xfrm>
        </p:grpSpPr>
        <p:sp>
          <p:nvSpPr>
            <p:cNvPr id="7" name="TextBox 7"/>
            <p:cNvSpPr txBox="1"/>
            <p:nvPr/>
          </p:nvSpPr>
          <p:spPr>
            <a:xfrm>
              <a:off x="675132" y="2355850"/>
              <a:ext cx="2025675"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Evidence roles</a:t>
              </a:r>
            </a:p>
          </p:txBody>
        </p:sp>
        <p:sp>
          <p:nvSpPr>
            <p:cNvPr id="8" name="TextBox 8"/>
            <p:cNvSpPr txBox="1"/>
            <p:nvPr/>
          </p:nvSpPr>
          <p:spPr>
            <a:xfrm>
              <a:off x="676656" y="2755900"/>
              <a:ext cx="3931646" cy="1637919"/>
            </a:xfrm>
            <a:prstGeom prst="rect">
              <a:avLst/>
            </a:prstGeom>
            <a:noFill/>
            <a:ln>
              <a:noFill/>
            </a:ln>
          </p:spPr>
          <p:txBody>
            <a:bodyPr wrap="none" lIns="0" tIns="0" rIns="0" bIns="0" anchor="t" anchorCtr="0">
              <a:spAutoFit/>
            </a:bodyPr>
            <a:lstStyle/>
            <a:p>
              <a:pPr algn="l">
                <a:lnSpc>
                  <a:spcPts val="3375"/>
                </a:lnSpc>
              </a:pPr>
              <a:r>
                <a:rPr lang="en-AU" sz="1800" dirty="0">
                  <a:solidFill>
                    <a:schemeClr val="dk1"/>
                  </a:solidFill>
                  <a:latin typeface="+mn-lt"/>
                  <a:ea typeface="+mn-ea"/>
                  <a:cs typeface="+mn-cs"/>
                </a:rPr>
                <a:t>Domain: Toy Libraries Australia (2024)</a:t>
              </a:r>
              <a:br>
                <a:rPr lang="en-AU" sz="1800" dirty="0">
                  <a:solidFill>
                    <a:schemeClr val="dk1"/>
                  </a:solidFill>
                  <a:latin typeface="+mn-lt"/>
                  <a:ea typeface="+mn-ea"/>
                  <a:cs typeface="+mn-cs"/>
                </a:rPr>
              </a:br>
              <a:r>
                <a:rPr lang="en-AU" sz="1800" dirty="0">
                  <a:solidFill>
                    <a:schemeClr val="dk1"/>
                  </a:solidFill>
                  <a:latin typeface="+mn-lt"/>
                  <a:ea typeface="+mn-ea"/>
                  <a:cs typeface="+mn-cs"/>
                </a:rPr>
                <a:t>Testing: ONS (n.d.), §§3–4</a:t>
              </a:r>
              <a:br>
                <a:rPr lang="en-AU" sz="1800" dirty="0">
                  <a:solidFill>
                    <a:schemeClr val="dk1"/>
                  </a:solidFill>
                  <a:latin typeface="+mn-lt"/>
                  <a:ea typeface="+mn-ea"/>
                  <a:cs typeface="+mn-cs"/>
                </a:rPr>
              </a:br>
              <a:r>
                <a:rPr lang="en-AU" sz="1800" dirty="0">
                  <a:solidFill>
                    <a:schemeClr val="dk1"/>
                  </a:solidFill>
                  <a:latin typeface="+mn-lt"/>
                  <a:ea typeface="+mn-ea"/>
                  <a:cs typeface="+mn-cs"/>
                </a:rPr>
                <a:t>Measurement: World Bank (2021)</a:t>
              </a:r>
              <a:br>
                <a:rPr lang="en-AU" sz="1800" dirty="0">
                  <a:solidFill>
                    <a:schemeClr val="dk1"/>
                  </a:solidFill>
                  <a:latin typeface="+mn-lt"/>
                  <a:ea typeface="+mn-ea"/>
                  <a:cs typeface="+mn-cs"/>
                </a:rPr>
              </a:br>
              <a:r>
                <a:rPr lang="en-AU" sz="1800" dirty="0">
                  <a:solidFill>
                    <a:schemeClr val="dk1"/>
                  </a:solidFill>
                  <a:latin typeface="+mn-lt"/>
                  <a:ea typeface="+mn-ea"/>
                  <a:cs typeface="+mn-cs"/>
                </a:rPr>
                <a:t>Administration: GDS (n.d.a–c)</a:t>
              </a:r>
            </a:p>
          </p:txBody>
        </p:sp>
        <p:sp>
          <p:nvSpPr>
            <p:cNvPr id="9" name="TextBox 9"/>
            <p:cNvSpPr txBox="1"/>
            <p:nvPr/>
          </p:nvSpPr>
          <p:spPr>
            <a:xfrm>
              <a:off x="677418" y="4841875"/>
              <a:ext cx="3709496" cy="608457"/>
            </a:xfrm>
            <a:prstGeom prst="rect">
              <a:avLst/>
            </a:prstGeom>
            <a:noFill/>
            <a:ln>
              <a:noFill/>
            </a:ln>
          </p:spPr>
          <p:txBody>
            <a:bodyPr wrap="none" lIns="0" tIns="0" rIns="0" bIns="0" anchor="t" anchorCtr="0">
              <a:spAutoFit/>
            </a:bodyPr>
            <a:lstStyle/>
            <a:p>
              <a:pPr algn="l">
                <a:lnSpc>
                  <a:spcPts val="2250"/>
                </a:lnSpc>
              </a:pPr>
              <a:r>
                <a:rPr lang="en-AU" sz="1650" dirty="0">
                  <a:solidFill>
                    <a:schemeClr val="accent6"/>
                  </a:solidFill>
                  <a:latin typeface="+mn-lt"/>
                  <a:ea typeface="+mn-ea"/>
                  <a:cs typeface="+mn-cs"/>
                </a:rPr>
                <a:t>Sector, methods and interface evidence</a:t>
              </a:r>
              <a:br>
                <a:rPr lang="en-AU" sz="1650" dirty="0">
                  <a:solidFill>
                    <a:schemeClr val="accent6"/>
                  </a:solidFill>
                  <a:latin typeface="+mn-lt"/>
                  <a:ea typeface="+mn-ea"/>
                  <a:cs typeface="+mn-cs"/>
                </a:rPr>
              </a:br>
              <a:r>
                <a:rPr lang="en-AU" sz="1650" dirty="0">
                  <a:solidFill>
                    <a:schemeClr val="accent6"/>
                  </a:solidFill>
                  <a:latin typeface="+mn-lt"/>
                  <a:ea typeface="+mn-ea"/>
                  <a:cs typeface="+mn-cs"/>
                </a:rPr>
                <a:t>support different design decisions.</a:t>
              </a:r>
            </a:p>
          </p:txBody>
        </p:sp>
      </p:grpSp>
      <p:grpSp>
        <p:nvGrpSpPr>
          <p:cNvPr id="20" name="criteria"/>
          <p:cNvGrpSpPr/>
          <p:nvPr/>
        </p:nvGrpSpPr>
        <p:grpSpPr>
          <a:xfrm>
            <a:off x="6409182" y="2355850"/>
            <a:ext cx="4021894" cy="2944241"/>
            <a:chOff x="6409182" y="2355850"/>
            <a:chExt cx="4021894" cy="2944241"/>
          </a:xfrm>
        </p:grpSpPr>
        <p:sp>
          <p:nvSpPr>
            <p:cNvPr id="11" name="TextBox 11"/>
            <p:cNvSpPr txBox="1"/>
            <p:nvPr/>
          </p:nvSpPr>
          <p:spPr>
            <a:xfrm>
              <a:off x="6409182" y="2355850"/>
              <a:ext cx="2338872"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Appraisal criteria</a:t>
              </a:r>
            </a:p>
          </p:txBody>
        </p:sp>
        <p:sp>
          <p:nvSpPr>
            <p:cNvPr id="12" name="TextBox 12"/>
            <p:cNvSpPr txBox="1"/>
            <p:nvPr/>
          </p:nvSpPr>
          <p:spPr>
            <a:xfrm>
              <a:off x="6410706" y="2876550"/>
              <a:ext cx="1224808"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Relevance</a:t>
              </a:r>
            </a:p>
          </p:txBody>
        </p:sp>
        <p:sp>
          <p:nvSpPr>
            <p:cNvPr id="13" name="TextBox 13"/>
            <p:cNvSpPr txBox="1"/>
            <p:nvPr/>
          </p:nvSpPr>
          <p:spPr>
            <a:xfrm>
              <a:off x="6411849" y="3190875"/>
              <a:ext cx="4019227" cy="308991"/>
            </a:xfrm>
            <a:prstGeom prst="rect">
              <a:avLst/>
            </a:prstGeom>
            <a:noFill/>
            <a:ln>
              <a:noFill/>
            </a:ln>
          </p:spPr>
          <p:txBody>
            <a:bodyPr wrap="none" lIns="0" tIns="0" rIns="0" bIns="0" anchor="t" anchorCtr="0">
              <a:spAutoFit/>
            </a:bodyPr>
            <a:lstStyle/>
            <a:p>
              <a:pPr algn="l"/>
              <a:r>
                <a:rPr lang="en-AU" sz="1580" dirty="0">
                  <a:solidFill>
                    <a:schemeClr val="dk1"/>
                  </a:solidFill>
                  <a:latin typeface="+mn-lt"/>
                  <a:ea typeface="+mn-ea"/>
                  <a:cs typeface="+mn-cs"/>
                </a:rPr>
                <a:t>Does it measure reported access change?</a:t>
              </a:r>
            </a:p>
          </p:txBody>
        </p:sp>
        <p:sp>
          <p:nvSpPr>
            <p:cNvPr id="14" name="TextBox 14"/>
            <p:cNvSpPr txBox="1"/>
            <p:nvPr/>
          </p:nvSpPr>
          <p:spPr>
            <a:xfrm>
              <a:off x="6410706" y="3476625"/>
              <a:ext cx="874395"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Burden</a:t>
              </a:r>
            </a:p>
          </p:txBody>
        </p:sp>
        <p:sp>
          <p:nvSpPr>
            <p:cNvPr id="15" name="TextBox 15"/>
            <p:cNvSpPr txBox="1"/>
            <p:nvPr/>
          </p:nvSpPr>
          <p:spPr>
            <a:xfrm>
              <a:off x="6411849" y="3790950"/>
              <a:ext cx="3415522" cy="308991"/>
            </a:xfrm>
            <a:prstGeom prst="rect">
              <a:avLst/>
            </a:prstGeom>
            <a:noFill/>
            <a:ln>
              <a:noFill/>
            </a:ln>
          </p:spPr>
          <p:txBody>
            <a:bodyPr wrap="none" lIns="0" tIns="0" rIns="0" bIns="0" anchor="t" anchorCtr="0">
              <a:spAutoFit/>
            </a:bodyPr>
            <a:lstStyle/>
            <a:p>
              <a:pPr algn="l"/>
              <a:r>
                <a:rPr lang="en-AU" sz="1580" dirty="0">
                  <a:solidFill>
                    <a:schemeClr val="dk1"/>
                  </a:solidFill>
                  <a:latin typeface="+mn-lt"/>
                  <a:ea typeface="+mn-ea"/>
                  <a:cs typeface="+mn-cs"/>
                </a:rPr>
                <a:t>Recall, contacts and response effort</a:t>
              </a:r>
            </a:p>
          </p:txBody>
        </p:sp>
        <p:sp>
          <p:nvSpPr>
            <p:cNvPr id="16" name="TextBox 16"/>
            <p:cNvSpPr txBox="1"/>
            <p:nvPr/>
          </p:nvSpPr>
          <p:spPr>
            <a:xfrm>
              <a:off x="6410706" y="4076700"/>
              <a:ext cx="1209457"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Feasibility</a:t>
              </a:r>
            </a:p>
          </p:txBody>
        </p:sp>
        <p:sp>
          <p:nvSpPr>
            <p:cNvPr id="17" name="TextBox 17"/>
            <p:cNvSpPr txBox="1"/>
            <p:nvPr/>
          </p:nvSpPr>
          <p:spPr>
            <a:xfrm>
              <a:off x="6411849" y="4391025"/>
              <a:ext cx="3352187" cy="308991"/>
            </a:xfrm>
            <a:prstGeom prst="rect">
              <a:avLst/>
            </a:prstGeom>
            <a:noFill/>
            <a:ln>
              <a:noFill/>
            </a:ln>
          </p:spPr>
          <p:txBody>
            <a:bodyPr wrap="none" lIns="0" tIns="0" rIns="0" bIns="0" anchor="t" anchorCtr="0">
              <a:spAutoFit/>
            </a:bodyPr>
            <a:lstStyle/>
            <a:p>
              <a:pPr algn="l"/>
              <a:r>
                <a:rPr lang="en-AU" sz="1580" dirty="0">
                  <a:solidFill>
                    <a:schemeClr val="dk1"/>
                  </a:solidFill>
                  <a:latin typeface="+mn-lt"/>
                  <a:ea typeface="+mn-ea"/>
                  <a:cs typeface="+mn-cs"/>
                </a:rPr>
                <a:t>Available data, linkage and A3 time</a:t>
              </a:r>
            </a:p>
          </p:txBody>
        </p:sp>
        <p:sp>
          <p:nvSpPr>
            <p:cNvPr id="18" name="TextBox 18"/>
            <p:cNvSpPr txBox="1"/>
            <p:nvPr/>
          </p:nvSpPr>
          <p:spPr>
            <a:xfrm>
              <a:off x="6410706" y="4676775"/>
              <a:ext cx="1586280"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Interpretation</a:t>
              </a:r>
            </a:p>
          </p:txBody>
        </p:sp>
        <p:sp>
          <p:nvSpPr>
            <p:cNvPr id="19" name="TextBox 19"/>
            <p:cNvSpPr txBox="1"/>
            <p:nvPr/>
          </p:nvSpPr>
          <p:spPr>
            <a:xfrm>
              <a:off x="6411849" y="4991100"/>
              <a:ext cx="3498809" cy="308991"/>
            </a:xfrm>
            <a:prstGeom prst="rect">
              <a:avLst/>
            </a:prstGeom>
            <a:noFill/>
            <a:ln>
              <a:noFill/>
            </a:ln>
          </p:spPr>
          <p:txBody>
            <a:bodyPr wrap="none" lIns="0" tIns="0" rIns="0" bIns="0" anchor="t" anchorCtr="0">
              <a:spAutoFit/>
            </a:bodyPr>
            <a:lstStyle/>
            <a:p>
              <a:pPr algn="l"/>
              <a:r>
                <a:rPr lang="en-AU" sz="1580" dirty="0">
                  <a:solidFill>
                    <a:schemeClr val="dk1"/>
                  </a:solidFill>
                  <a:latin typeface="+mn-lt"/>
                  <a:ea typeface="+mn-ea"/>
                  <a:cs typeface="+mn-cs"/>
                </a:rPr>
                <a:t>Which claim can the design support?</a:t>
              </a:r>
            </a:p>
          </p:txBody>
        </p:sp>
      </p:grpSp>
      <p:grpSp>
        <p:nvGrpSpPr>
          <p:cNvPr id="22" name="source-note"/>
          <p:cNvGrpSpPr/>
          <p:nvPr/>
        </p:nvGrpSpPr>
        <p:grpSpPr>
          <a:xfrm>
            <a:off x="679704" y="5962650"/>
            <a:ext cx="9048332" cy="234696"/>
            <a:chOff x="679704" y="5962650"/>
            <a:chExt cx="9048332" cy="234696"/>
          </a:xfrm>
        </p:grpSpPr>
        <p:sp>
          <p:nvSpPr>
            <p:cNvPr id="21" name="TextBox 21"/>
            <p:cNvSpPr txBox="1"/>
            <p:nvPr/>
          </p:nvSpPr>
          <p:spPr>
            <a:xfrm>
              <a:off x="679704" y="5962650"/>
              <a:ext cx="9048332"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Scope: proposed items have not been validated in Joy of Giving. Source roles are distinguished in the review and comparison.</a:t>
              </a:r>
            </a:p>
          </p:txBody>
        </p:sp>
      </p:grpSp>
      <p:sp>
        <p:nvSpPr>
          <p:cNvPr id="23" name="Line 23"/>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4"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25"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8466608" cy="645414"/>
            <a:chOff x="669036" y="527050"/>
            <a:chExt cx="8466608" cy="645414"/>
          </a:xfrm>
        </p:grpSpPr>
        <p:sp>
          <p:nvSpPr>
            <p:cNvPr id="2" name="TextBox 2"/>
            <p:cNvSpPr txBox="1"/>
            <p:nvPr/>
          </p:nvSpPr>
          <p:spPr>
            <a:xfrm>
              <a:off x="669036" y="527050"/>
              <a:ext cx="8466608"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Separate the outcome from its evidence</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6" name="intro"/>
          <p:cNvGrpSpPr/>
          <p:nvPr/>
        </p:nvGrpSpPr>
        <p:grpSpPr>
          <a:xfrm>
            <a:off x="675132" y="1631950"/>
            <a:ext cx="7164875" cy="410718"/>
            <a:chOff x="675132" y="1631950"/>
            <a:chExt cx="7164875" cy="410718"/>
          </a:xfrm>
        </p:grpSpPr>
        <p:sp>
          <p:nvSpPr>
            <p:cNvPr id="5" name="TextBox 5"/>
            <p:cNvSpPr txBox="1"/>
            <p:nvPr/>
          </p:nvSpPr>
          <p:spPr>
            <a:xfrm>
              <a:off x="675132" y="1631950"/>
              <a:ext cx="7164875" cy="410718"/>
            </a:xfrm>
            <a:prstGeom prst="rect">
              <a:avLst/>
            </a:prstGeom>
            <a:noFill/>
            <a:ln>
              <a:noFill/>
            </a:ln>
          </p:spPr>
          <p:txBody>
            <a:bodyPr wrap="none" lIns="0" tIns="0" rIns="0" bIns="0" anchor="t" anchorCtr="0">
              <a:spAutoFit/>
            </a:bodyPr>
            <a:lstStyle/>
            <a:p>
              <a:pPr algn="l"/>
              <a:r>
                <a:rPr lang="en-AU" sz="2100" dirty="0">
                  <a:solidFill>
                    <a:schemeClr val="accent6"/>
                  </a:solidFill>
                  <a:latin typeface="+mn-lt"/>
                  <a:ea typeface="+mn-ea"/>
                  <a:cs typeface="+mn-cs"/>
                </a:rPr>
                <a:t>Desired change and measurement evidence are different</a:t>
              </a:r>
            </a:p>
          </p:txBody>
        </p:sp>
      </p:grpSp>
      <p:grpSp>
        <p:nvGrpSpPr>
          <p:cNvPr id="15" name="outcome-pathway"/>
          <p:cNvGrpSpPr/>
          <p:nvPr/>
        </p:nvGrpSpPr>
        <p:grpSpPr>
          <a:xfrm>
            <a:off x="674370" y="2292350"/>
            <a:ext cx="10133571" cy="1198880"/>
            <a:chOff x="674370" y="2292350"/>
            <a:chExt cx="10133571" cy="1198880"/>
          </a:xfrm>
        </p:grpSpPr>
        <p:sp>
          <p:nvSpPr>
            <p:cNvPr id="7" name="TextBox 7"/>
            <p:cNvSpPr txBox="1"/>
            <p:nvPr/>
          </p:nvSpPr>
          <p:spPr>
            <a:xfrm>
              <a:off x="677418" y="2292350"/>
              <a:ext cx="1085945"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ACTIVITY</a:t>
              </a:r>
            </a:p>
          </p:txBody>
        </p:sp>
        <p:sp>
          <p:nvSpPr>
            <p:cNvPr id="8" name="TextBox 8"/>
            <p:cNvSpPr txBox="1"/>
            <p:nvPr/>
          </p:nvSpPr>
          <p:spPr>
            <a:xfrm>
              <a:off x="674370" y="2682875"/>
              <a:ext cx="2605979" cy="440055"/>
            </a:xfrm>
            <a:prstGeom prst="rect">
              <a:avLst/>
            </a:prstGeom>
            <a:noFill/>
            <a:ln>
              <a:noFill/>
            </a:ln>
          </p:spPr>
          <p:txBody>
            <a:bodyPr wrap="none" lIns="0" tIns="0" rIns="0" bIns="0" anchor="t" anchorCtr="0">
              <a:spAutoFit/>
            </a:bodyPr>
            <a:lstStyle/>
            <a:p>
              <a:pPr algn="l"/>
              <a:r>
                <a:rPr lang="en-AU" sz="2250" b="1" dirty="0">
                  <a:solidFill>
                    <a:schemeClr val="accent1"/>
                  </a:solidFill>
                  <a:latin typeface="+mn-lt"/>
                  <a:ea typeface="+mn-ea"/>
                  <a:cs typeface="+mn-cs"/>
                </a:rPr>
                <a:t>Toy redistribution</a:t>
              </a:r>
            </a:p>
          </p:txBody>
        </p:sp>
        <p:sp>
          <p:nvSpPr>
            <p:cNvPr id="9" name="TextBox 9"/>
            <p:cNvSpPr txBox="1"/>
            <p:nvPr/>
          </p:nvSpPr>
          <p:spPr>
            <a:xfrm>
              <a:off x="4087368" y="2292350"/>
              <a:ext cx="981552"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OUTPUT</a:t>
              </a:r>
            </a:p>
          </p:txBody>
        </p:sp>
        <p:sp>
          <p:nvSpPr>
            <p:cNvPr id="10" name="TextBox 10"/>
            <p:cNvSpPr txBox="1"/>
            <p:nvPr/>
          </p:nvSpPr>
          <p:spPr>
            <a:xfrm>
              <a:off x="4084320" y="2682875"/>
              <a:ext cx="2136842" cy="440055"/>
            </a:xfrm>
            <a:prstGeom prst="rect">
              <a:avLst/>
            </a:prstGeom>
            <a:noFill/>
            <a:ln>
              <a:noFill/>
            </a:ln>
          </p:spPr>
          <p:txBody>
            <a:bodyPr wrap="none" lIns="0" tIns="0" rIns="0" bIns="0" anchor="t" anchorCtr="0">
              <a:spAutoFit/>
            </a:bodyPr>
            <a:lstStyle/>
            <a:p>
              <a:pPr algn="l"/>
              <a:r>
                <a:rPr lang="en-AU" sz="2250" b="1" dirty="0">
                  <a:solidFill>
                    <a:schemeClr val="accent1"/>
                  </a:solidFill>
                  <a:latin typeface="+mn-lt"/>
                  <a:ea typeface="+mn-ea"/>
                  <a:cs typeface="+mn-cs"/>
                </a:rPr>
                <a:t>Items received</a:t>
              </a:r>
            </a:p>
          </p:txBody>
        </p:sp>
        <p:sp>
          <p:nvSpPr>
            <p:cNvPr id="11" name="TextBox 11"/>
            <p:cNvSpPr txBox="1"/>
            <p:nvPr/>
          </p:nvSpPr>
          <p:spPr>
            <a:xfrm>
              <a:off x="7611618" y="2292350"/>
              <a:ext cx="2481072"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INTENDED OUTCOME</a:t>
              </a:r>
            </a:p>
          </p:txBody>
        </p:sp>
        <p:sp>
          <p:nvSpPr>
            <p:cNvPr id="12" name="TextBox 12"/>
            <p:cNvSpPr txBox="1"/>
            <p:nvPr/>
          </p:nvSpPr>
          <p:spPr>
            <a:xfrm>
              <a:off x="7608570" y="2670175"/>
              <a:ext cx="3199371" cy="821055"/>
            </a:xfrm>
            <a:prstGeom prst="rect">
              <a:avLst/>
            </a:prstGeom>
            <a:noFill/>
            <a:ln>
              <a:noFill/>
            </a:ln>
          </p:spPr>
          <p:txBody>
            <a:bodyPr wrap="none" lIns="0" tIns="0" rIns="0" bIns="0" anchor="t" anchorCtr="0">
              <a:spAutoFit/>
            </a:bodyPr>
            <a:lstStyle/>
            <a:p>
              <a:pPr algn="l">
                <a:lnSpc>
                  <a:spcPts val="3000"/>
                </a:lnSpc>
              </a:pPr>
              <a:r>
                <a:rPr lang="en-AU" sz="2250" b="1" dirty="0">
                  <a:solidFill>
                    <a:schemeClr val="accent1"/>
                  </a:solidFill>
                  <a:latin typeface="+mn-lt"/>
                  <a:ea typeface="+mn-ea"/>
                  <a:cs typeface="+mn-cs"/>
                </a:rPr>
                <a:t>Improved access to</a:t>
              </a:r>
              <a:br>
                <a:rPr lang="en-AU" sz="2250" b="1" dirty="0">
                  <a:solidFill>
                    <a:schemeClr val="accent1"/>
                  </a:solidFill>
                  <a:latin typeface="+mn-lt"/>
                  <a:ea typeface="+mn-ea"/>
                  <a:cs typeface="+mn-cs"/>
                </a:rPr>
              </a:br>
              <a:r>
                <a:rPr lang="en-AU" sz="2250" b="1" dirty="0">
                  <a:solidFill>
                    <a:schemeClr val="accent1"/>
                  </a:solidFill>
                  <a:latin typeface="+mn-lt"/>
                  <a:ea typeface="+mn-ea"/>
                  <a:cs typeface="+mn-cs"/>
                </a:rPr>
                <a:t>suitable play resources</a:t>
              </a:r>
            </a:p>
          </p:txBody>
        </p:sp>
        <p:sp>
          <p:nvSpPr>
            <p:cNvPr id="13" name="Line 13"/>
            <p:cNvSpPr/>
            <p:nvPr/>
          </p:nvSpPr>
          <p:spPr>
            <a:xfrm>
              <a:off x="3514725" y="2914650"/>
              <a:ext cx="390525" cy="1"/>
            </a:xfrm>
            <a:prstGeom prst="line">
              <a:avLst/>
            </a:prstGeom>
            <a:noFill/>
            <a:ln w="28575">
              <a:solidFill>
                <a:schemeClr val="accent2"/>
              </a:solidFill>
              <a:tailEnd type="arrow" w="lg" len="lg"/>
            </a:ln>
          </p:spPr>
        </p:sp>
        <p:sp>
          <p:nvSpPr>
            <p:cNvPr id="14" name="Line 14"/>
            <p:cNvSpPr/>
            <p:nvPr/>
          </p:nvSpPr>
          <p:spPr>
            <a:xfrm>
              <a:off x="6981825" y="2914650"/>
              <a:ext cx="447675" cy="1"/>
            </a:xfrm>
            <a:prstGeom prst="line">
              <a:avLst/>
            </a:prstGeom>
            <a:noFill/>
            <a:ln w="28575">
              <a:solidFill>
                <a:schemeClr val="accent2"/>
              </a:solidFill>
              <a:tailEnd type="arrow" w="lg" len="lg"/>
            </a:ln>
          </p:spPr>
        </p:sp>
      </p:grpSp>
      <p:grpSp>
        <p:nvGrpSpPr>
          <p:cNvPr id="19" name="measurement-evidence"/>
          <p:cNvGrpSpPr/>
          <p:nvPr/>
        </p:nvGrpSpPr>
        <p:grpSpPr>
          <a:xfrm>
            <a:off x="685800" y="3895725"/>
            <a:ext cx="10820400" cy="1047750"/>
            <a:chOff x="685800" y="3895725"/>
            <a:chExt cx="10820400" cy="1047750"/>
          </a:xfrm>
        </p:grpSpPr>
        <p:sp>
          <p:nvSpPr>
            <p:cNvPr id="16" name="Rectangle 16"/>
            <p:cNvSpPr/>
            <p:nvPr/>
          </p:nvSpPr>
          <p:spPr>
            <a:xfrm>
              <a:off x="685800" y="3895725"/>
              <a:ext cx="10820400" cy="1047750"/>
            </a:xfrm>
            <a:prstGeom prst="rect">
              <a:avLst/>
            </a:prstGeom>
            <a:solidFill>
              <a:schemeClr val="accent5"/>
            </a:solidFill>
            <a:ln>
              <a:noFill/>
            </a:ln>
          </p:spPr>
        </p:sp>
        <p:sp>
          <p:nvSpPr>
            <p:cNvPr id="17" name="TextBox 17"/>
            <p:cNvSpPr txBox="1"/>
            <p:nvPr/>
          </p:nvSpPr>
          <p:spPr>
            <a:xfrm>
              <a:off x="886968" y="4006850"/>
              <a:ext cx="3120337"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MEASUREMENT EVIDENCE</a:t>
              </a:r>
            </a:p>
          </p:txBody>
        </p:sp>
        <p:sp>
          <p:nvSpPr>
            <p:cNvPr id="18" name="TextBox 18"/>
            <p:cNvSpPr txBox="1"/>
            <p:nvPr/>
          </p:nvSpPr>
          <p:spPr>
            <a:xfrm>
              <a:off x="883920" y="4359275"/>
              <a:ext cx="5263258" cy="440055"/>
            </a:xfrm>
            <a:prstGeom prst="rect">
              <a:avLst/>
            </a:prstGeom>
            <a:noFill/>
            <a:ln>
              <a:noFill/>
            </a:ln>
          </p:spPr>
          <p:txBody>
            <a:bodyPr wrap="none" lIns="0" tIns="0" rIns="0" bIns="0" anchor="t" anchorCtr="0">
              <a:spAutoFit/>
            </a:bodyPr>
            <a:lstStyle/>
            <a:p>
              <a:pPr algn="l"/>
              <a:r>
                <a:rPr lang="en-AU" sz="2250" b="1" dirty="0">
                  <a:solidFill>
                    <a:schemeClr val="accent1"/>
                  </a:solidFill>
                  <a:latin typeface="+mn-lt"/>
                  <a:ea typeface="+mn-ea"/>
                  <a:cs typeface="+mn-cs"/>
                </a:rPr>
                <a:t>Family-reported access change (Q1)</a:t>
              </a:r>
            </a:p>
          </p:txBody>
        </p:sp>
      </p:grpSp>
      <p:grpSp>
        <p:nvGrpSpPr>
          <p:cNvPr id="21" name="service-boundary"/>
          <p:cNvGrpSpPr/>
          <p:nvPr/>
        </p:nvGrpSpPr>
        <p:grpSpPr>
          <a:xfrm>
            <a:off x="676656" y="5410200"/>
            <a:ext cx="7635364" cy="352044"/>
            <a:chOff x="676656" y="5410200"/>
            <a:chExt cx="7635364" cy="352044"/>
          </a:xfrm>
        </p:grpSpPr>
        <p:sp>
          <p:nvSpPr>
            <p:cNvPr id="20" name="TextBox 20"/>
            <p:cNvSpPr txBox="1"/>
            <p:nvPr/>
          </p:nvSpPr>
          <p:spPr>
            <a:xfrm>
              <a:off x="676656" y="5410200"/>
              <a:ext cx="7635364"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Satisfaction describes service experience; item counts describe output.</a:t>
              </a:r>
            </a:p>
          </p:txBody>
        </p:sp>
      </p:grpSp>
      <p:grpSp>
        <p:nvGrpSpPr>
          <p:cNvPr id="23" name="source-note"/>
          <p:cNvGrpSpPr/>
          <p:nvPr/>
        </p:nvGrpSpPr>
        <p:grpSpPr>
          <a:xfrm>
            <a:off x="679704" y="5962650"/>
            <a:ext cx="8037059" cy="234696"/>
            <a:chOff x="679704" y="5962650"/>
            <a:chExt cx="8037059" cy="234696"/>
          </a:xfrm>
        </p:grpSpPr>
        <p:sp>
          <p:nvSpPr>
            <p:cNvPr id="22" name="TextBox 22"/>
            <p:cNvSpPr txBox="1"/>
            <p:nvPr/>
          </p:nvSpPr>
          <p:spPr>
            <a:xfrm>
              <a:off x="679704" y="5962650"/>
              <a:ext cx="8037059"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Proposed logic model. Course framework: Nguyen 2026b, pp.25–31. Child development remains outside scope.</a:t>
              </a:r>
            </a:p>
          </p:txBody>
        </p:sp>
      </p:grpSp>
      <p:sp>
        <p:nvSpPr>
          <p:cNvPr id="24" name="Line 24"/>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5"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26"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7798562" cy="645414"/>
            <a:chOff x="669036" y="527050"/>
            <a:chExt cx="7798562" cy="645414"/>
          </a:xfrm>
        </p:grpSpPr>
        <p:sp>
          <p:nvSpPr>
            <p:cNvPr id="2" name="TextBox 2"/>
            <p:cNvSpPr txBox="1"/>
            <p:nvPr/>
          </p:nvSpPr>
          <p:spPr>
            <a:xfrm>
              <a:off x="669036" y="527050"/>
              <a:ext cx="7798562"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Evidence informs indicator selection</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6" name="intro"/>
          <p:cNvGrpSpPr/>
          <p:nvPr/>
        </p:nvGrpSpPr>
        <p:grpSpPr>
          <a:xfrm>
            <a:off x="675513" y="1603375"/>
            <a:ext cx="6619891" cy="396050"/>
            <a:chOff x="675513" y="1603375"/>
            <a:chExt cx="6619891" cy="396050"/>
          </a:xfrm>
        </p:grpSpPr>
        <p:sp>
          <p:nvSpPr>
            <p:cNvPr id="5" name="TextBox 5"/>
            <p:cNvSpPr txBox="1"/>
            <p:nvPr/>
          </p:nvSpPr>
          <p:spPr>
            <a:xfrm>
              <a:off x="675513" y="1603375"/>
              <a:ext cx="6619891" cy="396050"/>
            </a:xfrm>
            <a:prstGeom prst="rect">
              <a:avLst/>
            </a:prstGeom>
            <a:noFill/>
            <a:ln>
              <a:noFill/>
            </a:ln>
          </p:spPr>
          <p:txBody>
            <a:bodyPr wrap="none" lIns="0" tIns="0" rIns="0" bIns="0" anchor="t" anchorCtr="0">
              <a:spAutoFit/>
            </a:bodyPr>
            <a:lstStyle/>
            <a:p>
              <a:pPr algn="l"/>
              <a:r>
                <a:rPr lang="en-AU" sz="2020" dirty="0">
                  <a:solidFill>
                    <a:schemeClr val="accent6"/>
                  </a:solidFill>
                  <a:latin typeface="+mn-lt"/>
                  <a:ea typeface="+mn-ea"/>
                  <a:cs typeface="+mn-cs"/>
                </a:rPr>
                <a:t>Sector evidence changes which questions are retained</a:t>
              </a:r>
            </a:p>
          </p:txBody>
        </p:sp>
      </p:grpSp>
      <p:graphicFrame>
        <p:nvGraphicFramePr>
          <p:cNvPr id="7" name="concept-map"/>
          <p:cNvGraphicFramePr>
            <a:graphicFrameLocks noGrp="1"/>
          </p:cNvGraphicFramePr>
          <p:nvPr/>
        </p:nvGraphicFramePr>
        <p:xfrm>
          <a:off x="685800" y="2085975"/>
          <a:ext cx="10820400" cy="3124200"/>
        </p:xfrm>
        <a:graphic>
          <a:graphicData uri="http://schemas.openxmlformats.org/drawingml/2006/table">
            <a:tbl>
              <a:tblPr firstRow="1" bandRow="0">
                <a:tableStyleId>{5C22544A-7EE6-4342-B048-85BDC9FD1C3A}</a:tableStyleId>
              </a:tblPr>
              <a:tblGrid>
                <a:gridCol w="2124075"/>
                <a:gridCol w="3952875"/>
                <a:gridCol w="4743450"/>
              </a:tblGrid>
              <a:tr h="457200">
                <a:tc>
                  <a:txBody>
                    <a:bodyPr/>
                    <a:lstStyle/>
                    <a:p>
                      <a:pPr/>
                      <a:r>
                        <a:rPr lang="en-AU" sz="1580" b="1">
                          <a:solidFill>
                            <a:schemeClr val="accent1"/>
                          </a:solidFill>
                          <a:latin typeface="Arial"/>
                          <a:ea typeface="Microsoft YaHei"/>
                          <a:cs typeface="Arial"/>
                        </a:rPr>
                        <a:t>Concept</a:t>
                      </a:r>
                    </a:p>
                  </a:txBody>
                  <a:tcPr anchor="ctr" marL="133350" marR="133350" marT="76200" marB="76200">
                    <a:lnB w="9525">
                      <a:solidFill>
                        <a:srgbClr val="D6E0E7"/>
                      </a:solidFill>
                      <a:prstDash val="solid"/>
                    </a:lnB>
                    <a:solidFill>
                      <a:schemeClr val="accent5"/>
                    </a:solidFill>
                  </a:tcPr>
                </a:tc>
                <a:tc>
                  <a:txBody>
                    <a:bodyPr/>
                    <a:lstStyle/>
                    <a:p>
                      <a:pPr/>
                      <a:r>
                        <a:rPr lang="en-AU" sz="1580" b="1">
                          <a:solidFill>
                            <a:schemeClr val="accent1"/>
                          </a:solidFill>
                          <a:latin typeface="Arial"/>
                          <a:ea typeface="Microsoft YaHei"/>
                          <a:cs typeface="Arial"/>
                        </a:rPr>
                        <a:t>Evidence / rationale</a:t>
                      </a:r>
                    </a:p>
                  </a:txBody>
                  <a:tcPr anchor="ctr" marL="133350" marR="133350" marT="76200" marB="76200">
                    <a:lnB w="9525">
                      <a:solidFill>
                        <a:srgbClr val="D6E0E7"/>
                      </a:solidFill>
                      <a:prstDash val="solid"/>
                    </a:lnB>
                    <a:solidFill>
                      <a:schemeClr val="accent5"/>
                    </a:solidFill>
                  </a:tcPr>
                </a:tc>
                <a:tc>
                  <a:txBody>
                    <a:bodyPr/>
                    <a:lstStyle/>
                    <a:p>
                      <a:pPr/>
                      <a:r>
                        <a:rPr lang="en-AU" sz="1580" b="1">
                          <a:solidFill>
                            <a:schemeClr val="accent1"/>
                          </a:solidFill>
                          <a:latin typeface="Arial"/>
                          <a:ea typeface="Microsoft YaHei"/>
                          <a:cs typeface="Arial"/>
                        </a:rPr>
                        <a:t>Design choice / boundary</a:t>
                      </a:r>
                    </a:p>
                  </a:txBody>
                  <a:tcPr anchor="ctr" marL="133350" marR="133350" marT="76200" marB="76200">
                    <a:lnB w="9525">
                      <a:solidFill>
                        <a:srgbClr val="D6E0E7"/>
                      </a:solidFill>
                      <a:prstDash val="solid"/>
                    </a:lnB>
                    <a:solidFill>
                      <a:schemeClr val="accent5"/>
                    </a:solidFill>
                  </a:tcPr>
                </a:tc>
              </a:tr>
              <a:tr h="666750">
                <a:tc>
                  <a:txBody>
                    <a:bodyPr/>
                    <a:lstStyle/>
                    <a:p>
                      <a:pPr/>
                      <a:r>
                        <a:rPr lang="en-AU" sz="1580" b="1">
                          <a:solidFill>
                            <a:schemeClr val="dk1"/>
                          </a:solidFill>
                          <a:latin typeface="Arial"/>
                          <a:ea typeface="Microsoft YaHei"/>
                          <a:cs typeface="Arial"/>
                        </a:rPr>
                        <a:t>Availability</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TLA: wider choice; uneven service access</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Q1 overall change; no separate availability item</a:t>
                      </a:r>
                    </a:p>
                  </a:txBody>
                  <a:tcPr anchor="ctr" marL="133350" marR="133350" marT="76200" marB="76200">
                    <a:lnB w="9525">
                      <a:solidFill>
                        <a:srgbClr val="D6E0E7"/>
                      </a:solidFill>
                      <a:prstDash val="solid"/>
                    </a:lnB>
                    <a:solidFill>
                      <a:schemeClr val="lt1"/>
                    </a:solidFill>
                  </a:tcPr>
                </a:tc>
              </a:tr>
              <a:tr h="666750">
                <a:tc>
                  <a:txBody>
                    <a:bodyPr/>
                    <a:lstStyle/>
                    <a:p>
                      <a:pPr/>
                      <a:r>
                        <a:rPr lang="en-AU" sz="1580" b="1">
                          <a:solidFill>
                            <a:schemeClr val="dk1"/>
                          </a:solidFill>
                          <a:latin typeface="Arial"/>
                          <a:ea typeface="Microsoft YaHei"/>
                          <a:cs typeface="Arial"/>
                        </a:rPr>
                        <a:t>Affordability</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TLA: saving money is a joining motive</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Retain Q2 cost context; no cost-change estimate</a:t>
                      </a:r>
                    </a:p>
                  </a:txBody>
                  <a:tcPr anchor="ctr" marL="133350" marR="133350" marT="76200" marB="76200">
                    <a:lnB w="9525">
                      <a:solidFill>
                        <a:srgbClr val="D6E0E7"/>
                      </a:solidFill>
                      <a:prstDash val="solid"/>
                    </a:lnB>
                    <a:solidFill>
                      <a:schemeClr val="lt1"/>
                    </a:solidFill>
                  </a:tcPr>
                </a:tc>
              </a:tr>
              <a:tr h="666750">
                <a:tc>
                  <a:txBody>
                    <a:bodyPr/>
                    <a:lstStyle/>
                    <a:p>
                      <a:pPr/>
                      <a:r>
                        <a:rPr lang="en-AU" sz="1580" b="1">
                          <a:solidFill>
                            <a:schemeClr val="dk1"/>
                          </a:solidFill>
                          <a:latin typeface="Arial"/>
                          <a:ea typeface="Microsoft YaHei"/>
                          <a:cs typeface="Arial"/>
                        </a:rPr>
                        <a:t>Suitability</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TLA names developmentally appropriate toys</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Retain Q3 perceived fit with this child’s needs</a:t>
                      </a:r>
                    </a:p>
                  </a:txBody>
                  <a:tcPr anchor="ctr" marL="133350" marR="133350" marT="76200" marB="76200">
                    <a:lnB w="9525">
                      <a:solidFill>
                        <a:srgbClr val="D6E0E7"/>
                      </a:solidFill>
                      <a:prstDash val="solid"/>
                    </a:lnB>
                    <a:solidFill>
                      <a:schemeClr val="lt1"/>
                    </a:solidFill>
                  </a:tcPr>
                </a:tc>
              </a:tr>
              <a:tr h="666750">
                <a:tc>
                  <a:txBody>
                    <a:bodyPr/>
                    <a:lstStyle/>
                    <a:p>
                      <a:pPr/>
                      <a:r>
                        <a:rPr lang="en-AU" sz="1580" b="1">
                          <a:solidFill>
                            <a:schemeClr val="dk1"/>
                          </a:solidFill>
                          <a:latin typeface="Arial"/>
                          <a:ea typeface="Microsoft YaHei"/>
                          <a:cs typeface="Arial"/>
                        </a:rPr>
                        <a:t>Use / constraints</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Systems lens: receipt may not mean use</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Q4 use; Q5 changes and barriers</a:t>
                      </a:r>
                    </a:p>
                  </a:txBody>
                  <a:tcPr anchor="ctr" marL="133350" marR="133350" marT="76200" marB="76200">
                    <a:lnB w="9525">
                      <a:solidFill>
                        <a:srgbClr val="D6E0E7"/>
                      </a:solidFill>
                      <a:prstDash val="solid"/>
                    </a:lnB>
                    <a:solidFill>
                      <a:schemeClr val="lt1"/>
                    </a:solidFill>
                  </a:tcPr>
                </a:tc>
              </a:tr>
            </a:tbl>
          </a:graphicData>
        </a:graphic>
      </p:graphicFrame>
      <p:grpSp>
        <p:nvGrpSpPr>
          <p:cNvPr id="10" name="transfer-boundary"/>
          <p:cNvGrpSpPr/>
          <p:nvPr/>
        </p:nvGrpSpPr>
        <p:grpSpPr>
          <a:xfrm>
            <a:off x="677418" y="5349875"/>
            <a:ext cx="8488686" cy="588391"/>
            <a:chOff x="677418" y="5349875"/>
            <a:chExt cx="8488686" cy="588391"/>
          </a:xfrm>
        </p:grpSpPr>
        <p:sp>
          <p:nvSpPr>
            <p:cNvPr id="8" name="TextBox 8"/>
            <p:cNvSpPr txBox="1"/>
            <p:nvPr/>
          </p:nvSpPr>
          <p:spPr>
            <a:xfrm>
              <a:off x="677418" y="5349875"/>
              <a:ext cx="8133987"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TLA is a sector submission about lending; redistribution needs local testing.</a:t>
              </a:r>
            </a:p>
          </p:txBody>
        </p:sp>
        <p:sp>
          <p:nvSpPr>
            <p:cNvPr id="9" name="TextBox 9"/>
            <p:cNvSpPr txBox="1"/>
            <p:nvPr/>
          </p:nvSpPr>
          <p:spPr>
            <a:xfrm>
              <a:off x="677799" y="5629275"/>
              <a:ext cx="8488305" cy="308991"/>
            </a:xfrm>
            <a:prstGeom prst="rect">
              <a:avLst/>
            </a:prstGeom>
            <a:noFill/>
            <a:ln>
              <a:noFill/>
            </a:ln>
          </p:spPr>
          <p:txBody>
            <a:bodyPr wrap="none" lIns="0" tIns="0" rIns="0" bIns="0" anchor="t" anchorCtr="0">
              <a:spAutoFit/>
            </a:bodyPr>
            <a:lstStyle/>
            <a:p>
              <a:pPr algn="l"/>
              <a:r>
                <a:rPr lang="en-AU" sz="1580" dirty="0">
                  <a:solidFill>
                    <a:schemeClr val="dk1"/>
                  </a:solidFill>
                  <a:latin typeface="+mn-lt"/>
                  <a:ea typeface="+mn-ea"/>
                  <a:cs typeface="+mn-cs"/>
                </a:rPr>
                <a:t>These candidate concepts and item roles do not form a validated three-dimensional scale.</a:t>
              </a:r>
            </a:p>
          </p:txBody>
        </p:sp>
      </p:grpSp>
      <p:grpSp>
        <p:nvGrpSpPr>
          <p:cNvPr id="12" name="source-note"/>
          <p:cNvGrpSpPr/>
          <p:nvPr/>
        </p:nvGrpSpPr>
        <p:grpSpPr>
          <a:xfrm>
            <a:off x="679704" y="5962650"/>
            <a:ext cx="7770163" cy="234696"/>
            <a:chOff x="679704" y="5962650"/>
            <a:chExt cx="7770163" cy="234696"/>
          </a:xfrm>
        </p:grpSpPr>
        <p:sp>
          <p:nvSpPr>
            <p:cNvPr id="11" name="TextBox 11"/>
            <p:cNvSpPr txBox="1"/>
            <p:nvPr/>
          </p:nvSpPr>
          <p:spPr>
            <a:xfrm>
              <a:off x="679704" y="5962650"/>
              <a:ext cx="7770163"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Sources: Toy Libraries Australia 2024, pp.2–3; Nguyen 2026c. Question selection is the author’s judgement.</a:t>
              </a:r>
            </a:p>
          </p:txBody>
        </p:sp>
      </p:grpSp>
      <p:sp>
        <p:nvSpPr>
          <p:cNvPr id="13" name="Line 13"/>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14"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15"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8638559" cy="645414"/>
            <a:chOff x="669036" y="527050"/>
            <a:chExt cx="8638559" cy="645414"/>
          </a:xfrm>
        </p:grpSpPr>
        <p:sp>
          <p:nvSpPr>
            <p:cNvPr id="2" name="TextBox 2"/>
            <p:cNvSpPr txBox="1"/>
            <p:nvPr/>
          </p:nvSpPr>
          <p:spPr>
            <a:xfrm>
              <a:off x="669036" y="527050"/>
              <a:ext cx="8638559"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Measurement options and design choice</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aphicFrame>
        <p:nvGraphicFramePr>
          <p:cNvPr id="5" name="options-comparison"/>
          <p:cNvGraphicFramePr>
            <a:graphicFrameLocks noGrp="1"/>
          </p:cNvGraphicFramePr>
          <p:nvPr/>
        </p:nvGraphicFramePr>
        <p:xfrm>
          <a:off x="685800" y="1943100"/>
          <a:ext cx="10820400" cy="3276600"/>
        </p:xfrm>
        <a:graphic>
          <a:graphicData uri="http://schemas.openxmlformats.org/drawingml/2006/table">
            <a:tbl>
              <a:tblPr firstRow="1" bandRow="0">
                <a:tableStyleId>{5C22544A-7EE6-4342-B048-85BDC9FD1C3A}</a:tableStyleId>
              </a:tblPr>
              <a:tblGrid>
                <a:gridCol w="1962150"/>
                <a:gridCol w="2076450"/>
                <a:gridCol w="1809750"/>
                <a:gridCol w="2209800"/>
                <a:gridCol w="2762250"/>
              </a:tblGrid>
              <a:tr h="495300">
                <a:tc>
                  <a:txBody>
                    <a:bodyPr/>
                    <a:lstStyle/>
                    <a:p>
                      <a:pPr/>
                      <a:r>
                        <a:rPr lang="en-AU" sz="1580" b="1">
                          <a:solidFill>
                            <a:schemeClr val="accent1"/>
                          </a:solidFill>
                          <a:latin typeface="Arial"/>
                          <a:ea typeface="Microsoft YaHei"/>
                          <a:cs typeface="Arial"/>
                        </a:rPr>
                        <a:t>Option</a:t>
                      </a:r>
                    </a:p>
                  </a:txBody>
                  <a:tcPr anchor="ctr" marL="133350" marR="133350" marT="76200" marB="76200">
                    <a:lnB w="9525">
                      <a:solidFill>
                        <a:srgbClr val="D6E0E7"/>
                      </a:solidFill>
                      <a:prstDash val="solid"/>
                    </a:lnB>
                    <a:solidFill>
                      <a:schemeClr val="accent5"/>
                    </a:solidFill>
                  </a:tcPr>
                </a:tc>
                <a:tc>
                  <a:txBody>
                    <a:bodyPr/>
                    <a:lstStyle/>
                    <a:p>
                      <a:pPr/>
                      <a:r>
                        <a:rPr lang="en-AU" sz="1580" b="1">
                          <a:solidFill>
                            <a:schemeClr val="accent1"/>
                          </a:solidFill>
                          <a:latin typeface="Arial"/>
                          <a:ea typeface="Microsoft YaHei"/>
                          <a:cs typeface="Arial"/>
                        </a:rPr>
                        <a:t>Relevance</a:t>
                      </a:r>
                    </a:p>
                  </a:txBody>
                  <a:tcPr anchor="ctr" marL="133350" marR="133350" marT="76200" marB="76200">
                    <a:lnB w="9525">
                      <a:solidFill>
                        <a:srgbClr val="D6E0E7"/>
                      </a:solidFill>
                      <a:prstDash val="solid"/>
                    </a:lnB>
                    <a:solidFill>
                      <a:schemeClr val="accent5"/>
                    </a:solidFill>
                  </a:tcPr>
                </a:tc>
                <a:tc>
                  <a:txBody>
                    <a:bodyPr/>
                    <a:lstStyle/>
                    <a:p>
                      <a:pPr/>
                      <a:r>
                        <a:rPr lang="en-AU" sz="1580" b="1">
                          <a:solidFill>
                            <a:schemeClr val="accent1"/>
                          </a:solidFill>
                          <a:latin typeface="Arial"/>
                          <a:ea typeface="Microsoft YaHei"/>
                          <a:cs typeface="Arial"/>
                        </a:rPr>
                        <a:t>Burden</a:t>
                      </a:r>
                    </a:p>
                  </a:txBody>
                  <a:tcPr anchor="ctr" marL="133350" marR="133350" marT="76200" marB="76200">
                    <a:lnB w="9525">
                      <a:solidFill>
                        <a:srgbClr val="D6E0E7"/>
                      </a:solidFill>
                      <a:prstDash val="solid"/>
                    </a:lnB>
                    <a:solidFill>
                      <a:schemeClr val="accent5"/>
                    </a:solidFill>
                  </a:tcPr>
                </a:tc>
                <a:tc>
                  <a:txBody>
                    <a:bodyPr/>
                    <a:lstStyle/>
                    <a:p>
                      <a:pPr/>
                      <a:r>
                        <a:rPr lang="en-AU" sz="1580" b="1">
                          <a:solidFill>
                            <a:schemeClr val="accent1"/>
                          </a:solidFill>
                          <a:latin typeface="Arial"/>
                          <a:ea typeface="Microsoft YaHei"/>
                          <a:cs typeface="Arial"/>
                        </a:rPr>
                        <a:t>Feasibility</a:t>
                      </a:r>
                    </a:p>
                  </a:txBody>
                  <a:tcPr anchor="ctr" marL="133350" marR="133350" marT="76200" marB="76200">
                    <a:lnB w="9525">
                      <a:solidFill>
                        <a:srgbClr val="D6E0E7"/>
                      </a:solidFill>
                      <a:prstDash val="solid"/>
                    </a:lnB>
                    <a:solidFill>
                      <a:schemeClr val="accent5"/>
                    </a:solidFill>
                  </a:tcPr>
                </a:tc>
                <a:tc>
                  <a:txBody>
                    <a:bodyPr/>
                    <a:lstStyle/>
                    <a:p>
                      <a:pPr/>
                      <a:r>
                        <a:rPr lang="en-AU" sz="1580" b="1">
                          <a:solidFill>
                            <a:schemeClr val="accent1"/>
                          </a:solidFill>
                          <a:latin typeface="Arial"/>
                          <a:ea typeface="Microsoft YaHei"/>
                          <a:cs typeface="Arial"/>
                        </a:rPr>
                        <a:t>Interpretation</a:t>
                      </a:r>
                    </a:p>
                  </a:txBody>
                  <a:tcPr anchor="ctr" marL="133350" marR="133350" marT="76200" marB="76200">
                    <a:lnB w="9525">
                      <a:solidFill>
                        <a:srgbClr val="D6E0E7"/>
                      </a:solidFill>
                      <a:prstDash val="solid"/>
                    </a:lnB>
                    <a:solidFill>
                      <a:schemeClr val="accent5"/>
                    </a:solidFill>
                  </a:tcPr>
                </a:tc>
              </a:tr>
              <a:tr h="628650">
                <a:tc>
                  <a:txBody>
                    <a:bodyPr/>
                    <a:lstStyle/>
                    <a:p>
                      <a:pPr/>
                      <a:r>
                        <a:rPr lang="en-AU" sz="1580" b="1">
                          <a:solidFill>
                            <a:schemeClr val="dk1"/>
                          </a:solidFill>
                          <a:latin typeface="Arial"/>
                          <a:ea typeface="Microsoft YaHei"/>
                          <a:cs typeface="Arial"/>
                        </a:rPr>
                        <a:t>Records</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Indirect: activity</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Low if existing</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If usable records</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Reach and output</a:t>
                      </a:r>
                    </a:p>
                  </a:txBody>
                  <a:tcPr anchor="ctr" marL="133350" marR="133350" marT="76200" marB="76200">
                    <a:lnB w="9525">
                      <a:solidFill>
                        <a:srgbClr val="D6E0E7"/>
                      </a:solidFill>
                      <a:prstDash val="solid"/>
                    </a:lnB>
                    <a:solidFill>
                      <a:schemeClr val="lt1"/>
                    </a:solidFill>
                  </a:tcPr>
                </a:tc>
              </a:tr>
              <a:tr h="628650">
                <a:tc>
                  <a:txBody>
                    <a:bodyPr/>
                    <a:lstStyle/>
                    <a:p>
                      <a:pPr/>
                      <a:r>
                        <a:rPr lang="en-AU" sz="1580" b="1">
                          <a:solidFill>
                            <a:schemeClr val="dk1"/>
                          </a:solidFill>
                          <a:latin typeface="Arial"/>
                          <a:ea typeface="Microsoft YaHei"/>
                          <a:cs typeface="Arial"/>
                        </a:rPr>
                        <a:t>Satisfaction</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Service experience</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Low</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One contact</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Positive ≠ access change</a:t>
                      </a:r>
                    </a:p>
                  </a:txBody>
                  <a:tcPr anchor="ctr" marL="133350" marR="133350" marT="76200" marB="76200">
                    <a:lnB w="9525">
                      <a:solidFill>
                        <a:srgbClr val="D6E0E7"/>
                      </a:solidFill>
                      <a:prstDash val="solid"/>
                    </a:lnB>
                    <a:solidFill>
                      <a:schemeClr val="lt1"/>
                    </a:solidFill>
                  </a:tcPr>
                </a:tc>
              </a:tr>
              <a:tr h="762000">
                <a:tc>
                  <a:txBody>
                    <a:bodyPr/>
                    <a:lstStyle/>
                    <a:p>
                      <a:pPr/>
                      <a:r>
                        <a:rPr lang="en-AU" sz="1580" b="1">
                          <a:solidFill>
                            <a:schemeClr val="accent2"/>
                          </a:solidFill>
                          <a:latin typeface="Arial"/>
                          <a:ea typeface="Microsoft YaHei"/>
                          <a:cs typeface="Arial"/>
                        </a:rPr>
                        <a:t>Retrospective
Q1 + context</a:t>
                      </a:r>
                    </a:p>
                  </a:txBody>
                  <a:tcPr anchor="ctr" marL="133350" marR="133350" marT="76200" marB="76200">
                    <a:lnB w="9525">
                      <a:solidFill>
                        <a:srgbClr val="D6E0E7"/>
                      </a:solidFill>
                      <a:prstDash val="solid"/>
                    </a:lnB>
                    <a:solidFill>
                      <a:srgbClr val="EDF5F5"/>
                    </a:solidFill>
                  </a:tcPr>
                </a:tc>
                <a:tc>
                  <a:txBody>
                    <a:bodyPr/>
                    <a:lstStyle/>
                    <a:p>
                      <a:pPr/>
                      <a:r>
                        <a:rPr lang="en-AU" sz="1580" b="0">
                          <a:solidFill>
                            <a:schemeClr val="accent2"/>
                          </a:solidFill>
                          <a:latin typeface="Arial"/>
                          <a:ea typeface="Microsoft YaHei"/>
                          <a:cs typeface="Arial"/>
                        </a:rPr>
                        <a:t>Closer to outcome</a:t>
                      </a:r>
                    </a:p>
                  </a:txBody>
                  <a:tcPr anchor="ctr" marL="133350" marR="133350" marT="76200" marB="76200">
                    <a:lnB w="9525">
                      <a:solidFill>
                        <a:srgbClr val="D6E0E7"/>
                      </a:solidFill>
                      <a:prstDash val="solid"/>
                    </a:lnB>
                    <a:solidFill>
                      <a:srgbClr val="EDF5F5"/>
                    </a:solidFill>
                  </a:tcPr>
                </a:tc>
                <a:tc>
                  <a:txBody>
                    <a:bodyPr/>
                    <a:lstStyle/>
                    <a:p>
                      <a:pPr/>
                      <a:r>
                        <a:rPr lang="en-AU" sz="1580" b="0">
                          <a:solidFill>
                            <a:schemeClr val="accent2"/>
                          </a:solidFill>
                          <a:latin typeface="Arial"/>
                          <a:ea typeface="Microsoft YaHei"/>
                          <a:cs typeface="Arial"/>
                        </a:rPr>
                        <a:t>Recall + five items</a:t>
                      </a:r>
                    </a:p>
                  </a:txBody>
                  <a:tcPr anchor="ctr" marL="133350" marR="133350" marT="76200" marB="76200">
                    <a:lnB w="9525">
                      <a:solidFill>
                        <a:srgbClr val="D6E0E7"/>
                      </a:solidFill>
                      <a:prstDash val="solid"/>
                    </a:lnB>
                    <a:solidFill>
                      <a:srgbClr val="EDF5F5"/>
                    </a:solidFill>
                  </a:tcPr>
                </a:tc>
                <a:tc>
                  <a:txBody>
                    <a:bodyPr/>
                    <a:lstStyle/>
                    <a:p>
                      <a:pPr/>
                      <a:r>
                        <a:rPr lang="en-AU" sz="1580" b="0">
                          <a:solidFill>
                            <a:schemeClr val="accent2"/>
                          </a:solidFill>
                          <a:latin typeface="Arial"/>
                          <a:ea typeface="Microsoft YaHei"/>
                          <a:cs typeface="Arial"/>
                        </a:rPr>
                        <a:t>If eligible 4-week contact</a:t>
                      </a:r>
                    </a:p>
                  </a:txBody>
                  <a:tcPr anchor="ctr" marL="133350" marR="133350" marT="76200" marB="76200">
                    <a:lnB w="9525">
                      <a:solidFill>
                        <a:srgbClr val="D6E0E7"/>
                      </a:solidFill>
                      <a:prstDash val="solid"/>
                    </a:lnB>
                    <a:solidFill>
                      <a:srgbClr val="EDF5F5"/>
                    </a:solidFill>
                  </a:tcPr>
                </a:tc>
                <a:tc>
                  <a:txBody>
                    <a:bodyPr/>
                    <a:lstStyle/>
                    <a:p>
                      <a:pPr/>
                      <a:r>
                        <a:rPr lang="en-AU" sz="1580" b="0">
                          <a:solidFill>
                            <a:schemeClr val="accent2"/>
                          </a:solidFill>
                          <a:latin typeface="Arial"/>
                          <a:ea typeface="Microsoft YaHei"/>
                          <a:cs typeface="Arial"/>
                        </a:rPr>
                        <a:t>Perceived change; recall risk</a:t>
                      </a:r>
                    </a:p>
                  </a:txBody>
                  <a:tcPr anchor="ctr" marL="133350" marR="133350" marT="76200" marB="76200">
                    <a:lnB w="9525">
                      <a:solidFill>
                        <a:srgbClr val="D6E0E7"/>
                      </a:solidFill>
                      <a:prstDash val="solid"/>
                    </a:lnB>
                    <a:solidFill>
                      <a:srgbClr val="EDF5F5"/>
                    </a:solidFill>
                  </a:tcPr>
                </a:tc>
              </a:tr>
              <a:tr h="762000">
                <a:tc>
                  <a:txBody>
                    <a:bodyPr/>
                    <a:lstStyle/>
                    <a:p>
                      <a:pPr/>
                      <a:r>
                        <a:rPr lang="en-AU" sz="1580" b="1">
                          <a:solidFill>
                            <a:schemeClr val="dk1"/>
                          </a:solidFill>
                          <a:latin typeface="Arial"/>
                          <a:ea typeface="Microsoft YaHei"/>
                          <a:cs typeface="Arial"/>
                        </a:rPr>
                        <a:t>Baseline +
follow-up</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Prospective change</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Two waves; linkage</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If data and timing fit</a:t>
                      </a:r>
                    </a:p>
                  </a:txBody>
                  <a:tcPr anchor="ctr" marL="133350" marR="133350" marT="76200" marB="76200">
                    <a:lnB w="9525">
                      <a:solidFill>
                        <a:srgbClr val="D6E0E7"/>
                      </a:solidFill>
                      <a:prstDash val="solid"/>
                    </a:lnB>
                    <a:solidFill>
                      <a:schemeClr val="lt1"/>
                    </a:solidFill>
                  </a:tcPr>
                </a:tc>
                <a:tc>
                  <a:txBody>
                    <a:bodyPr/>
                    <a:lstStyle/>
                    <a:p>
                      <a:pPr/>
                      <a:r>
                        <a:rPr lang="en-AU" sz="1580" b="0">
                          <a:solidFill>
                            <a:schemeClr val="dk1"/>
                          </a:solidFill>
                          <a:latin typeface="Arial"/>
                          <a:ea typeface="Microsoft YaHei"/>
                          <a:cs typeface="Arial"/>
                        </a:rPr>
                        <a:t>Less recall of change; attrition remains</a:t>
                      </a:r>
                    </a:p>
                  </a:txBody>
                  <a:tcPr anchor="ctr" marL="133350" marR="133350" marT="76200" marB="76200">
                    <a:lnB w="9525">
                      <a:solidFill>
                        <a:srgbClr val="D6E0E7"/>
                      </a:solidFill>
                      <a:prstDash val="solid"/>
                    </a:lnB>
                    <a:solidFill>
                      <a:schemeClr val="lt1"/>
                    </a:solidFill>
                  </a:tcPr>
                </a:tc>
              </a:tr>
            </a:tbl>
          </a:graphicData>
        </a:graphic>
      </p:graphicFrame>
      <p:grpSp>
        <p:nvGrpSpPr>
          <p:cNvPr id="8" name="conditional-choice"/>
          <p:cNvGrpSpPr/>
          <p:nvPr/>
        </p:nvGrpSpPr>
        <p:grpSpPr>
          <a:xfrm>
            <a:off x="677037" y="5327650"/>
            <a:ext cx="7660674" cy="621157"/>
            <a:chOff x="677037" y="5327650"/>
            <a:chExt cx="7660674" cy="621157"/>
          </a:xfrm>
        </p:grpSpPr>
        <p:sp>
          <p:nvSpPr>
            <p:cNvPr id="6" name="TextBox 6"/>
            <p:cNvSpPr txBox="1"/>
            <p:nvPr/>
          </p:nvSpPr>
          <p:spPr>
            <a:xfrm>
              <a:off x="677037" y="5327650"/>
              <a:ext cx="7316425" cy="337376"/>
            </a:xfrm>
            <a:prstGeom prst="rect">
              <a:avLst/>
            </a:prstGeom>
            <a:noFill/>
            <a:ln>
              <a:noFill/>
            </a:ln>
          </p:spPr>
          <p:txBody>
            <a:bodyPr wrap="none" lIns="0" tIns="0" rIns="0" bIns="0" anchor="t" anchorCtr="0">
              <a:spAutoFit/>
            </a:bodyPr>
            <a:lstStyle/>
            <a:p>
              <a:pPr algn="l"/>
              <a:r>
                <a:rPr lang="en-AU" sz="1720" b="1" dirty="0">
                  <a:solidFill>
                    <a:schemeClr val="accent2"/>
                  </a:solidFill>
                  <a:latin typeface="+mn-lt"/>
                  <a:ea typeface="+mn-ea"/>
                  <a:cs typeface="+mn-cs"/>
                </a:rPr>
                <a:t>Choose Q1 + context if one eligible follow-up fits the A3 timetable.</a:t>
              </a:r>
            </a:p>
          </p:txBody>
        </p:sp>
        <p:sp>
          <p:nvSpPr>
            <p:cNvPr id="7" name="TextBox 7"/>
            <p:cNvSpPr txBox="1"/>
            <p:nvPr/>
          </p:nvSpPr>
          <p:spPr>
            <a:xfrm>
              <a:off x="677418" y="5626100"/>
              <a:ext cx="7660293"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Prefer baseline + follow-up if feasible; otherwise audit existing questions/data.</a:t>
              </a:r>
            </a:p>
          </p:txBody>
        </p:sp>
      </p:grpSp>
      <p:grpSp>
        <p:nvGrpSpPr>
          <p:cNvPr id="10" name="source-note"/>
          <p:cNvGrpSpPr/>
          <p:nvPr/>
        </p:nvGrpSpPr>
        <p:grpSpPr>
          <a:xfrm>
            <a:off x="679704" y="5962650"/>
            <a:ext cx="8188458" cy="234696"/>
            <a:chOff x="679704" y="5962650"/>
            <a:chExt cx="8188458" cy="234696"/>
          </a:xfrm>
        </p:grpSpPr>
        <p:sp>
          <p:nvSpPr>
            <p:cNvPr id="9" name="TextBox 9"/>
            <p:cNvSpPr txBox="1"/>
            <p:nvPr/>
          </p:nvSpPr>
          <p:spPr>
            <a:xfrm>
              <a:off x="679704" y="5962650"/>
              <a:ext cx="8188458"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Qualitative author appraisal; no measured ratings. Method basis: Bjarkefur et al. 2021; ONS n.d., §7 and Annex 2.</a:t>
              </a:r>
            </a:p>
          </p:txBody>
        </p:sp>
      </p:grpSp>
      <p:sp>
        <p:nvSpPr>
          <p:cNvPr id="11" name="Line 11"/>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12"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13"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8933084" cy="645414"/>
            <a:chOff x="669036" y="527050"/>
            <a:chExt cx="8933084" cy="645414"/>
          </a:xfrm>
        </p:grpSpPr>
        <p:sp>
          <p:nvSpPr>
            <p:cNvPr id="2" name="TextBox 2"/>
            <p:cNvSpPr txBox="1"/>
            <p:nvPr/>
          </p:nvSpPr>
          <p:spPr>
            <a:xfrm>
              <a:off x="669036" y="527050"/>
              <a:ext cx="8933084"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One main indicator; four supporting items</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20" name="item-roles"/>
          <p:cNvGrpSpPr/>
          <p:nvPr/>
        </p:nvGrpSpPr>
        <p:grpSpPr>
          <a:xfrm>
            <a:off x="676656" y="1965325"/>
            <a:ext cx="5144480" cy="3606419"/>
            <a:chOff x="676656" y="1965325"/>
            <a:chExt cx="5144480" cy="3606419"/>
          </a:xfrm>
        </p:grpSpPr>
        <p:sp>
          <p:nvSpPr>
            <p:cNvPr id="5" name="TextBox 5"/>
            <p:cNvSpPr txBox="1"/>
            <p:nvPr/>
          </p:nvSpPr>
          <p:spPr>
            <a:xfrm>
              <a:off x="676656" y="2000250"/>
              <a:ext cx="359835"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Q1</a:t>
              </a:r>
            </a:p>
          </p:txBody>
        </p:sp>
        <p:sp>
          <p:nvSpPr>
            <p:cNvPr id="6" name="TextBox 6"/>
            <p:cNvSpPr txBox="1"/>
            <p:nvPr/>
          </p:nvSpPr>
          <p:spPr>
            <a:xfrm>
              <a:off x="1360932" y="1965325"/>
              <a:ext cx="3361841"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Reported access change</a:t>
              </a:r>
            </a:p>
          </p:txBody>
        </p:sp>
        <p:sp>
          <p:nvSpPr>
            <p:cNvPr id="7" name="TextBox 7"/>
            <p:cNvSpPr txBox="1"/>
            <p:nvPr/>
          </p:nvSpPr>
          <p:spPr>
            <a:xfrm>
              <a:off x="1362456" y="2286000"/>
              <a:ext cx="2839861"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Primary outcome indicator</a:t>
              </a:r>
            </a:p>
          </p:txBody>
        </p:sp>
        <p:sp>
          <p:nvSpPr>
            <p:cNvPr id="8" name="TextBox 8"/>
            <p:cNvSpPr txBox="1"/>
            <p:nvPr/>
          </p:nvSpPr>
          <p:spPr>
            <a:xfrm>
              <a:off x="676656" y="2733675"/>
              <a:ext cx="359835"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Q2</a:t>
              </a:r>
            </a:p>
          </p:txBody>
        </p:sp>
        <p:sp>
          <p:nvSpPr>
            <p:cNvPr id="9" name="TextBox 9"/>
            <p:cNvSpPr txBox="1"/>
            <p:nvPr/>
          </p:nvSpPr>
          <p:spPr>
            <a:xfrm>
              <a:off x="1360932" y="2698750"/>
              <a:ext cx="1789400"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Cost barriers</a:t>
              </a:r>
            </a:p>
          </p:txBody>
        </p:sp>
        <p:sp>
          <p:nvSpPr>
            <p:cNvPr id="10" name="TextBox 10"/>
            <p:cNvSpPr txBox="1"/>
            <p:nvPr/>
          </p:nvSpPr>
          <p:spPr>
            <a:xfrm>
              <a:off x="1362456" y="3019425"/>
              <a:ext cx="3635734"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Context; no cost-change estimate</a:t>
              </a:r>
            </a:p>
          </p:txBody>
        </p:sp>
        <p:sp>
          <p:nvSpPr>
            <p:cNvPr id="11" name="TextBox 11"/>
            <p:cNvSpPr txBox="1"/>
            <p:nvPr/>
          </p:nvSpPr>
          <p:spPr>
            <a:xfrm>
              <a:off x="676656" y="3467100"/>
              <a:ext cx="359835"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Q3</a:t>
              </a:r>
            </a:p>
          </p:txBody>
        </p:sp>
        <p:sp>
          <p:nvSpPr>
            <p:cNvPr id="12" name="TextBox 12"/>
            <p:cNvSpPr txBox="1"/>
            <p:nvPr/>
          </p:nvSpPr>
          <p:spPr>
            <a:xfrm>
              <a:off x="1360932" y="3432175"/>
              <a:ext cx="2763085"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Perceived suitability</a:t>
              </a:r>
            </a:p>
          </p:txBody>
        </p:sp>
        <p:sp>
          <p:nvSpPr>
            <p:cNvPr id="13" name="TextBox 13"/>
            <p:cNvSpPr txBox="1"/>
            <p:nvPr/>
          </p:nvSpPr>
          <p:spPr>
            <a:xfrm>
              <a:off x="1362456" y="3752850"/>
              <a:ext cx="3082365"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Context; fit of received items</a:t>
              </a:r>
            </a:p>
          </p:txBody>
        </p:sp>
        <p:sp>
          <p:nvSpPr>
            <p:cNvPr id="14" name="TextBox 14"/>
            <p:cNvSpPr txBox="1"/>
            <p:nvPr/>
          </p:nvSpPr>
          <p:spPr>
            <a:xfrm>
              <a:off x="676656" y="4200525"/>
              <a:ext cx="359835"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Q4</a:t>
              </a:r>
            </a:p>
          </p:txBody>
        </p:sp>
        <p:sp>
          <p:nvSpPr>
            <p:cNvPr id="15" name="TextBox 15"/>
            <p:cNvSpPr txBox="1"/>
            <p:nvPr/>
          </p:nvSpPr>
          <p:spPr>
            <a:xfrm>
              <a:off x="1360932" y="4165600"/>
              <a:ext cx="1539207"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Recent use</a:t>
              </a:r>
            </a:p>
          </p:txBody>
        </p:sp>
        <p:sp>
          <p:nvSpPr>
            <p:cNvPr id="16" name="TextBox 16"/>
            <p:cNvSpPr txBox="1"/>
            <p:nvPr/>
          </p:nvSpPr>
          <p:spPr>
            <a:xfrm>
              <a:off x="1362456" y="4486275"/>
              <a:ext cx="2827972"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Context; zero–seven days</a:t>
              </a:r>
            </a:p>
          </p:txBody>
        </p:sp>
        <p:sp>
          <p:nvSpPr>
            <p:cNvPr id="17" name="TextBox 17"/>
            <p:cNvSpPr txBox="1"/>
            <p:nvPr/>
          </p:nvSpPr>
          <p:spPr>
            <a:xfrm>
              <a:off x="676656" y="4933950"/>
              <a:ext cx="359835"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Q5</a:t>
              </a:r>
            </a:p>
          </p:txBody>
        </p:sp>
        <p:sp>
          <p:nvSpPr>
            <p:cNvPr id="18" name="TextBox 18"/>
            <p:cNvSpPr txBox="1"/>
            <p:nvPr/>
          </p:nvSpPr>
          <p:spPr>
            <a:xfrm>
              <a:off x="1360932" y="4899025"/>
              <a:ext cx="2402156"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Open explanation</a:t>
              </a:r>
            </a:p>
          </p:txBody>
        </p:sp>
        <p:sp>
          <p:nvSpPr>
            <p:cNvPr id="19" name="TextBox 19"/>
            <p:cNvSpPr txBox="1"/>
            <p:nvPr/>
          </p:nvSpPr>
          <p:spPr>
            <a:xfrm>
              <a:off x="1362456" y="5219700"/>
              <a:ext cx="4458680"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What changed; what helped or hindered?</a:t>
              </a:r>
            </a:p>
          </p:txBody>
        </p:sp>
      </p:grpSp>
      <p:grpSp>
        <p:nvGrpSpPr>
          <p:cNvPr id="25" name="reporting-rules"/>
          <p:cNvGrpSpPr/>
          <p:nvPr/>
        </p:nvGrpSpPr>
        <p:grpSpPr>
          <a:xfrm>
            <a:off x="8314182" y="1879600"/>
            <a:ext cx="2727781" cy="3128201"/>
            <a:chOff x="8314182" y="1879600"/>
            <a:chExt cx="2727781" cy="3128201"/>
          </a:xfrm>
        </p:grpSpPr>
        <p:sp>
          <p:nvSpPr>
            <p:cNvPr id="21" name="TextBox 21"/>
            <p:cNvSpPr txBox="1"/>
            <p:nvPr/>
          </p:nvSpPr>
          <p:spPr>
            <a:xfrm>
              <a:off x="8314182" y="1879600"/>
              <a:ext cx="2418052" cy="410718"/>
            </a:xfrm>
            <a:prstGeom prst="rect">
              <a:avLst/>
            </a:prstGeom>
            <a:noFill/>
            <a:ln>
              <a:noFill/>
            </a:ln>
          </p:spPr>
          <p:txBody>
            <a:bodyPr wrap="none" lIns="0" tIns="0" rIns="0" bIns="0" anchor="t" anchorCtr="0">
              <a:spAutoFit/>
            </a:bodyPr>
            <a:lstStyle/>
            <a:p>
              <a:pPr algn="l"/>
              <a:r>
                <a:rPr lang="en-AU" sz="2100" b="1" dirty="0">
                  <a:solidFill>
                    <a:schemeClr val="accent1"/>
                  </a:solidFill>
                  <a:latin typeface="+mn-lt"/>
                  <a:ea typeface="+mn-ea"/>
                  <a:cs typeface="+mn-cs"/>
                </a:rPr>
                <a:t>Report separately</a:t>
              </a:r>
            </a:p>
          </p:txBody>
        </p:sp>
        <p:sp>
          <p:nvSpPr>
            <p:cNvPr id="22" name="TextBox 22"/>
            <p:cNvSpPr txBox="1"/>
            <p:nvPr/>
          </p:nvSpPr>
          <p:spPr>
            <a:xfrm>
              <a:off x="8316087" y="2568575"/>
              <a:ext cx="2422070" cy="651700"/>
            </a:xfrm>
            <a:prstGeom prst="rect">
              <a:avLst/>
            </a:prstGeom>
            <a:noFill/>
            <a:ln>
              <a:noFill/>
            </a:ln>
          </p:spPr>
          <p:txBody>
            <a:bodyPr wrap="none" lIns="0" tIns="0" rIns="0" bIns="0" anchor="t" anchorCtr="0">
              <a:spAutoFit/>
            </a:bodyPr>
            <a:lstStyle/>
            <a:p>
              <a:pPr algn="l">
                <a:lnSpc>
                  <a:spcPts val="2475"/>
                </a:lnSpc>
              </a:pPr>
              <a:r>
                <a:rPr lang="en-AU" sz="1720" dirty="0">
                  <a:solidFill>
                    <a:schemeClr val="dk1"/>
                  </a:solidFill>
                  <a:latin typeface="+mn-lt"/>
                  <a:ea typeface="+mn-ea"/>
                  <a:cs typeface="+mn-cs"/>
                </a:rPr>
                <a:t>Show each category and</a:t>
              </a:r>
              <a:br>
                <a:rPr lang="en-AU" sz="1720" dirty="0">
                  <a:solidFill>
                    <a:schemeClr val="dk1"/>
                  </a:solidFill>
                  <a:latin typeface="+mn-lt"/>
                  <a:ea typeface="+mn-ea"/>
                  <a:cs typeface="+mn-cs"/>
                </a:rPr>
              </a:br>
              <a:r>
                <a:rPr lang="en-AU" sz="1720" dirty="0">
                  <a:solidFill>
                    <a:schemeClr val="dk1"/>
                  </a:solidFill>
                  <a:latin typeface="+mn-lt"/>
                  <a:ea typeface="+mn-ea"/>
                  <a:cs typeface="+mn-cs"/>
                </a:rPr>
                <a:t>its valid item count.</a:t>
              </a:r>
            </a:p>
          </p:txBody>
        </p:sp>
        <p:sp>
          <p:nvSpPr>
            <p:cNvPr id="23" name="TextBox 23"/>
            <p:cNvSpPr txBox="1"/>
            <p:nvPr/>
          </p:nvSpPr>
          <p:spPr>
            <a:xfrm>
              <a:off x="8316087" y="3473450"/>
              <a:ext cx="2725876" cy="651700"/>
            </a:xfrm>
            <a:prstGeom prst="rect">
              <a:avLst/>
            </a:prstGeom>
            <a:noFill/>
            <a:ln>
              <a:noFill/>
            </a:ln>
          </p:spPr>
          <p:txBody>
            <a:bodyPr wrap="none" lIns="0" tIns="0" rIns="0" bIns="0" anchor="t" anchorCtr="0">
              <a:spAutoFit/>
            </a:bodyPr>
            <a:lstStyle/>
            <a:p>
              <a:pPr algn="l">
                <a:lnSpc>
                  <a:spcPts val="2475"/>
                </a:lnSpc>
              </a:pPr>
              <a:r>
                <a:rPr lang="en-AU" sz="1720" dirty="0">
                  <a:solidFill>
                    <a:schemeClr val="dk1"/>
                  </a:solidFill>
                  <a:latin typeface="+mn-lt"/>
                  <a:ea typeface="+mn-ea"/>
                  <a:cs typeface="+mn-cs"/>
                </a:rPr>
                <a:t>Keep uncertain and skipped</a:t>
              </a:r>
              <a:br>
                <a:rPr lang="en-AU" sz="1720" dirty="0">
                  <a:solidFill>
                    <a:schemeClr val="dk1"/>
                  </a:solidFill>
                  <a:latin typeface="+mn-lt"/>
                  <a:ea typeface="+mn-ea"/>
                  <a:cs typeface="+mn-cs"/>
                </a:rPr>
              </a:br>
              <a:r>
                <a:rPr lang="en-AU" sz="1720" dirty="0">
                  <a:solidFill>
                    <a:schemeClr val="dk1"/>
                  </a:solidFill>
                  <a:latin typeface="+mn-lt"/>
                  <a:ea typeface="+mn-ea"/>
                  <a:cs typeface="+mn-cs"/>
                </a:rPr>
                <a:t>answers distinct.</a:t>
              </a:r>
            </a:p>
          </p:txBody>
        </p:sp>
        <p:sp>
          <p:nvSpPr>
            <p:cNvPr id="24" name="TextBox 24"/>
            <p:cNvSpPr txBox="1"/>
            <p:nvPr/>
          </p:nvSpPr>
          <p:spPr>
            <a:xfrm>
              <a:off x="8316087" y="4670425"/>
              <a:ext cx="2470531" cy="337376"/>
            </a:xfrm>
            <a:prstGeom prst="rect">
              <a:avLst/>
            </a:prstGeom>
            <a:noFill/>
            <a:ln>
              <a:noFill/>
            </a:ln>
          </p:spPr>
          <p:txBody>
            <a:bodyPr wrap="none" lIns="0" tIns="0" rIns="0" bIns="0" anchor="t" anchorCtr="0">
              <a:spAutoFit/>
            </a:bodyPr>
            <a:lstStyle/>
            <a:p>
              <a:pPr algn="l"/>
              <a:r>
                <a:rPr lang="en-AU" sz="1720" b="1" dirty="0">
                  <a:solidFill>
                    <a:schemeClr val="accent2"/>
                  </a:solidFill>
                  <a:latin typeface="+mn-lt"/>
                  <a:ea typeface="+mn-ea"/>
                  <a:cs typeface="+mn-cs"/>
                </a:rPr>
                <a:t>No total access score.</a:t>
              </a:r>
            </a:p>
          </p:txBody>
        </p:sp>
      </p:grpSp>
      <p:grpSp>
        <p:nvGrpSpPr>
          <p:cNvPr id="27" name="source-note"/>
          <p:cNvGrpSpPr/>
          <p:nvPr/>
        </p:nvGrpSpPr>
        <p:grpSpPr>
          <a:xfrm>
            <a:off x="679704" y="5962650"/>
            <a:ext cx="8122377" cy="234696"/>
            <a:chOff x="679704" y="5962650"/>
            <a:chExt cx="8122377" cy="234696"/>
          </a:xfrm>
        </p:grpSpPr>
        <p:sp>
          <p:nvSpPr>
            <p:cNvPr id="26" name="TextBox 26"/>
            <p:cNvSpPr txBox="1"/>
            <p:nvPr/>
          </p:nvSpPr>
          <p:spPr>
            <a:xfrm>
              <a:off x="679704" y="5962650"/>
              <a:ext cx="8122377"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Full wording: Appendix A; item-specific interpretation: Appendix B. Administration details remain in reading notes.</a:t>
              </a:r>
            </a:p>
          </p:txBody>
        </p:sp>
      </p:grpSp>
      <p:sp>
        <p:nvSpPr>
          <p:cNvPr id="28" name="Line 28"/>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9"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30"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7923091" cy="645414"/>
            <a:chOff x="669036" y="527050"/>
            <a:chExt cx="7923091" cy="645414"/>
          </a:xfrm>
        </p:grpSpPr>
        <p:sp>
          <p:nvSpPr>
            <p:cNvPr id="2" name="TextBox 2"/>
            <p:cNvSpPr txBox="1"/>
            <p:nvPr/>
          </p:nvSpPr>
          <p:spPr>
            <a:xfrm>
              <a:off x="669036" y="527050"/>
              <a:ext cx="7923091"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Match each claim to the study design</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6" name="intro"/>
          <p:cNvGrpSpPr/>
          <p:nvPr/>
        </p:nvGrpSpPr>
        <p:grpSpPr>
          <a:xfrm>
            <a:off x="674370" y="1673225"/>
            <a:ext cx="8145522" cy="440055"/>
            <a:chOff x="674370" y="1673225"/>
            <a:chExt cx="8145522" cy="440055"/>
          </a:xfrm>
        </p:grpSpPr>
        <p:sp>
          <p:nvSpPr>
            <p:cNvPr id="5" name="TextBox 5"/>
            <p:cNvSpPr txBox="1"/>
            <p:nvPr/>
          </p:nvSpPr>
          <p:spPr>
            <a:xfrm>
              <a:off x="674370" y="1673225"/>
              <a:ext cx="8145522" cy="440055"/>
            </a:xfrm>
            <a:prstGeom prst="rect">
              <a:avLst/>
            </a:prstGeom>
            <a:noFill/>
            <a:ln>
              <a:noFill/>
            </a:ln>
          </p:spPr>
          <p:txBody>
            <a:bodyPr wrap="none" lIns="0" tIns="0" rIns="0" bIns="0" anchor="t" anchorCtr="0">
              <a:spAutoFit/>
            </a:bodyPr>
            <a:lstStyle/>
            <a:p>
              <a:pPr algn="l"/>
              <a:r>
                <a:rPr lang="en-AU" sz="2250" b="1" dirty="0">
                  <a:solidFill>
                    <a:schemeClr val="accent2"/>
                  </a:solidFill>
                  <a:latin typeface="+mn-lt"/>
                  <a:ea typeface="+mn-ea"/>
                  <a:cs typeface="+mn-cs"/>
                </a:rPr>
                <a:t>Reported change does not establish programme effects.</a:t>
              </a:r>
            </a:p>
          </p:txBody>
        </p:sp>
      </p:grpSp>
      <p:graphicFrame>
        <p:nvGraphicFramePr>
          <p:cNvPr id="7" name="evidence-rules"/>
          <p:cNvGraphicFramePr>
            <a:graphicFrameLocks noGrp="1"/>
          </p:cNvGraphicFramePr>
          <p:nvPr/>
        </p:nvGraphicFramePr>
        <p:xfrm>
          <a:off x="685800" y="2409825"/>
          <a:ext cx="10820400" cy="2800350"/>
        </p:xfrm>
        <a:graphic>
          <a:graphicData uri="http://schemas.openxmlformats.org/drawingml/2006/table">
            <a:tbl>
              <a:tblPr firstRow="1" bandRow="0">
                <a:tableStyleId>{5C22544A-7EE6-4342-B048-85BDC9FD1C3A}</a:tableStyleId>
              </a:tblPr>
              <a:tblGrid>
                <a:gridCol w="4343400"/>
                <a:gridCol w="6477000"/>
              </a:tblGrid>
              <a:tr h="514350">
                <a:tc>
                  <a:txBody>
                    <a:bodyPr/>
                    <a:lstStyle/>
                    <a:p>
                      <a:pPr/>
                      <a:r>
                        <a:rPr lang="en-AU" sz="1800" b="1">
                          <a:solidFill>
                            <a:schemeClr val="accent1"/>
                          </a:solidFill>
                          <a:latin typeface="Arial"/>
                          <a:ea typeface="Microsoft YaHei"/>
                          <a:cs typeface="Arial"/>
                        </a:rPr>
                        <a:t>Threat / condition</a:t>
                      </a:r>
                    </a:p>
                  </a:txBody>
                  <a:tcPr anchor="ctr" marL="133350" marR="133350" marT="76200" marB="76200">
                    <a:lnB w="9525">
                      <a:solidFill>
                        <a:srgbClr val="D6E0E7"/>
                      </a:solidFill>
                      <a:prstDash val="solid"/>
                    </a:lnB>
                    <a:solidFill>
                      <a:schemeClr val="accent5"/>
                    </a:solidFill>
                  </a:tcPr>
                </a:tc>
                <a:tc>
                  <a:txBody>
                    <a:bodyPr/>
                    <a:lstStyle/>
                    <a:p>
                      <a:pPr/>
                      <a:r>
                        <a:rPr lang="en-AU" sz="1800" b="1">
                          <a:solidFill>
                            <a:schemeClr val="accent1"/>
                          </a:solidFill>
                          <a:latin typeface="Arial"/>
                          <a:ea typeface="Microsoft YaHei"/>
                          <a:cs typeface="Arial"/>
                        </a:rPr>
                        <a:t>Reporting safeguard</a:t>
                      </a:r>
                    </a:p>
                  </a:txBody>
                  <a:tcPr anchor="ctr" marL="133350" marR="133350" marT="76200" marB="76200">
                    <a:lnB w="9525">
                      <a:solidFill>
                        <a:srgbClr val="D6E0E7"/>
                      </a:solidFill>
                      <a:prstDash val="solid"/>
                    </a:lnB>
                    <a:solidFill>
                      <a:schemeClr val="accent5"/>
                    </a:solidFill>
                  </a:tcPr>
                </a:tc>
              </a:tr>
              <a:tr h="762000">
                <a:tc>
                  <a:txBody>
                    <a:bodyPr/>
                    <a:lstStyle/>
                    <a:p>
                      <a:pPr/>
                      <a:r>
                        <a:rPr lang="en-AU" sz="1800" b="1">
                          <a:solidFill>
                            <a:schemeClr val="dk1"/>
                          </a:solidFill>
                          <a:latin typeface="Arial"/>
                          <a:ea typeface="Microsoft YaHei"/>
                          <a:cs typeface="Arial"/>
                        </a:rPr>
                        <a:t>Recall</a:t>
                      </a:r>
                    </a:p>
                  </a:txBody>
                  <a:tcPr anchor="ctr" marL="133350" marR="133350" marT="76200" marB="76200">
                    <a:lnB w="9525">
                      <a:solidFill>
                        <a:srgbClr val="D6E0E7"/>
                      </a:solidFill>
                      <a:prstDash val="solid"/>
                    </a:lnB>
                    <a:solidFill>
                      <a:schemeClr val="lt1"/>
                    </a:solidFill>
                  </a:tcPr>
                </a:tc>
                <a:tc>
                  <a:txBody>
                    <a:bodyPr/>
                    <a:lstStyle/>
                    <a:p>
                      <a:pPr/>
                      <a:r>
                        <a:rPr lang="en-AU" sz="1800" b="0">
                          <a:solidFill>
                            <a:schemeClr val="dk1"/>
                          </a:solidFill>
                          <a:latin typeface="Arial"/>
                          <a:ea typeface="Microsoft YaHei"/>
                          <a:cs typeface="Arial"/>
                        </a:rPr>
                        <a:t>State the before/after reference periods.</a:t>
                      </a:r>
                    </a:p>
                  </a:txBody>
                  <a:tcPr anchor="ctr" marL="133350" marR="133350" marT="76200" marB="76200">
                    <a:lnB w="9525">
                      <a:solidFill>
                        <a:srgbClr val="D6E0E7"/>
                      </a:solidFill>
                      <a:prstDash val="solid"/>
                    </a:lnB>
                    <a:solidFill>
                      <a:schemeClr val="lt1"/>
                    </a:solidFill>
                  </a:tcPr>
                </a:tc>
              </a:tr>
              <a:tr h="762000">
                <a:tc>
                  <a:txBody>
                    <a:bodyPr/>
                    <a:lstStyle/>
                    <a:p>
                      <a:pPr/>
                      <a:r>
                        <a:rPr lang="en-AU" sz="1800" b="1">
                          <a:solidFill>
                            <a:schemeClr val="dk1"/>
                          </a:solidFill>
                          <a:latin typeface="Arial"/>
                          <a:ea typeface="Microsoft YaHei"/>
                          <a:cs typeface="Arial"/>
                        </a:rPr>
                        <a:t>Selective response</a:t>
                      </a:r>
                    </a:p>
                  </a:txBody>
                  <a:tcPr anchor="ctr" marL="133350" marR="133350" marT="76200" marB="76200">
                    <a:lnB w="9525">
                      <a:solidFill>
                        <a:srgbClr val="D6E0E7"/>
                      </a:solidFill>
                      <a:prstDash val="solid"/>
                    </a:lnB>
                    <a:solidFill>
                      <a:schemeClr val="lt1"/>
                    </a:solidFill>
                  </a:tcPr>
                </a:tc>
                <a:tc>
                  <a:txBody>
                    <a:bodyPr/>
                    <a:lstStyle/>
                    <a:p>
                      <a:pPr/>
                      <a:r>
                        <a:rPr lang="en-AU" sz="1800" b="0">
                          <a:solidFill>
                            <a:schemeClr val="dk1"/>
                          </a:solidFill>
                          <a:latin typeface="Arial"/>
                          <a:ea typeface="Microsoft YaHei"/>
                          <a:cs typeface="Arial"/>
                        </a:rPr>
                        <a:t>Say “among responding families”; retain uncertainty.</a:t>
                      </a:r>
                    </a:p>
                  </a:txBody>
                  <a:tcPr anchor="ctr" marL="133350" marR="133350" marT="76200" marB="76200">
                    <a:lnB w="9525">
                      <a:solidFill>
                        <a:srgbClr val="D6E0E7"/>
                      </a:solidFill>
                      <a:prstDash val="solid"/>
                    </a:lnB>
                    <a:solidFill>
                      <a:schemeClr val="lt1"/>
                    </a:solidFill>
                  </a:tcPr>
                </a:tc>
              </a:tr>
              <a:tr h="762000">
                <a:tc>
                  <a:txBody>
                    <a:bodyPr/>
                    <a:lstStyle/>
                    <a:p>
                      <a:pPr/>
                      <a:r>
                        <a:rPr lang="en-AU" sz="1800" b="1">
                          <a:solidFill>
                            <a:schemeClr val="dk1"/>
                          </a:solidFill>
                          <a:latin typeface="Arial"/>
                          <a:ea typeface="Microsoft YaHei"/>
                          <a:cs typeface="Arial"/>
                        </a:rPr>
                        <a:t>Without an adequate comparison</a:t>
                      </a:r>
                    </a:p>
                  </a:txBody>
                  <a:tcPr anchor="ctr" marL="133350" marR="133350" marT="76200" marB="76200">
                    <a:lnB w="9525">
                      <a:solidFill>
                        <a:srgbClr val="D6E0E7"/>
                      </a:solidFill>
                      <a:prstDash val="solid"/>
                    </a:lnB>
                    <a:solidFill>
                      <a:schemeClr val="lt1"/>
                    </a:solidFill>
                  </a:tcPr>
                </a:tc>
                <a:tc>
                  <a:txBody>
                    <a:bodyPr/>
                    <a:lstStyle/>
                    <a:p>
                      <a:pPr/>
                      <a:r>
                        <a:rPr lang="en-AU" sz="1800" b="0">
                          <a:solidFill>
                            <a:schemeClr val="dk1"/>
                          </a:solidFill>
                          <a:latin typeface="Arial"/>
                          <a:ea typeface="Microsoft YaHei"/>
                          <a:cs typeface="Arial"/>
                        </a:rPr>
                        <a:t>Do not attribute reported change to the programme.</a:t>
                      </a:r>
                    </a:p>
                  </a:txBody>
                  <a:tcPr anchor="ctr" marL="133350" marR="133350" marT="76200" marB="76200">
                    <a:lnB w="9525">
                      <a:solidFill>
                        <a:srgbClr val="D6E0E7"/>
                      </a:solidFill>
                      <a:prstDash val="solid"/>
                    </a:lnB>
                    <a:solidFill>
                      <a:schemeClr val="lt1"/>
                    </a:solidFill>
                  </a:tcPr>
                </a:tc>
              </a:tr>
            </a:tbl>
          </a:graphicData>
        </a:graphic>
      </p:graphicFrame>
      <p:grpSp>
        <p:nvGrpSpPr>
          <p:cNvPr id="9" name="triangulation"/>
          <p:cNvGrpSpPr/>
          <p:nvPr/>
        </p:nvGrpSpPr>
        <p:grpSpPr>
          <a:xfrm>
            <a:off x="677037" y="5546725"/>
            <a:ext cx="8862925" cy="337376"/>
            <a:chOff x="677037" y="5546725"/>
            <a:chExt cx="8862925" cy="337376"/>
          </a:xfrm>
        </p:grpSpPr>
        <p:sp>
          <p:nvSpPr>
            <p:cNvPr id="8" name="TextBox 8"/>
            <p:cNvSpPr txBox="1"/>
            <p:nvPr/>
          </p:nvSpPr>
          <p:spPr>
            <a:xfrm>
              <a:off x="677037" y="5546725"/>
              <a:ext cx="8862925" cy="337376"/>
            </a:xfrm>
            <a:prstGeom prst="rect">
              <a:avLst/>
            </a:prstGeom>
            <a:noFill/>
            <a:ln>
              <a:noFill/>
            </a:ln>
          </p:spPr>
          <p:txBody>
            <a:bodyPr wrap="none" lIns="0" tIns="0" rIns="0" bIns="0" anchor="t" anchorCtr="0">
              <a:spAutoFit/>
            </a:bodyPr>
            <a:lstStyle/>
            <a:p>
              <a:pPr algn="l"/>
              <a:r>
                <a:rPr lang="en-AU" sz="1720" b="1" dirty="0">
                  <a:solidFill>
                    <a:schemeClr val="accent1"/>
                  </a:solidFill>
                  <a:latin typeface="+mn-lt"/>
                  <a:ea typeface="+mn-ea"/>
                  <a:cs typeface="+mn-cs"/>
                </a:rPr>
                <a:t>Records and interviews can support interpretation; design still limits attribution.</a:t>
              </a:r>
            </a:p>
          </p:txBody>
        </p:sp>
      </p:grpSp>
      <p:grpSp>
        <p:nvGrpSpPr>
          <p:cNvPr id="11" name="source-note"/>
          <p:cNvGrpSpPr/>
          <p:nvPr/>
        </p:nvGrpSpPr>
        <p:grpSpPr>
          <a:xfrm>
            <a:off x="679704" y="5962650"/>
            <a:ext cx="7854017" cy="234696"/>
            <a:chOff x="679704" y="5962650"/>
            <a:chExt cx="7854017" cy="234696"/>
          </a:xfrm>
        </p:grpSpPr>
        <p:sp>
          <p:nvSpPr>
            <p:cNvPr id="10" name="TextBox 10"/>
            <p:cNvSpPr txBox="1"/>
            <p:nvPr/>
          </p:nvSpPr>
          <p:spPr>
            <a:xfrm>
              <a:off x="679704" y="5962650"/>
              <a:ext cx="7854017"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Counterfactual reasoning: Bjarkefur et al. 2021, ch.3. Recall/response considerations: A1 and Nguyen 2026a.</a:t>
              </a:r>
            </a:p>
          </p:txBody>
        </p:sp>
      </p:grpSp>
      <p:sp>
        <p:nvSpPr>
          <p:cNvPr id="12" name="Line 12"/>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13"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14"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6454687" cy="645414"/>
            <a:chOff x="669036" y="527050"/>
            <a:chExt cx="6454687" cy="645414"/>
          </a:xfrm>
        </p:grpSpPr>
        <p:sp>
          <p:nvSpPr>
            <p:cNvPr id="2" name="TextBox 2"/>
            <p:cNvSpPr txBox="1"/>
            <p:nvPr/>
          </p:nvSpPr>
          <p:spPr>
            <a:xfrm>
              <a:off x="669036" y="527050"/>
              <a:ext cx="6454687"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Testing plan and A3 feasibility</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8" name="action-1"/>
          <p:cNvGrpSpPr/>
          <p:nvPr/>
        </p:nvGrpSpPr>
        <p:grpSpPr>
          <a:xfrm>
            <a:off x="674370" y="1692275"/>
            <a:ext cx="2943915" cy="1834007"/>
            <a:chOff x="674370" y="1692275"/>
            <a:chExt cx="2943915" cy="1834007"/>
          </a:xfrm>
        </p:grpSpPr>
        <p:sp>
          <p:nvSpPr>
            <p:cNvPr id="5" name="TextBox 5"/>
            <p:cNvSpPr txBox="1"/>
            <p:nvPr/>
          </p:nvSpPr>
          <p:spPr>
            <a:xfrm>
              <a:off x="674370" y="1692275"/>
              <a:ext cx="359800" cy="440055"/>
            </a:xfrm>
            <a:prstGeom prst="rect">
              <a:avLst/>
            </a:prstGeom>
            <a:noFill/>
            <a:ln>
              <a:noFill/>
            </a:ln>
          </p:spPr>
          <p:txBody>
            <a:bodyPr wrap="none" lIns="0" tIns="0" rIns="0" bIns="0" anchor="t" anchorCtr="0">
              <a:spAutoFit/>
            </a:bodyPr>
            <a:lstStyle/>
            <a:p>
              <a:pPr algn="l"/>
              <a:r>
                <a:rPr lang="en-AU" sz="2250" b="1" dirty="0">
                  <a:solidFill>
                    <a:schemeClr val="accent2"/>
                  </a:solidFill>
                  <a:latin typeface="+mn-lt"/>
                  <a:ea typeface="+mn-ea"/>
                  <a:cs typeface="+mn-cs"/>
                </a:rPr>
                <a:t>01</a:t>
              </a:r>
            </a:p>
          </p:txBody>
        </p:sp>
        <p:sp>
          <p:nvSpPr>
            <p:cNvPr id="6" name="TextBox 6"/>
            <p:cNvSpPr txBox="1"/>
            <p:nvPr/>
          </p:nvSpPr>
          <p:spPr>
            <a:xfrm>
              <a:off x="675513" y="2136775"/>
              <a:ext cx="2174311" cy="396050"/>
            </a:xfrm>
            <a:prstGeom prst="rect">
              <a:avLst/>
            </a:prstGeom>
            <a:noFill/>
            <a:ln>
              <a:noFill/>
            </a:ln>
          </p:spPr>
          <p:txBody>
            <a:bodyPr wrap="none" lIns="0" tIns="0" rIns="0" bIns="0" anchor="t" anchorCtr="0">
              <a:spAutoFit/>
            </a:bodyPr>
            <a:lstStyle/>
            <a:p>
              <a:pPr algn="l"/>
              <a:r>
                <a:rPr lang="en-AU" sz="2020" b="1" dirty="0">
                  <a:solidFill>
                    <a:schemeClr val="accent1"/>
                  </a:solidFill>
                  <a:latin typeface="+mn-lt"/>
                  <a:ea typeface="+mn-ea"/>
                  <a:cs typeface="+mn-cs"/>
                </a:rPr>
                <a:t>Check feasibility</a:t>
              </a:r>
            </a:p>
          </p:txBody>
        </p:sp>
        <p:sp>
          <p:nvSpPr>
            <p:cNvPr id="7" name="TextBox 7"/>
            <p:cNvSpPr txBox="1"/>
            <p:nvPr/>
          </p:nvSpPr>
          <p:spPr>
            <a:xfrm>
              <a:off x="677418" y="2613025"/>
              <a:ext cx="2940867" cy="913257"/>
            </a:xfrm>
            <a:prstGeom prst="rect">
              <a:avLst/>
            </a:prstGeom>
            <a:noFill/>
            <a:ln>
              <a:noFill/>
            </a:ln>
          </p:spPr>
          <p:txBody>
            <a:bodyPr wrap="none" lIns="0" tIns="0" rIns="0" bIns="0" anchor="t" anchorCtr="0">
              <a:spAutoFit/>
            </a:bodyPr>
            <a:lstStyle/>
            <a:p>
              <a:pPr algn="l">
                <a:lnSpc>
                  <a:spcPts val="2325"/>
                </a:lnSpc>
              </a:pPr>
              <a:r>
                <a:rPr lang="en-AU" sz="1650" dirty="0">
                  <a:solidFill>
                    <a:schemeClr val="dk1"/>
                  </a:solidFill>
                  <a:latin typeface="+mn-lt"/>
                  <a:ea typeface="+mn-ea"/>
                  <a:cs typeface="+mn-cs"/>
                </a:rPr>
                <a:t>Client/Tutor: arrange carer</a:t>
              </a:r>
              <a:br>
                <a:rPr lang="en-AU" sz="1650" dirty="0">
                  <a:solidFill>
                    <a:schemeClr val="dk1"/>
                  </a:solidFill>
                  <a:latin typeface="+mn-lt"/>
                  <a:ea typeface="+mn-ea"/>
                  <a:cs typeface="+mn-cs"/>
                </a:rPr>
              </a:br>
              <a:r>
                <a:rPr lang="en-AU" sz="1650" dirty="0">
                  <a:solidFill>
                    <a:schemeClr val="dk1"/>
                  </a:solidFill>
                  <a:latin typeface="+mn-lt"/>
                  <a:ea typeface="+mn-ea"/>
                  <a:cs typeface="+mn-cs"/>
                </a:rPr>
                <a:t>access; confirm contact route,</a:t>
              </a:r>
              <a:br>
                <a:rPr lang="en-AU" sz="1650" dirty="0">
                  <a:solidFill>
                    <a:schemeClr val="dk1"/>
                  </a:solidFill>
                  <a:latin typeface="+mn-lt"/>
                  <a:ea typeface="+mn-ea"/>
                  <a:cs typeface="+mn-cs"/>
                </a:rPr>
              </a:br>
              <a:r>
                <a:rPr lang="en-AU" sz="1650" dirty="0">
                  <a:solidFill>
                    <a:schemeClr val="dk1"/>
                  </a:solidFill>
                  <a:latin typeface="+mn-lt"/>
                  <a:ea typeface="+mn-ea"/>
                  <a:cs typeface="+mn-cs"/>
                </a:rPr>
                <a:t>baseline/linkage and A3 cut-off.</a:t>
              </a:r>
            </a:p>
          </p:txBody>
        </p:sp>
      </p:grpSp>
      <p:grpSp>
        <p:nvGrpSpPr>
          <p:cNvPr id="12" name="action-2"/>
          <p:cNvGrpSpPr/>
          <p:nvPr/>
        </p:nvGrpSpPr>
        <p:grpSpPr>
          <a:xfrm>
            <a:off x="4408170" y="1692275"/>
            <a:ext cx="3164738" cy="2129282"/>
            <a:chOff x="4408170" y="1692275"/>
            <a:chExt cx="3164738" cy="2129282"/>
          </a:xfrm>
        </p:grpSpPr>
        <p:sp>
          <p:nvSpPr>
            <p:cNvPr id="9" name="TextBox 9"/>
            <p:cNvSpPr txBox="1"/>
            <p:nvPr/>
          </p:nvSpPr>
          <p:spPr>
            <a:xfrm>
              <a:off x="4408170" y="1692275"/>
              <a:ext cx="359800" cy="440055"/>
            </a:xfrm>
            <a:prstGeom prst="rect">
              <a:avLst/>
            </a:prstGeom>
            <a:noFill/>
            <a:ln>
              <a:noFill/>
            </a:ln>
          </p:spPr>
          <p:txBody>
            <a:bodyPr wrap="none" lIns="0" tIns="0" rIns="0" bIns="0" anchor="t" anchorCtr="0">
              <a:spAutoFit/>
            </a:bodyPr>
            <a:lstStyle/>
            <a:p>
              <a:pPr algn="l"/>
              <a:r>
                <a:rPr lang="en-AU" sz="2250" b="1" dirty="0">
                  <a:solidFill>
                    <a:schemeClr val="accent2"/>
                  </a:solidFill>
                  <a:latin typeface="+mn-lt"/>
                  <a:ea typeface="+mn-ea"/>
                  <a:cs typeface="+mn-cs"/>
                </a:rPr>
                <a:t>02</a:t>
              </a:r>
            </a:p>
          </p:txBody>
        </p:sp>
        <p:sp>
          <p:nvSpPr>
            <p:cNvPr id="10" name="TextBox 10"/>
            <p:cNvSpPr txBox="1"/>
            <p:nvPr/>
          </p:nvSpPr>
          <p:spPr>
            <a:xfrm>
              <a:off x="4409313" y="2136775"/>
              <a:ext cx="2763725" cy="396050"/>
            </a:xfrm>
            <a:prstGeom prst="rect">
              <a:avLst/>
            </a:prstGeom>
            <a:noFill/>
            <a:ln>
              <a:noFill/>
            </a:ln>
          </p:spPr>
          <p:txBody>
            <a:bodyPr wrap="none" lIns="0" tIns="0" rIns="0" bIns="0" anchor="t" anchorCtr="0">
              <a:spAutoFit/>
            </a:bodyPr>
            <a:lstStyle/>
            <a:p>
              <a:pPr algn="l"/>
              <a:r>
                <a:rPr lang="en-AU" sz="2020" b="1" dirty="0">
                  <a:solidFill>
                    <a:schemeClr val="accent1"/>
                  </a:solidFill>
                  <a:latin typeface="+mn-lt"/>
                  <a:ea typeface="+mn-ea"/>
                  <a:cs typeface="+mn-cs"/>
                </a:rPr>
                <a:t>Probe understanding</a:t>
              </a:r>
            </a:p>
          </p:txBody>
        </p:sp>
        <p:sp>
          <p:nvSpPr>
            <p:cNvPr id="11" name="TextBox 11"/>
            <p:cNvSpPr txBox="1"/>
            <p:nvPr/>
          </p:nvSpPr>
          <p:spPr>
            <a:xfrm>
              <a:off x="4411218" y="2613025"/>
              <a:ext cx="3161690" cy="1208532"/>
            </a:xfrm>
            <a:prstGeom prst="rect">
              <a:avLst/>
            </a:prstGeom>
            <a:noFill/>
            <a:ln>
              <a:noFill/>
            </a:ln>
          </p:spPr>
          <p:txBody>
            <a:bodyPr wrap="none" lIns="0" tIns="0" rIns="0" bIns="0" anchor="t" anchorCtr="0">
              <a:spAutoFit/>
            </a:bodyPr>
            <a:lstStyle/>
            <a:p>
              <a:pPr algn="l">
                <a:lnSpc>
                  <a:spcPts val="2325"/>
                </a:lnSpc>
              </a:pPr>
              <a:r>
                <a:rPr lang="en-AU" sz="1650" dirty="0">
                  <a:solidFill>
                    <a:schemeClr val="dk1"/>
                  </a:solidFill>
                  <a:latin typeface="+mn-lt"/>
                  <a:ea typeface="+mn-ea"/>
                  <a:cs typeface="+mn-cs"/>
                </a:rPr>
                <a:t>Student: probe meanings, recall</a:t>
              </a:r>
              <a:br>
                <a:rPr lang="en-AU" sz="1650" dirty="0">
                  <a:solidFill>
                    <a:schemeClr val="dk1"/>
                  </a:solidFill>
                  <a:latin typeface="+mn-lt"/>
                  <a:ea typeface="+mn-ea"/>
                  <a:cs typeface="+mn-cs"/>
                </a:rPr>
              </a:br>
              <a:r>
                <a:rPr lang="en-AU" sz="1650" dirty="0">
                  <a:solidFill>
                    <a:schemeClr val="dk1"/>
                  </a:solidFill>
                  <a:latin typeface="+mn-lt"/>
                  <a:ea typeface="+mn-ea"/>
                  <a:cs typeface="+mn-cs"/>
                </a:rPr>
                <a:t>windows and answer choices with</a:t>
              </a:r>
              <a:br>
                <a:rPr lang="en-AU" sz="1650" dirty="0">
                  <a:solidFill>
                    <a:schemeClr val="dk1"/>
                  </a:solidFill>
                  <a:latin typeface="+mn-lt"/>
                  <a:ea typeface="+mn-ea"/>
                  <a:cs typeface="+mn-cs"/>
                </a:rPr>
              </a:br>
              <a:r>
                <a:rPr lang="en-AU" sz="1650" dirty="0">
                  <a:solidFill>
                    <a:schemeClr val="dk1"/>
                  </a:solidFill>
                  <a:latin typeface="+mn-lt"/>
                  <a:ea typeface="+mn-ea"/>
                  <a:cs typeface="+mn-cs"/>
                </a:rPr>
                <a:t>3–5 adult carers (proposed); log</a:t>
              </a:r>
              <a:br>
                <a:rPr lang="en-AU" sz="1650" dirty="0">
                  <a:solidFill>
                    <a:schemeClr val="dk1"/>
                  </a:solidFill>
                  <a:latin typeface="+mn-lt"/>
                  <a:ea typeface="+mn-ea"/>
                  <a:cs typeface="+mn-cs"/>
                </a:rPr>
              </a:br>
              <a:r>
                <a:rPr lang="en-AU" sz="1650" dirty="0">
                  <a:solidFill>
                    <a:schemeClr val="dk1"/>
                  </a:solidFill>
                  <a:latin typeface="+mn-lt"/>
                  <a:ea typeface="+mn-ea"/>
                  <a:cs typeface="+mn-cs"/>
                </a:rPr>
                <a:t>confusion.</a:t>
              </a:r>
            </a:p>
          </p:txBody>
        </p:sp>
      </p:grpSp>
      <p:grpSp>
        <p:nvGrpSpPr>
          <p:cNvPr id="16" name="action-3"/>
          <p:cNvGrpSpPr/>
          <p:nvPr/>
        </p:nvGrpSpPr>
        <p:grpSpPr>
          <a:xfrm>
            <a:off x="8141970" y="1692275"/>
            <a:ext cx="3158703" cy="2129282"/>
            <a:chOff x="8141970" y="1692275"/>
            <a:chExt cx="3158703" cy="2129282"/>
          </a:xfrm>
        </p:grpSpPr>
        <p:sp>
          <p:nvSpPr>
            <p:cNvPr id="13" name="TextBox 13"/>
            <p:cNvSpPr txBox="1"/>
            <p:nvPr/>
          </p:nvSpPr>
          <p:spPr>
            <a:xfrm>
              <a:off x="8141970" y="1692275"/>
              <a:ext cx="359800" cy="440055"/>
            </a:xfrm>
            <a:prstGeom prst="rect">
              <a:avLst/>
            </a:prstGeom>
            <a:noFill/>
            <a:ln>
              <a:noFill/>
            </a:ln>
          </p:spPr>
          <p:txBody>
            <a:bodyPr wrap="none" lIns="0" tIns="0" rIns="0" bIns="0" anchor="t" anchorCtr="0">
              <a:spAutoFit/>
            </a:bodyPr>
            <a:lstStyle/>
            <a:p>
              <a:pPr algn="l"/>
              <a:r>
                <a:rPr lang="en-AU" sz="2250" b="1" dirty="0">
                  <a:solidFill>
                    <a:schemeClr val="accent2"/>
                  </a:solidFill>
                  <a:latin typeface="+mn-lt"/>
                  <a:ea typeface="+mn-ea"/>
                  <a:cs typeface="+mn-cs"/>
                </a:rPr>
                <a:t>03</a:t>
              </a:r>
            </a:p>
          </p:txBody>
        </p:sp>
        <p:sp>
          <p:nvSpPr>
            <p:cNvPr id="14" name="TextBox 14"/>
            <p:cNvSpPr txBox="1"/>
            <p:nvPr/>
          </p:nvSpPr>
          <p:spPr>
            <a:xfrm>
              <a:off x="8143113" y="2136775"/>
              <a:ext cx="2569190" cy="396050"/>
            </a:xfrm>
            <a:prstGeom prst="rect">
              <a:avLst/>
            </a:prstGeom>
            <a:noFill/>
            <a:ln>
              <a:noFill/>
            </a:ln>
          </p:spPr>
          <p:txBody>
            <a:bodyPr wrap="none" lIns="0" tIns="0" rIns="0" bIns="0" anchor="t" anchorCtr="0">
              <a:spAutoFit/>
            </a:bodyPr>
            <a:lstStyle/>
            <a:p>
              <a:pPr algn="l"/>
              <a:r>
                <a:rPr lang="en-AU" sz="2020" b="1" dirty="0">
                  <a:solidFill>
                    <a:schemeClr val="accent1"/>
                  </a:solidFill>
                  <a:latin typeface="+mn-lt"/>
                  <a:ea typeface="+mn-ea"/>
                  <a:cs typeface="+mn-cs"/>
                </a:rPr>
                <a:t>Revise and recheck</a:t>
              </a:r>
            </a:p>
          </p:txBody>
        </p:sp>
        <p:sp>
          <p:nvSpPr>
            <p:cNvPr id="15" name="TextBox 15"/>
            <p:cNvSpPr txBox="1"/>
            <p:nvPr/>
          </p:nvSpPr>
          <p:spPr>
            <a:xfrm>
              <a:off x="8145018" y="2613025"/>
              <a:ext cx="3155655" cy="1208532"/>
            </a:xfrm>
            <a:prstGeom prst="rect">
              <a:avLst/>
            </a:prstGeom>
            <a:noFill/>
            <a:ln>
              <a:noFill/>
            </a:ln>
          </p:spPr>
          <p:txBody>
            <a:bodyPr wrap="none" lIns="0" tIns="0" rIns="0" bIns="0" anchor="t" anchorCtr="0">
              <a:spAutoFit/>
            </a:bodyPr>
            <a:lstStyle/>
            <a:p>
              <a:pPr algn="l">
                <a:lnSpc>
                  <a:spcPts val="2325"/>
                </a:lnSpc>
              </a:pPr>
              <a:r>
                <a:rPr lang="en-AU" sz="1650" dirty="0">
                  <a:solidFill>
                    <a:schemeClr val="dk1"/>
                  </a:solidFill>
                  <a:latin typeface="+mn-lt"/>
                  <a:ea typeface="+mn-ea"/>
                  <a:cs typeface="+mn-cs"/>
                </a:rPr>
                <a:t>Student + team: clarify terms, add</a:t>
              </a:r>
              <a:br>
                <a:rPr lang="en-AU" sz="1650" dirty="0">
                  <a:solidFill>
                    <a:schemeClr val="dk1"/>
                  </a:solidFill>
                  <a:latin typeface="+mn-lt"/>
                  <a:ea typeface="+mn-ea"/>
                  <a:cs typeface="+mn-cs"/>
                </a:rPr>
              </a:br>
              <a:r>
                <a:rPr lang="en-AU" sz="1650" dirty="0">
                  <a:solidFill>
                    <a:schemeClr val="dk1"/>
                  </a:solidFill>
                  <a:latin typeface="+mn-lt"/>
                  <a:ea typeface="+mn-ea"/>
                  <a:cs typeface="+mn-cs"/>
                </a:rPr>
                <a:t>missing options, remove</a:t>
              </a:r>
              <a:br>
                <a:rPr lang="en-AU" sz="1650" dirty="0">
                  <a:solidFill>
                    <a:schemeClr val="dk1"/>
                  </a:solidFill>
                  <a:latin typeface="+mn-lt"/>
                  <a:ea typeface="+mn-ea"/>
                  <a:cs typeface="+mn-cs"/>
                </a:rPr>
              </a:br>
              <a:r>
                <a:rPr lang="en-AU" sz="1650" dirty="0">
                  <a:solidFill>
                    <a:schemeClr val="dk1"/>
                  </a:solidFill>
                  <a:latin typeface="+mn-lt"/>
                  <a:ea typeface="+mn-ea"/>
                  <a:cs typeface="+mn-cs"/>
                </a:rPr>
                <a:t>nonessential items and recheck</a:t>
              </a:r>
              <a:br>
                <a:rPr lang="en-AU" sz="1650" dirty="0">
                  <a:solidFill>
                    <a:schemeClr val="dk1"/>
                  </a:solidFill>
                  <a:latin typeface="+mn-lt"/>
                  <a:ea typeface="+mn-ea"/>
                  <a:cs typeface="+mn-cs"/>
                </a:rPr>
              </a:br>
              <a:r>
                <a:rPr lang="en-AU" sz="1650" dirty="0">
                  <a:solidFill>
                    <a:schemeClr val="dk1"/>
                  </a:solidFill>
                  <a:latin typeface="+mn-lt"/>
                  <a:ea typeface="+mn-ea"/>
                  <a:cs typeface="+mn-cs"/>
                </a:rPr>
                <a:t>changes.</a:t>
              </a:r>
            </a:p>
          </p:txBody>
        </p:sp>
      </p:grpSp>
      <p:grpSp>
        <p:nvGrpSpPr>
          <p:cNvPr id="19" name="test-observations"/>
          <p:cNvGrpSpPr/>
          <p:nvPr/>
        </p:nvGrpSpPr>
        <p:grpSpPr>
          <a:xfrm>
            <a:off x="677418" y="4035425"/>
            <a:ext cx="8742027" cy="626491"/>
            <a:chOff x="677418" y="4035425"/>
            <a:chExt cx="8742027" cy="626491"/>
          </a:xfrm>
        </p:grpSpPr>
        <p:sp>
          <p:nvSpPr>
            <p:cNvPr id="17" name="TextBox 17"/>
            <p:cNvSpPr txBox="1"/>
            <p:nvPr/>
          </p:nvSpPr>
          <p:spPr>
            <a:xfrm>
              <a:off x="677418" y="4035425"/>
              <a:ext cx="8133961"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If digital: UX walkthrough checks completion, navigation and understanding.</a:t>
              </a:r>
            </a:p>
          </p:txBody>
        </p:sp>
        <p:sp>
          <p:nvSpPr>
            <p:cNvPr id="18" name="TextBox 18"/>
            <p:cNvSpPr txBox="1"/>
            <p:nvPr/>
          </p:nvSpPr>
          <p:spPr>
            <a:xfrm>
              <a:off x="677799" y="4352925"/>
              <a:ext cx="8741646" cy="308991"/>
            </a:xfrm>
            <a:prstGeom prst="rect">
              <a:avLst/>
            </a:prstGeom>
            <a:noFill/>
            <a:ln>
              <a:noFill/>
            </a:ln>
          </p:spPr>
          <p:txBody>
            <a:bodyPr wrap="none" lIns="0" tIns="0" rIns="0" bIns="0" anchor="t" anchorCtr="0">
              <a:spAutoFit/>
            </a:bodyPr>
            <a:lstStyle/>
            <a:p>
              <a:pPr algn="l"/>
              <a:r>
                <a:rPr lang="en-AU" sz="1580" dirty="0">
                  <a:solidFill>
                    <a:schemeClr val="dk1"/>
                  </a:solidFill>
                  <a:latin typeface="+mn-lt"/>
                  <a:ea typeface="+mn-ea"/>
                  <a:cs typeface="+mn-cs"/>
                </a:rPr>
                <a:t>Log missing options and time. Proposed form target: ≤3 minutes, excluding interview probes.</a:t>
              </a:r>
            </a:p>
          </p:txBody>
        </p:sp>
      </p:grpSp>
      <p:grpSp>
        <p:nvGrpSpPr>
          <p:cNvPr id="23" name="feasibility-branch"/>
          <p:cNvGrpSpPr/>
          <p:nvPr/>
        </p:nvGrpSpPr>
        <p:grpSpPr>
          <a:xfrm>
            <a:off x="677037" y="4927600"/>
            <a:ext cx="9180505" cy="973582"/>
            <a:chOff x="677037" y="4927600"/>
            <a:chExt cx="9180505" cy="973582"/>
          </a:xfrm>
        </p:grpSpPr>
        <p:sp>
          <p:nvSpPr>
            <p:cNvPr id="20" name="TextBox 20"/>
            <p:cNvSpPr txBox="1"/>
            <p:nvPr/>
          </p:nvSpPr>
          <p:spPr>
            <a:xfrm>
              <a:off x="677037" y="4927600"/>
              <a:ext cx="9180505" cy="337376"/>
            </a:xfrm>
            <a:prstGeom prst="rect">
              <a:avLst/>
            </a:prstGeom>
            <a:noFill/>
            <a:ln>
              <a:noFill/>
            </a:ln>
          </p:spPr>
          <p:txBody>
            <a:bodyPr wrap="none" lIns="0" tIns="0" rIns="0" bIns="0" anchor="t" anchorCtr="0">
              <a:spAutoFit/>
            </a:bodyPr>
            <a:lstStyle/>
            <a:p>
              <a:pPr algn="l"/>
              <a:r>
                <a:rPr lang="en-AU" sz="1720" b="1" dirty="0">
                  <a:solidFill>
                    <a:schemeClr val="accent2"/>
                  </a:solidFill>
                  <a:latin typeface="+mn-lt"/>
                  <a:ea typeface="+mn-ea"/>
                  <a:cs typeface="+mn-cs"/>
                </a:rPr>
                <a:t>Four-week follow-up only if eligible past visits, contact access and A3 timing allow.</a:t>
              </a:r>
            </a:p>
          </p:txBody>
        </p:sp>
        <p:sp>
          <p:nvSpPr>
            <p:cNvPr id="21" name="TextBox 21"/>
            <p:cNvSpPr txBox="1"/>
            <p:nvPr/>
          </p:nvSpPr>
          <p:spPr>
            <a:xfrm>
              <a:off x="677418" y="5292725"/>
              <a:ext cx="7640324"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If a new wait leaves too little analysis/writing time, or the client survey is fixed:</a:t>
              </a:r>
            </a:p>
          </p:txBody>
        </p:sp>
        <p:sp>
          <p:nvSpPr>
            <p:cNvPr id="22" name="TextBox 22"/>
            <p:cNvSpPr txBox="1"/>
            <p:nvPr/>
          </p:nvSpPr>
          <p:spPr>
            <a:xfrm>
              <a:off x="677418" y="5578475"/>
              <a:ext cx="9084570"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Audit existing items/data → interpret results → recommend next-cycle improvements.</a:t>
              </a:r>
            </a:p>
          </p:txBody>
        </p:sp>
      </p:grpSp>
      <p:grpSp>
        <p:nvGrpSpPr>
          <p:cNvPr id="25" name="source-note"/>
          <p:cNvGrpSpPr/>
          <p:nvPr/>
        </p:nvGrpSpPr>
        <p:grpSpPr>
          <a:xfrm>
            <a:off x="679704" y="5962650"/>
            <a:ext cx="8368742" cy="234696"/>
            <a:chOff x="679704" y="5962650"/>
            <a:chExt cx="8368742" cy="234696"/>
          </a:xfrm>
        </p:grpSpPr>
        <p:sp>
          <p:nvSpPr>
            <p:cNvPr id="24" name="TextBox 24"/>
            <p:cNvSpPr txBox="1"/>
            <p:nvPr/>
          </p:nvSpPr>
          <p:spPr>
            <a:xfrm>
              <a:off x="679704" y="5962650"/>
              <a:ext cx="8368742"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Testing: ONS n.d., §3 Table 1, §4 and Annex 2; Bjarkefur et al. 2021. Roles, numbers and target time are proposals.</a:t>
              </a:r>
            </a:p>
          </p:txBody>
        </p:sp>
      </p:grpSp>
      <p:sp>
        <p:nvSpPr>
          <p:cNvPr id="26" name="Line 26"/>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7"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28"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7283290" cy="645414"/>
            <a:chOff x="669036" y="527050"/>
            <a:chExt cx="7283290" cy="645414"/>
          </a:xfrm>
        </p:grpSpPr>
        <p:sp>
          <p:nvSpPr>
            <p:cNvPr id="2" name="TextBox 2"/>
            <p:cNvSpPr txBox="1"/>
            <p:nvPr/>
          </p:nvSpPr>
          <p:spPr>
            <a:xfrm>
              <a:off x="669036" y="527050"/>
              <a:ext cx="7283290"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References | domain and methods</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8" name="reference-1"/>
          <p:cNvGrpSpPr/>
          <p:nvPr/>
        </p:nvGrpSpPr>
        <p:grpSpPr>
          <a:xfrm>
            <a:off x="677418" y="1739900"/>
            <a:ext cx="7114749" cy="809371"/>
            <a:chOff x="677418" y="1739900"/>
            <a:chExt cx="7114749" cy="809371"/>
          </a:xfrm>
        </p:grpSpPr>
        <p:sp>
          <p:nvSpPr>
            <p:cNvPr id="5" name="TextBox 5"/>
            <p:cNvSpPr txBox="1"/>
            <p:nvPr/>
          </p:nvSpPr>
          <p:spPr>
            <a:xfrm>
              <a:off x="677418" y="1739900"/>
              <a:ext cx="3152886"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Toy Libraries Australia (2024)</a:t>
              </a:r>
            </a:p>
          </p:txBody>
        </p:sp>
        <p:sp>
          <p:nvSpPr>
            <p:cNvPr id="6" name="TextBox 6"/>
            <p:cNvSpPr txBox="1"/>
            <p:nvPr/>
          </p:nvSpPr>
          <p:spPr>
            <a:xfrm>
              <a:off x="678942" y="2035175"/>
              <a:ext cx="6130456"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Opportunities in the circular economy: Productivity Commission submission.</a:t>
              </a:r>
            </a:p>
          </p:txBody>
        </p:sp>
        <p:sp>
          <p:nvSpPr>
            <p:cNvPr id="7" name="TextBox 7"/>
            <p:cNvSpPr txBox="1"/>
            <p:nvPr/>
          </p:nvSpPr>
          <p:spPr>
            <a:xfrm>
              <a:off x="679704" y="2314575"/>
              <a:ext cx="7112463"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Submission 130, November, pp.1–3. Supplied PDF; industry submission reporting sector evidence.</a:t>
              </a:r>
            </a:p>
          </p:txBody>
        </p:sp>
      </p:grpSp>
      <p:grpSp>
        <p:nvGrpSpPr>
          <p:cNvPr id="12" name="reference-2"/>
          <p:cNvGrpSpPr/>
          <p:nvPr/>
        </p:nvGrpSpPr>
        <p:grpSpPr>
          <a:xfrm>
            <a:off x="677418" y="2740025"/>
            <a:ext cx="7430891" cy="809371"/>
            <a:chOff x="677418" y="2740025"/>
            <a:chExt cx="7430891" cy="809371"/>
          </a:xfrm>
        </p:grpSpPr>
        <p:sp>
          <p:nvSpPr>
            <p:cNvPr id="9" name="TextBox 9"/>
            <p:cNvSpPr txBox="1"/>
            <p:nvPr/>
          </p:nvSpPr>
          <p:spPr>
            <a:xfrm>
              <a:off x="677418" y="2740025"/>
              <a:ext cx="4332041"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Office for National Statistics (ONS) (n.d.)</a:t>
              </a:r>
            </a:p>
          </p:txBody>
        </p:sp>
        <p:sp>
          <p:nvSpPr>
            <p:cNvPr id="10" name="TextBox 10"/>
            <p:cNvSpPr txBox="1"/>
            <p:nvPr/>
          </p:nvSpPr>
          <p:spPr>
            <a:xfrm>
              <a:off x="678942" y="3035300"/>
              <a:ext cx="5542061"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Question and questionnaire development overview for Census 2021.</a:t>
              </a:r>
            </a:p>
          </p:txBody>
        </p:sp>
        <p:sp>
          <p:nvSpPr>
            <p:cNvPr id="11" name="TextBox 11"/>
            <p:cNvSpPr txBox="1"/>
            <p:nvPr/>
          </p:nvSpPr>
          <p:spPr>
            <a:xfrm>
              <a:off x="679704" y="3314700"/>
              <a:ext cx="7428605"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§§3–4, §7 and Annex 2. Supplied converted reading copy, pp.4, 7, 14, 18–19; viewed 19 October 2026.</a:t>
              </a:r>
            </a:p>
          </p:txBody>
        </p:sp>
      </p:grpSp>
      <p:grpSp>
        <p:nvGrpSpPr>
          <p:cNvPr id="16" name="reference-3"/>
          <p:cNvGrpSpPr/>
          <p:nvPr/>
        </p:nvGrpSpPr>
        <p:grpSpPr>
          <a:xfrm>
            <a:off x="677418" y="3740150"/>
            <a:ext cx="8132222" cy="809371"/>
            <a:chOff x="677418" y="3740150"/>
            <a:chExt cx="8132222" cy="809371"/>
          </a:xfrm>
        </p:grpSpPr>
        <p:sp>
          <p:nvSpPr>
            <p:cNvPr id="13" name="TextBox 13"/>
            <p:cNvSpPr txBox="1"/>
            <p:nvPr/>
          </p:nvSpPr>
          <p:spPr>
            <a:xfrm>
              <a:off x="677418" y="3740150"/>
              <a:ext cx="7041772"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Bjarkefur, K., de Andrade, L.C., Daniels, B. and Jones, M.R. (2021)</a:t>
              </a:r>
            </a:p>
          </p:txBody>
        </p:sp>
        <p:sp>
          <p:nvSpPr>
            <p:cNvPr id="14" name="TextBox 14"/>
            <p:cNvSpPr txBox="1"/>
            <p:nvPr/>
          </p:nvSpPr>
          <p:spPr>
            <a:xfrm>
              <a:off x="678942" y="4035425"/>
              <a:ext cx="5936516"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Development Research in Practice: The DIME Analytics Data Handbook.</a:t>
              </a:r>
            </a:p>
          </p:txBody>
        </p:sp>
        <p:sp>
          <p:nvSpPr>
            <p:cNvPr id="15" name="TextBox 15"/>
            <p:cNvSpPr txBox="1"/>
            <p:nvPr/>
          </p:nvSpPr>
          <p:spPr>
            <a:xfrm>
              <a:off x="679704" y="4314825"/>
              <a:ext cx="8129936"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World Bank, chs.3–4, source version viewed 19 October 2026. https://github.com/worldbank/dime-data-handbook</a:t>
              </a:r>
            </a:p>
          </p:txBody>
        </p:sp>
      </p:grpSp>
      <p:grpSp>
        <p:nvGrpSpPr>
          <p:cNvPr id="20" name="reference-4"/>
          <p:cNvGrpSpPr/>
          <p:nvPr/>
        </p:nvGrpSpPr>
        <p:grpSpPr>
          <a:xfrm>
            <a:off x="677418" y="4740275"/>
            <a:ext cx="7280711" cy="809371"/>
            <a:chOff x="677418" y="4740275"/>
            <a:chExt cx="7280711" cy="809371"/>
          </a:xfrm>
        </p:grpSpPr>
        <p:sp>
          <p:nvSpPr>
            <p:cNvPr id="17" name="TextBox 17"/>
            <p:cNvSpPr txBox="1"/>
            <p:nvPr/>
          </p:nvSpPr>
          <p:spPr>
            <a:xfrm>
              <a:off x="677418" y="4740275"/>
              <a:ext cx="4385561"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Government Digital Service (GDS) (n.d.a)</a:t>
              </a:r>
            </a:p>
          </p:txBody>
        </p:sp>
        <p:sp>
          <p:nvSpPr>
            <p:cNvPr id="18" name="TextBox 18"/>
            <p:cNvSpPr txBox="1"/>
            <p:nvPr/>
          </p:nvSpPr>
          <p:spPr>
            <a:xfrm>
              <a:off x="678942" y="5035550"/>
              <a:ext cx="3469178"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Question pages. GOV.UK Design System.</a:t>
              </a:r>
            </a:p>
          </p:txBody>
        </p:sp>
        <p:sp>
          <p:nvSpPr>
            <p:cNvPr id="19" name="TextBox 19"/>
            <p:cNvSpPr txBox="1"/>
            <p:nvPr/>
          </p:nvSpPr>
          <p:spPr>
            <a:xfrm>
              <a:off x="679704" y="5314950"/>
              <a:ext cx="7278425"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Official source repository, viewed 19 October 2026. https://github.com/alphagov/govuk-design-system</a:t>
              </a:r>
            </a:p>
          </p:txBody>
        </p:sp>
      </p:grpSp>
      <p:sp>
        <p:nvSpPr>
          <p:cNvPr id="21" name="Line 21"/>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2"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23"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8443383" cy="645414"/>
            <a:chOff x="669036" y="527050"/>
            <a:chExt cx="8443383" cy="645414"/>
          </a:xfrm>
        </p:grpSpPr>
        <p:sp>
          <p:nvSpPr>
            <p:cNvPr id="2" name="TextBox 2"/>
            <p:cNvSpPr txBox="1"/>
            <p:nvPr/>
          </p:nvSpPr>
          <p:spPr>
            <a:xfrm>
              <a:off x="669036" y="527050"/>
              <a:ext cx="8443383"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References | design and course context</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8" name="reference-1"/>
          <p:cNvGrpSpPr/>
          <p:nvPr/>
        </p:nvGrpSpPr>
        <p:grpSpPr>
          <a:xfrm>
            <a:off x="677418" y="1606550"/>
            <a:ext cx="7280711" cy="809371"/>
            <a:chOff x="677418" y="1606550"/>
            <a:chExt cx="7280711" cy="809371"/>
          </a:xfrm>
        </p:grpSpPr>
        <p:sp>
          <p:nvSpPr>
            <p:cNvPr id="5" name="TextBox 5"/>
            <p:cNvSpPr txBox="1"/>
            <p:nvPr/>
          </p:nvSpPr>
          <p:spPr>
            <a:xfrm>
              <a:off x="677418" y="1606550"/>
              <a:ext cx="4397826"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Government Digital Service (GDS) (n.d.b)</a:t>
              </a:r>
            </a:p>
          </p:txBody>
        </p:sp>
        <p:sp>
          <p:nvSpPr>
            <p:cNvPr id="6" name="TextBox 6"/>
            <p:cNvSpPr txBox="1"/>
            <p:nvPr/>
          </p:nvSpPr>
          <p:spPr>
            <a:xfrm>
              <a:off x="678942" y="1901825"/>
              <a:ext cx="2763532"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Radios. GOV.UK Design System.</a:t>
              </a:r>
            </a:p>
          </p:txBody>
        </p:sp>
        <p:sp>
          <p:nvSpPr>
            <p:cNvPr id="7" name="TextBox 7"/>
            <p:cNvSpPr txBox="1"/>
            <p:nvPr/>
          </p:nvSpPr>
          <p:spPr>
            <a:xfrm>
              <a:off x="679704" y="2181225"/>
              <a:ext cx="7278425"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Official source repository, viewed 19 October 2026. https://github.com/alphagov/govuk-design-system</a:t>
              </a:r>
            </a:p>
          </p:txBody>
        </p:sp>
      </p:grpSp>
      <p:grpSp>
        <p:nvGrpSpPr>
          <p:cNvPr id="12" name="reference-2"/>
          <p:cNvGrpSpPr/>
          <p:nvPr/>
        </p:nvGrpSpPr>
        <p:grpSpPr>
          <a:xfrm>
            <a:off x="677418" y="2444750"/>
            <a:ext cx="7280711" cy="809371"/>
            <a:chOff x="677418" y="2444750"/>
            <a:chExt cx="7280711" cy="809371"/>
          </a:xfrm>
        </p:grpSpPr>
        <p:sp>
          <p:nvSpPr>
            <p:cNvPr id="9" name="TextBox 9"/>
            <p:cNvSpPr txBox="1"/>
            <p:nvPr/>
          </p:nvSpPr>
          <p:spPr>
            <a:xfrm>
              <a:off x="677418" y="2444750"/>
              <a:ext cx="4385561"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Government Digital Service (GDS) (n.d.c)</a:t>
              </a:r>
            </a:p>
          </p:txBody>
        </p:sp>
        <p:sp>
          <p:nvSpPr>
            <p:cNvPr id="10" name="TextBox 10"/>
            <p:cNvSpPr txBox="1"/>
            <p:nvPr/>
          </p:nvSpPr>
          <p:spPr>
            <a:xfrm>
              <a:off x="678942" y="2740025"/>
              <a:ext cx="3439756"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Check answers. GOV.UK Design System.</a:t>
              </a:r>
            </a:p>
          </p:txBody>
        </p:sp>
        <p:sp>
          <p:nvSpPr>
            <p:cNvPr id="11" name="TextBox 11"/>
            <p:cNvSpPr txBox="1"/>
            <p:nvPr/>
          </p:nvSpPr>
          <p:spPr>
            <a:xfrm>
              <a:off x="679704" y="3019425"/>
              <a:ext cx="7278425"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Official source repository, viewed 19 October 2026. https://github.com/alphagov/govuk-design-system</a:t>
              </a:r>
            </a:p>
          </p:txBody>
        </p:sp>
      </p:grpSp>
      <p:grpSp>
        <p:nvGrpSpPr>
          <p:cNvPr id="16" name="reference-3"/>
          <p:cNvGrpSpPr/>
          <p:nvPr/>
        </p:nvGrpSpPr>
        <p:grpSpPr>
          <a:xfrm>
            <a:off x="677418" y="3282950"/>
            <a:ext cx="6621790" cy="809371"/>
            <a:chOff x="677418" y="3282950"/>
            <a:chExt cx="6621790" cy="809371"/>
          </a:xfrm>
        </p:grpSpPr>
        <p:sp>
          <p:nvSpPr>
            <p:cNvPr id="13" name="TextBox 13"/>
            <p:cNvSpPr txBox="1"/>
            <p:nvPr/>
          </p:nvSpPr>
          <p:spPr>
            <a:xfrm>
              <a:off x="677418" y="3282950"/>
              <a:ext cx="2007217"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Nguyen, L. (2026a)</a:t>
              </a:r>
            </a:p>
          </p:txBody>
        </p:sp>
        <p:sp>
          <p:nvSpPr>
            <p:cNvPr id="14" name="TextBox 14"/>
            <p:cNvSpPr txBox="1"/>
            <p:nvPr/>
          </p:nvSpPr>
          <p:spPr>
            <a:xfrm>
              <a:off x="678942" y="3578225"/>
              <a:ext cx="3600848"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Week 2: Action Research &amp; Data Collection.</a:t>
              </a:r>
            </a:p>
          </p:txBody>
        </p:sp>
        <p:sp>
          <p:nvSpPr>
            <p:cNvPr id="15" name="TextBox 15"/>
            <p:cNvSpPr txBox="1"/>
            <p:nvPr/>
          </p:nvSpPr>
          <p:spPr>
            <a:xfrm>
              <a:off x="679704" y="3857625"/>
              <a:ext cx="6619504"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COMM5030, UNSW Sydney, lecture guide, pp.18–19 and 29–30. Supplied course material.</a:t>
              </a:r>
            </a:p>
          </p:txBody>
        </p:sp>
      </p:grpSp>
      <p:grpSp>
        <p:nvGrpSpPr>
          <p:cNvPr id="20" name="reference-4"/>
          <p:cNvGrpSpPr/>
          <p:nvPr/>
        </p:nvGrpSpPr>
        <p:grpSpPr>
          <a:xfrm>
            <a:off x="677418" y="4121150"/>
            <a:ext cx="6366043" cy="809371"/>
            <a:chOff x="677418" y="4121150"/>
            <a:chExt cx="6366043" cy="809371"/>
          </a:xfrm>
        </p:grpSpPr>
        <p:sp>
          <p:nvSpPr>
            <p:cNvPr id="17" name="TextBox 17"/>
            <p:cNvSpPr txBox="1"/>
            <p:nvPr/>
          </p:nvSpPr>
          <p:spPr>
            <a:xfrm>
              <a:off x="677418" y="4121150"/>
              <a:ext cx="2019516"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Nguyen, L. (2026b)</a:t>
              </a:r>
            </a:p>
          </p:txBody>
        </p:sp>
        <p:sp>
          <p:nvSpPr>
            <p:cNvPr id="18" name="TextBox 18"/>
            <p:cNvSpPr txBox="1"/>
            <p:nvPr/>
          </p:nvSpPr>
          <p:spPr>
            <a:xfrm>
              <a:off x="678942" y="4416425"/>
              <a:ext cx="3059147"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Week 3: Social Impact Measurement.</a:t>
              </a:r>
            </a:p>
          </p:txBody>
        </p:sp>
        <p:sp>
          <p:nvSpPr>
            <p:cNvPr id="19" name="TextBox 19"/>
            <p:cNvSpPr txBox="1"/>
            <p:nvPr/>
          </p:nvSpPr>
          <p:spPr>
            <a:xfrm>
              <a:off x="679704" y="4695825"/>
              <a:ext cx="6363757"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COMM5030, UNSW Sydney, lecture slides, pp.25–31 and 42. Supplied course material.</a:t>
              </a:r>
            </a:p>
          </p:txBody>
        </p:sp>
      </p:grpSp>
      <p:grpSp>
        <p:nvGrpSpPr>
          <p:cNvPr id="24" name="reference-5"/>
          <p:cNvGrpSpPr/>
          <p:nvPr/>
        </p:nvGrpSpPr>
        <p:grpSpPr>
          <a:xfrm>
            <a:off x="677418" y="4959350"/>
            <a:ext cx="5824928" cy="809371"/>
            <a:chOff x="677418" y="4959350"/>
            <a:chExt cx="5824928" cy="809371"/>
          </a:xfrm>
        </p:grpSpPr>
        <p:sp>
          <p:nvSpPr>
            <p:cNvPr id="21" name="TextBox 21"/>
            <p:cNvSpPr txBox="1"/>
            <p:nvPr/>
          </p:nvSpPr>
          <p:spPr>
            <a:xfrm>
              <a:off x="677418" y="4959350"/>
              <a:ext cx="2007217" cy="322707"/>
            </a:xfrm>
            <a:prstGeom prst="rect">
              <a:avLst/>
            </a:prstGeom>
            <a:noFill/>
            <a:ln>
              <a:noFill/>
            </a:ln>
          </p:spPr>
          <p:txBody>
            <a:bodyPr wrap="none" lIns="0" tIns="0" rIns="0" bIns="0" anchor="t" anchorCtr="0">
              <a:spAutoFit/>
            </a:bodyPr>
            <a:lstStyle/>
            <a:p>
              <a:pPr algn="l"/>
              <a:r>
                <a:rPr lang="en-AU" sz="1650" b="1" dirty="0">
                  <a:solidFill>
                    <a:schemeClr val="accent1"/>
                  </a:solidFill>
                  <a:latin typeface="+mn-lt"/>
                  <a:ea typeface="+mn-ea"/>
                  <a:cs typeface="+mn-cs"/>
                </a:rPr>
                <a:t>Nguyen, L. (2026c)</a:t>
              </a:r>
            </a:p>
          </p:txBody>
        </p:sp>
        <p:sp>
          <p:nvSpPr>
            <p:cNvPr id="22" name="TextBox 22"/>
            <p:cNvSpPr txBox="1"/>
            <p:nvPr/>
          </p:nvSpPr>
          <p:spPr>
            <a:xfrm>
              <a:off x="678942" y="5254625"/>
              <a:ext cx="2235211" cy="264033"/>
            </a:xfrm>
            <a:prstGeom prst="rect">
              <a:avLst/>
            </a:prstGeom>
            <a:noFill/>
            <a:ln>
              <a:noFill/>
            </a:ln>
          </p:spPr>
          <p:txBody>
            <a:bodyPr wrap="none" lIns="0" tIns="0" rIns="0" bIns="0" anchor="t" anchorCtr="0">
              <a:spAutoFit/>
            </a:bodyPr>
            <a:lstStyle/>
            <a:p>
              <a:pPr algn="l"/>
              <a:r>
                <a:rPr lang="en-AU" sz="1350" dirty="0">
                  <a:solidFill>
                    <a:schemeClr val="dk1"/>
                  </a:solidFill>
                  <a:latin typeface="+mn-lt"/>
                  <a:ea typeface="+mn-ea"/>
                  <a:cs typeface="+mn-cs"/>
                </a:rPr>
                <a:t>Week 5: Systems Thinking.</a:t>
              </a:r>
            </a:p>
          </p:txBody>
        </p:sp>
        <p:sp>
          <p:nvSpPr>
            <p:cNvPr id="23" name="TextBox 23"/>
            <p:cNvSpPr txBox="1"/>
            <p:nvPr/>
          </p:nvSpPr>
          <p:spPr>
            <a:xfrm>
              <a:off x="679704" y="5534025"/>
              <a:ext cx="5822642"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COMM5030, UNSW Sydney, lecture slides, pp.17–28. Supplied course material.</a:t>
              </a:r>
            </a:p>
          </p:txBody>
        </p:sp>
      </p:grpSp>
      <p:grpSp>
        <p:nvGrpSpPr>
          <p:cNvPr id="26" name="preparation"/>
          <p:cNvGrpSpPr/>
          <p:nvPr/>
        </p:nvGrpSpPr>
        <p:grpSpPr>
          <a:xfrm>
            <a:off x="679704" y="5962650"/>
            <a:ext cx="7839211" cy="234696"/>
            <a:chOff x="679704" y="5962650"/>
            <a:chExt cx="7839211" cy="234696"/>
          </a:xfrm>
        </p:grpSpPr>
        <p:sp>
          <p:nvSpPr>
            <p:cNvPr id="25" name="TextBox 25"/>
            <p:cNvSpPr txBox="1"/>
            <p:nvPr/>
          </p:nvSpPr>
          <p:spPr>
            <a:xfrm>
              <a:off x="679704" y="5962650"/>
              <a:ext cx="7839211"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Preparation: ChatGPT assisted drafting; Image Gen informed style A; PPT Master supported editable export.</a:t>
              </a:r>
            </a:p>
          </p:txBody>
        </p:sp>
      </p:grpSp>
      <p:sp>
        <p:nvSpPr>
          <p:cNvPr id="27" name="Line 27"/>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8"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29"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6926925" cy="645414"/>
            <a:chOff x="669036" y="527050"/>
            <a:chExt cx="6926925" cy="645414"/>
          </a:xfrm>
        </p:grpSpPr>
        <p:sp>
          <p:nvSpPr>
            <p:cNvPr id="2" name="TextBox 2"/>
            <p:cNvSpPr txBox="1"/>
            <p:nvPr/>
          </p:nvSpPr>
          <p:spPr>
            <a:xfrm>
              <a:off x="669036" y="527050"/>
              <a:ext cx="6926925"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Appendix A | draft parent survey</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6" name="survey-instructions"/>
          <p:cNvGrpSpPr/>
          <p:nvPr/>
        </p:nvGrpSpPr>
        <p:grpSpPr>
          <a:xfrm>
            <a:off x="677418" y="1584325"/>
            <a:ext cx="9591271" cy="608457"/>
            <a:chOff x="677418" y="1584325"/>
            <a:chExt cx="9591271" cy="608457"/>
          </a:xfrm>
        </p:grpSpPr>
        <p:sp>
          <p:nvSpPr>
            <p:cNvPr id="5" name="TextBox 5"/>
            <p:cNvSpPr txBox="1"/>
            <p:nvPr/>
          </p:nvSpPr>
          <p:spPr>
            <a:xfrm>
              <a:off x="677418" y="1584325"/>
              <a:ext cx="9591271" cy="608457"/>
            </a:xfrm>
            <a:prstGeom prst="rect">
              <a:avLst/>
            </a:prstGeom>
            <a:noFill/>
            <a:ln>
              <a:noFill/>
            </a:ln>
          </p:spPr>
          <p:txBody>
            <a:bodyPr wrap="none" lIns="0" tIns="0" rIns="0" bIns="0" anchor="t" anchorCtr="0">
              <a:spAutoFit/>
            </a:bodyPr>
            <a:lstStyle/>
            <a:p>
              <a:pPr algn="l">
                <a:lnSpc>
                  <a:spcPts val="2250"/>
                </a:lnSpc>
              </a:pPr>
              <a:r>
                <a:rPr lang="en-AU" sz="1650" dirty="0">
                  <a:solidFill>
                    <a:schemeClr val="accent6"/>
                  </a:solidFill>
                  <a:latin typeface="+mn-lt"/>
                  <a:ea typeface="+mn-ea"/>
                  <a:cs typeface="+mn-cs"/>
                </a:rPr>
                <a:t>For adult carers. Proposed four-week follow-up, if feasible. Show the selected visit date; answer for one</a:t>
              </a:r>
              <a:br>
                <a:rPr lang="en-AU" sz="1650" dirty="0">
                  <a:solidFill>
                    <a:schemeClr val="accent6"/>
                  </a:solidFill>
                  <a:latin typeface="+mn-lt"/>
                  <a:ea typeface="+mn-ea"/>
                  <a:cs typeface="+mn-cs"/>
                </a:rPr>
              </a:br>
              <a:r>
                <a:rPr lang="en-AU" sz="1650" dirty="0">
                  <a:solidFill>
                    <a:schemeClr val="accent6"/>
                  </a:solidFill>
                  <a:latin typeface="+mn-lt"/>
                  <a:ea typeface="+mn-ea"/>
                  <a:cs typeface="+mn-cs"/>
                </a:rPr>
                <a:t>child. No child identifier. Participation is optional and does not affect support.</a:t>
              </a:r>
            </a:p>
          </p:txBody>
        </p:sp>
      </p:grpSp>
      <p:grpSp>
        <p:nvGrpSpPr>
          <p:cNvPr id="10" name="survey-item-1"/>
          <p:cNvGrpSpPr/>
          <p:nvPr/>
        </p:nvGrpSpPr>
        <p:grpSpPr>
          <a:xfrm>
            <a:off x="677418" y="2378075"/>
            <a:ext cx="4706912" cy="1613408"/>
            <a:chOff x="677418" y="2378075"/>
            <a:chExt cx="4706912" cy="1613408"/>
          </a:xfrm>
        </p:grpSpPr>
        <p:sp>
          <p:nvSpPr>
            <p:cNvPr id="7" name="TextBox 7"/>
            <p:cNvSpPr txBox="1"/>
            <p:nvPr/>
          </p:nvSpPr>
          <p:spPr>
            <a:xfrm>
              <a:off x="677418" y="2378075"/>
              <a:ext cx="1890015"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1. Access change</a:t>
              </a:r>
            </a:p>
          </p:txBody>
        </p:sp>
        <p:sp>
          <p:nvSpPr>
            <p:cNvPr id="8" name="TextBox 8"/>
            <p:cNvSpPr txBox="1"/>
            <p:nvPr/>
          </p:nvSpPr>
          <p:spPr>
            <a:xfrm>
              <a:off x="678180" y="2705100"/>
              <a:ext cx="4706150" cy="788670"/>
            </a:xfrm>
            <a:prstGeom prst="rect">
              <a:avLst/>
            </a:prstGeom>
            <a:noFill/>
            <a:ln>
              <a:noFill/>
            </a:ln>
          </p:spPr>
          <p:txBody>
            <a:bodyPr wrap="none" lIns="0" tIns="0" rIns="0" bIns="0" anchor="t" anchorCtr="0">
              <a:spAutoFit/>
            </a:bodyPr>
            <a:lstStyle/>
            <a:p>
              <a:pPr algn="l">
                <a:lnSpc>
                  <a:spcPts val="1950"/>
                </a:lnSpc>
              </a:pPr>
              <a:r>
                <a:rPr lang="en-AU" sz="1500" dirty="0">
                  <a:solidFill>
                    <a:schemeClr val="dk1"/>
                  </a:solidFill>
                  <a:latin typeface="+mn-lt"/>
                  <a:ea typeface="+mn-ea"/>
                  <a:cs typeface="+mn-cs"/>
                </a:rPr>
                <a:t>Compared with the four weeks before that visit, how</a:t>
              </a:r>
              <a:br>
                <a:rPr lang="en-AU" sz="1500" dirty="0">
                  <a:solidFill>
                    <a:schemeClr val="dk1"/>
                  </a:solidFill>
                  <a:latin typeface="+mn-lt"/>
                  <a:ea typeface="+mn-ea"/>
                  <a:cs typeface="+mn-cs"/>
                </a:rPr>
              </a:br>
              <a:r>
                <a:rPr lang="en-AU" sz="1500" dirty="0">
                  <a:solidFill>
                    <a:schemeClr val="dk1"/>
                  </a:solidFill>
                  <a:latin typeface="+mn-lt"/>
                  <a:ea typeface="+mn-ea"/>
                  <a:cs typeface="+mn-cs"/>
                </a:rPr>
                <a:t>easy was it to obtain suitable toys or books for this child</a:t>
              </a:r>
              <a:br>
                <a:rPr lang="en-AU" sz="1500" dirty="0">
                  <a:solidFill>
                    <a:schemeClr val="dk1"/>
                  </a:solidFill>
                  <a:latin typeface="+mn-lt"/>
                  <a:ea typeface="+mn-ea"/>
                  <a:cs typeface="+mn-cs"/>
                </a:rPr>
              </a:br>
              <a:r>
                <a:rPr lang="en-AU" sz="1500" dirty="0">
                  <a:solidFill>
                    <a:schemeClr val="dk1"/>
                  </a:solidFill>
                  <a:latin typeface="+mn-lt"/>
                  <a:ea typeface="+mn-ea"/>
                  <a:cs typeface="+mn-cs"/>
                </a:rPr>
                <a:t>in the four weeks after it?</a:t>
              </a:r>
            </a:p>
          </p:txBody>
        </p:sp>
        <p:sp>
          <p:nvSpPr>
            <p:cNvPr id="9" name="TextBox 9"/>
            <p:cNvSpPr txBox="1"/>
            <p:nvPr/>
          </p:nvSpPr>
          <p:spPr>
            <a:xfrm>
              <a:off x="678942" y="3498850"/>
              <a:ext cx="4531081" cy="492633"/>
            </a:xfrm>
            <a:prstGeom prst="rect">
              <a:avLst/>
            </a:prstGeom>
            <a:noFill/>
            <a:ln>
              <a:noFill/>
            </a:ln>
          </p:spPr>
          <p:txBody>
            <a:bodyPr wrap="none" lIns="0" tIns="0" rIns="0" bIns="0" anchor="t" anchorCtr="0">
              <a:spAutoFit/>
            </a:bodyPr>
            <a:lstStyle/>
            <a:p>
              <a:pPr algn="l">
                <a:lnSpc>
                  <a:spcPts val="1800"/>
                </a:lnSpc>
              </a:pPr>
              <a:r>
                <a:rPr lang="en-AU" sz="1350" dirty="0">
                  <a:solidFill>
                    <a:schemeClr val="accent6"/>
                  </a:solidFill>
                  <a:latin typeface="+mn-lt"/>
                  <a:ea typeface="+mn-ea"/>
                  <a:cs typeface="+mn-cs"/>
                </a:rPr>
                <a:t>Much harder; a little harder; no change; a little easier; much</a:t>
              </a:r>
              <a:br>
                <a:rPr lang="en-AU" sz="1350" dirty="0">
                  <a:solidFill>
                    <a:schemeClr val="accent6"/>
                  </a:solidFill>
                  <a:latin typeface="+mn-lt"/>
                  <a:ea typeface="+mn-ea"/>
                  <a:cs typeface="+mn-cs"/>
                </a:rPr>
              </a:br>
              <a:r>
                <a:rPr lang="en-AU" sz="1350" dirty="0">
                  <a:solidFill>
                    <a:schemeClr val="accent6"/>
                  </a:solidFill>
                  <a:latin typeface="+mn-lt"/>
                  <a:ea typeface="+mn-ea"/>
                  <a:cs typeface="+mn-cs"/>
                </a:rPr>
                <a:t>easier; not sure.</a:t>
              </a:r>
            </a:p>
          </p:txBody>
        </p:sp>
      </p:grpSp>
      <p:grpSp>
        <p:nvGrpSpPr>
          <p:cNvPr id="14" name="survey-item-2"/>
          <p:cNvGrpSpPr/>
          <p:nvPr/>
        </p:nvGrpSpPr>
        <p:grpSpPr>
          <a:xfrm>
            <a:off x="677418" y="4187825"/>
            <a:ext cx="4411066" cy="1365758"/>
            <a:chOff x="677418" y="4187825"/>
            <a:chExt cx="4411066" cy="1365758"/>
          </a:xfrm>
        </p:grpSpPr>
        <p:sp>
          <p:nvSpPr>
            <p:cNvPr id="11" name="TextBox 11"/>
            <p:cNvSpPr txBox="1"/>
            <p:nvPr/>
          </p:nvSpPr>
          <p:spPr>
            <a:xfrm>
              <a:off x="677418" y="4187825"/>
              <a:ext cx="1530597"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2. Cost barrier</a:t>
              </a:r>
            </a:p>
          </p:txBody>
        </p:sp>
        <p:sp>
          <p:nvSpPr>
            <p:cNvPr id="12" name="TextBox 12"/>
            <p:cNvSpPr txBox="1"/>
            <p:nvPr/>
          </p:nvSpPr>
          <p:spPr>
            <a:xfrm>
              <a:off x="678180" y="4514850"/>
              <a:ext cx="4410304" cy="541020"/>
            </a:xfrm>
            <a:prstGeom prst="rect">
              <a:avLst/>
            </a:prstGeom>
            <a:noFill/>
            <a:ln>
              <a:noFill/>
            </a:ln>
          </p:spPr>
          <p:txBody>
            <a:bodyPr wrap="none" lIns="0" tIns="0" rIns="0" bIns="0" anchor="t" anchorCtr="0">
              <a:spAutoFit/>
            </a:bodyPr>
            <a:lstStyle/>
            <a:p>
              <a:pPr algn="l">
                <a:lnSpc>
                  <a:spcPts val="1950"/>
                </a:lnSpc>
              </a:pPr>
              <a:r>
                <a:rPr lang="en-AU" sz="1500" dirty="0">
                  <a:solidFill>
                    <a:schemeClr val="dk1"/>
                  </a:solidFill>
                  <a:latin typeface="+mn-lt"/>
                  <a:ea typeface="+mn-ea"/>
                  <a:cs typeface="+mn-cs"/>
                </a:rPr>
                <a:t>In the four weeks after that visit, how often did cost</a:t>
              </a:r>
              <a:br>
                <a:rPr lang="en-AU" sz="1500" dirty="0">
                  <a:solidFill>
                    <a:schemeClr val="dk1"/>
                  </a:solidFill>
                  <a:latin typeface="+mn-lt"/>
                  <a:ea typeface="+mn-ea"/>
                  <a:cs typeface="+mn-cs"/>
                </a:rPr>
              </a:br>
              <a:r>
                <a:rPr lang="en-AU" sz="1500" dirty="0">
                  <a:solidFill>
                    <a:schemeClr val="dk1"/>
                  </a:solidFill>
                  <a:latin typeface="+mn-lt"/>
                  <a:ea typeface="+mn-ea"/>
                  <a:cs typeface="+mn-cs"/>
                </a:rPr>
                <a:t>prevent you getting toys or books this child needed?</a:t>
              </a:r>
            </a:p>
          </p:txBody>
        </p:sp>
        <p:sp>
          <p:nvSpPr>
            <p:cNvPr id="13" name="TextBox 13"/>
            <p:cNvSpPr txBox="1"/>
            <p:nvPr/>
          </p:nvSpPr>
          <p:spPr>
            <a:xfrm>
              <a:off x="678942" y="5060950"/>
              <a:ext cx="4225694" cy="492633"/>
            </a:xfrm>
            <a:prstGeom prst="rect">
              <a:avLst/>
            </a:prstGeom>
            <a:noFill/>
            <a:ln>
              <a:noFill/>
            </a:ln>
          </p:spPr>
          <p:txBody>
            <a:bodyPr wrap="none" lIns="0" tIns="0" rIns="0" bIns="0" anchor="t" anchorCtr="0">
              <a:spAutoFit/>
            </a:bodyPr>
            <a:lstStyle/>
            <a:p>
              <a:pPr algn="l">
                <a:lnSpc>
                  <a:spcPts val="1800"/>
                </a:lnSpc>
              </a:pPr>
              <a:r>
                <a:rPr lang="en-AU" sz="1350" dirty="0">
                  <a:solidFill>
                    <a:schemeClr val="accent6"/>
                  </a:solidFill>
                  <a:latin typeface="+mn-lt"/>
                  <a:ea typeface="+mn-ea"/>
                  <a:cs typeface="+mn-cs"/>
                </a:rPr>
                <a:t>Never; sometimes; often; always; not sure; prefer not to</a:t>
              </a:r>
              <a:br>
                <a:rPr lang="en-AU" sz="1350" dirty="0">
                  <a:solidFill>
                    <a:schemeClr val="accent6"/>
                  </a:solidFill>
                  <a:latin typeface="+mn-lt"/>
                  <a:ea typeface="+mn-ea"/>
                  <a:cs typeface="+mn-cs"/>
                </a:rPr>
              </a:br>
              <a:r>
                <a:rPr lang="en-AU" sz="1350" dirty="0">
                  <a:solidFill>
                    <a:schemeClr val="accent6"/>
                  </a:solidFill>
                  <a:latin typeface="+mn-lt"/>
                  <a:ea typeface="+mn-ea"/>
                  <a:cs typeface="+mn-cs"/>
                </a:rPr>
                <a:t>answer.</a:t>
              </a:r>
            </a:p>
          </p:txBody>
        </p:sp>
      </p:grpSp>
      <p:grpSp>
        <p:nvGrpSpPr>
          <p:cNvPr id="18" name="survey-item-3"/>
          <p:cNvGrpSpPr/>
          <p:nvPr/>
        </p:nvGrpSpPr>
        <p:grpSpPr>
          <a:xfrm>
            <a:off x="6430518" y="2378075"/>
            <a:ext cx="4560585" cy="1365758"/>
            <a:chOff x="6430518" y="2378075"/>
            <a:chExt cx="4560585" cy="1365758"/>
          </a:xfrm>
        </p:grpSpPr>
        <p:sp>
          <p:nvSpPr>
            <p:cNvPr id="15" name="TextBox 15"/>
            <p:cNvSpPr txBox="1"/>
            <p:nvPr/>
          </p:nvSpPr>
          <p:spPr>
            <a:xfrm>
              <a:off x="6430518" y="2378075"/>
              <a:ext cx="1331801"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3. Suitability</a:t>
              </a:r>
            </a:p>
          </p:txBody>
        </p:sp>
        <p:sp>
          <p:nvSpPr>
            <p:cNvPr id="16" name="TextBox 16"/>
            <p:cNvSpPr txBox="1"/>
            <p:nvPr/>
          </p:nvSpPr>
          <p:spPr>
            <a:xfrm>
              <a:off x="6431280" y="2705100"/>
              <a:ext cx="4377538" cy="541020"/>
            </a:xfrm>
            <a:prstGeom prst="rect">
              <a:avLst/>
            </a:prstGeom>
            <a:noFill/>
            <a:ln>
              <a:noFill/>
            </a:ln>
          </p:spPr>
          <p:txBody>
            <a:bodyPr wrap="none" lIns="0" tIns="0" rIns="0" bIns="0" anchor="t" anchorCtr="0">
              <a:spAutoFit/>
            </a:bodyPr>
            <a:lstStyle/>
            <a:p>
              <a:pPr algn="l">
                <a:lnSpc>
                  <a:spcPts val="1950"/>
                </a:lnSpc>
              </a:pPr>
              <a:r>
                <a:rPr lang="en-AU" sz="1500" dirty="0">
                  <a:solidFill>
                    <a:schemeClr val="dk1"/>
                  </a:solidFill>
                  <a:latin typeface="+mn-lt"/>
                  <a:ea typeface="+mn-ea"/>
                  <a:cs typeface="+mn-cs"/>
                </a:rPr>
                <a:t>How suitable were the items received for this child’s</a:t>
              </a:r>
              <a:br>
                <a:rPr lang="en-AU" sz="1500" dirty="0">
                  <a:solidFill>
                    <a:schemeClr val="dk1"/>
                  </a:solidFill>
                  <a:latin typeface="+mn-lt"/>
                  <a:ea typeface="+mn-ea"/>
                  <a:cs typeface="+mn-cs"/>
                </a:rPr>
              </a:br>
              <a:r>
                <a:rPr lang="en-AU" sz="1500" dirty="0">
                  <a:solidFill>
                    <a:schemeClr val="dk1"/>
                  </a:solidFill>
                  <a:latin typeface="+mn-lt"/>
                  <a:ea typeface="+mn-ea"/>
                  <a:cs typeface="+mn-cs"/>
                </a:rPr>
                <a:t>play needs?</a:t>
              </a:r>
            </a:p>
          </p:txBody>
        </p:sp>
        <p:sp>
          <p:nvSpPr>
            <p:cNvPr id="17" name="TextBox 17"/>
            <p:cNvSpPr txBox="1"/>
            <p:nvPr/>
          </p:nvSpPr>
          <p:spPr>
            <a:xfrm>
              <a:off x="6432042" y="3251200"/>
              <a:ext cx="4559061" cy="492633"/>
            </a:xfrm>
            <a:prstGeom prst="rect">
              <a:avLst/>
            </a:prstGeom>
            <a:noFill/>
            <a:ln>
              <a:noFill/>
            </a:ln>
          </p:spPr>
          <p:txBody>
            <a:bodyPr wrap="none" lIns="0" tIns="0" rIns="0" bIns="0" anchor="t" anchorCtr="0">
              <a:spAutoFit/>
            </a:bodyPr>
            <a:lstStyle/>
            <a:p>
              <a:pPr algn="l">
                <a:lnSpc>
                  <a:spcPts val="1800"/>
                </a:lnSpc>
              </a:pPr>
              <a:r>
                <a:rPr lang="en-AU" sz="1350" dirty="0">
                  <a:solidFill>
                    <a:schemeClr val="accent6"/>
                  </a:solidFill>
                  <a:latin typeface="+mn-lt"/>
                  <a:ea typeface="+mn-ea"/>
                  <a:cs typeface="+mn-cs"/>
                </a:rPr>
                <a:t>Not at all; slightly; moderately; very; extremely; not sure; not</a:t>
              </a:r>
              <a:br>
                <a:rPr lang="en-AU" sz="1350" dirty="0">
                  <a:solidFill>
                    <a:schemeClr val="accent6"/>
                  </a:solidFill>
                  <a:latin typeface="+mn-lt"/>
                  <a:ea typeface="+mn-ea"/>
                  <a:cs typeface="+mn-cs"/>
                </a:rPr>
              </a:br>
              <a:r>
                <a:rPr lang="en-AU" sz="1350" dirty="0">
                  <a:solidFill>
                    <a:schemeClr val="accent6"/>
                  </a:solidFill>
                  <a:latin typeface="+mn-lt"/>
                  <a:ea typeface="+mn-ea"/>
                  <a:cs typeface="+mn-cs"/>
                </a:rPr>
                <a:t>used yet.</a:t>
              </a:r>
            </a:p>
          </p:txBody>
        </p:sp>
      </p:grpSp>
      <p:grpSp>
        <p:nvGrpSpPr>
          <p:cNvPr id="22" name="survey-item-4"/>
          <p:cNvGrpSpPr/>
          <p:nvPr/>
        </p:nvGrpSpPr>
        <p:grpSpPr>
          <a:xfrm>
            <a:off x="6430518" y="3806825"/>
            <a:ext cx="4209440" cy="1149858"/>
            <a:chOff x="6430518" y="3806825"/>
            <a:chExt cx="4209440" cy="1149858"/>
          </a:xfrm>
        </p:grpSpPr>
        <p:sp>
          <p:nvSpPr>
            <p:cNvPr id="19" name="TextBox 19"/>
            <p:cNvSpPr txBox="1"/>
            <p:nvPr/>
          </p:nvSpPr>
          <p:spPr>
            <a:xfrm>
              <a:off x="6430518" y="3806825"/>
              <a:ext cx="1457887"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4. Recent use</a:t>
              </a:r>
            </a:p>
          </p:txBody>
        </p:sp>
        <p:sp>
          <p:nvSpPr>
            <p:cNvPr id="20" name="TextBox 20"/>
            <p:cNvSpPr txBox="1"/>
            <p:nvPr/>
          </p:nvSpPr>
          <p:spPr>
            <a:xfrm>
              <a:off x="6431280" y="4133850"/>
              <a:ext cx="4208678" cy="541020"/>
            </a:xfrm>
            <a:prstGeom prst="rect">
              <a:avLst/>
            </a:prstGeom>
            <a:noFill/>
            <a:ln>
              <a:noFill/>
            </a:ln>
          </p:spPr>
          <p:txBody>
            <a:bodyPr wrap="none" lIns="0" tIns="0" rIns="0" bIns="0" anchor="t" anchorCtr="0">
              <a:spAutoFit/>
            </a:bodyPr>
            <a:lstStyle/>
            <a:p>
              <a:pPr algn="l">
                <a:lnSpc>
                  <a:spcPts val="1950"/>
                </a:lnSpc>
              </a:pPr>
              <a:r>
                <a:rPr lang="en-AU" sz="1500" dirty="0">
                  <a:solidFill>
                    <a:schemeClr val="dk1"/>
                  </a:solidFill>
                  <a:latin typeface="+mn-lt"/>
                  <a:ea typeface="+mn-ea"/>
                  <a:cs typeface="+mn-cs"/>
                </a:rPr>
                <a:t>In the last seven days, on how many days did this</a:t>
              </a:r>
              <a:br>
                <a:rPr lang="en-AU" sz="1500" dirty="0">
                  <a:solidFill>
                    <a:schemeClr val="dk1"/>
                  </a:solidFill>
                  <a:latin typeface="+mn-lt"/>
                  <a:ea typeface="+mn-ea"/>
                  <a:cs typeface="+mn-cs"/>
                </a:rPr>
              </a:br>
              <a:r>
                <a:rPr lang="en-AU" sz="1500" dirty="0">
                  <a:solidFill>
                    <a:schemeClr val="dk1"/>
                  </a:solidFill>
                  <a:latin typeface="+mn-lt"/>
                  <a:ea typeface="+mn-ea"/>
                  <a:cs typeface="+mn-cs"/>
                </a:rPr>
                <a:t>child use an item from that visit?</a:t>
              </a:r>
            </a:p>
          </p:txBody>
        </p:sp>
        <p:sp>
          <p:nvSpPr>
            <p:cNvPr id="21" name="TextBox 21"/>
            <p:cNvSpPr txBox="1"/>
            <p:nvPr/>
          </p:nvSpPr>
          <p:spPr>
            <a:xfrm>
              <a:off x="6432042" y="4692650"/>
              <a:ext cx="2373521" cy="264033"/>
            </a:xfrm>
            <a:prstGeom prst="rect">
              <a:avLst/>
            </a:prstGeom>
            <a:noFill/>
            <a:ln>
              <a:noFill/>
            </a:ln>
          </p:spPr>
          <p:txBody>
            <a:bodyPr wrap="none" lIns="0" tIns="0" rIns="0" bIns="0" anchor="t" anchorCtr="0">
              <a:spAutoFit/>
            </a:bodyPr>
            <a:lstStyle/>
            <a:p>
              <a:pPr algn="l"/>
              <a:r>
                <a:rPr lang="en-AU" sz="1350" dirty="0">
                  <a:solidFill>
                    <a:schemeClr val="accent6"/>
                  </a:solidFill>
                  <a:latin typeface="+mn-lt"/>
                  <a:ea typeface="+mn-ea"/>
                  <a:cs typeface="+mn-cs"/>
                </a:rPr>
                <a:t>Zero to seven days; not sure.</a:t>
              </a:r>
            </a:p>
          </p:txBody>
        </p:sp>
      </p:grpSp>
      <p:grpSp>
        <p:nvGrpSpPr>
          <p:cNvPr id="25" name="survey-item-5"/>
          <p:cNvGrpSpPr/>
          <p:nvPr/>
        </p:nvGrpSpPr>
        <p:grpSpPr>
          <a:xfrm>
            <a:off x="6430518" y="5064125"/>
            <a:ext cx="4156443" cy="868045"/>
            <a:chOff x="6430518" y="5064125"/>
            <a:chExt cx="4156443" cy="868045"/>
          </a:xfrm>
        </p:grpSpPr>
        <p:sp>
          <p:nvSpPr>
            <p:cNvPr id="23" name="TextBox 23"/>
            <p:cNvSpPr txBox="1"/>
            <p:nvPr/>
          </p:nvSpPr>
          <p:spPr>
            <a:xfrm>
              <a:off x="6430518" y="5064125"/>
              <a:ext cx="2603518" cy="322707"/>
            </a:xfrm>
            <a:prstGeom prst="rect">
              <a:avLst/>
            </a:prstGeom>
            <a:noFill/>
            <a:ln>
              <a:noFill/>
            </a:ln>
          </p:spPr>
          <p:txBody>
            <a:bodyPr wrap="none" lIns="0" tIns="0" rIns="0" bIns="0" anchor="t" anchorCtr="0">
              <a:spAutoFit/>
            </a:bodyPr>
            <a:lstStyle/>
            <a:p>
              <a:pPr algn="l"/>
              <a:r>
                <a:rPr lang="en-AU" sz="1650" b="1" dirty="0">
                  <a:solidFill>
                    <a:schemeClr val="accent2"/>
                  </a:solidFill>
                  <a:latin typeface="+mn-lt"/>
                  <a:ea typeface="+mn-ea"/>
                  <a:cs typeface="+mn-cs"/>
                </a:rPr>
                <a:t>5. Explanation (optional)</a:t>
              </a:r>
            </a:p>
          </p:txBody>
        </p:sp>
        <p:sp>
          <p:nvSpPr>
            <p:cNvPr id="24" name="TextBox 24"/>
            <p:cNvSpPr txBox="1"/>
            <p:nvPr/>
          </p:nvSpPr>
          <p:spPr>
            <a:xfrm>
              <a:off x="6431280" y="5391150"/>
              <a:ext cx="4155681" cy="541020"/>
            </a:xfrm>
            <a:prstGeom prst="rect">
              <a:avLst/>
            </a:prstGeom>
            <a:noFill/>
            <a:ln>
              <a:noFill/>
            </a:ln>
          </p:spPr>
          <p:txBody>
            <a:bodyPr wrap="none" lIns="0" tIns="0" rIns="0" bIns="0" anchor="t" anchorCtr="0">
              <a:spAutoFit/>
            </a:bodyPr>
            <a:lstStyle/>
            <a:p>
              <a:pPr algn="l">
                <a:lnSpc>
                  <a:spcPts val="1950"/>
                </a:lnSpc>
              </a:pPr>
              <a:r>
                <a:rPr lang="en-AU" sz="1500" dirty="0">
                  <a:solidFill>
                    <a:schemeClr val="dk1"/>
                  </a:solidFill>
                  <a:latin typeface="+mn-lt"/>
                  <a:ea typeface="+mn-ea"/>
                  <a:cs typeface="+mn-cs"/>
                </a:rPr>
                <a:t>What, if anything, changed in this child’s access?</a:t>
              </a:r>
              <a:br>
                <a:rPr lang="en-AU" sz="1500" dirty="0">
                  <a:solidFill>
                    <a:schemeClr val="dk1"/>
                  </a:solidFill>
                  <a:latin typeface="+mn-lt"/>
                  <a:ea typeface="+mn-ea"/>
                  <a:cs typeface="+mn-cs"/>
                </a:rPr>
              </a:br>
              <a:r>
                <a:rPr lang="en-AU" sz="1500" dirty="0">
                  <a:solidFill>
                    <a:schemeClr val="dk1"/>
                  </a:solidFill>
                  <a:latin typeface="+mn-lt"/>
                  <a:ea typeface="+mn-ea"/>
                  <a:cs typeface="+mn-cs"/>
                </a:rPr>
                <a:t>What helped or made access difficult?</a:t>
              </a:r>
            </a:p>
          </p:txBody>
        </p:sp>
      </p:grpSp>
      <p:grpSp>
        <p:nvGrpSpPr>
          <p:cNvPr id="27" name="source-note"/>
          <p:cNvGrpSpPr/>
          <p:nvPr/>
        </p:nvGrpSpPr>
        <p:grpSpPr>
          <a:xfrm>
            <a:off x="679704" y="5962650"/>
            <a:ext cx="8200106" cy="234696"/>
            <a:chOff x="679704" y="5962650"/>
            <a:chExt cx="8200106" cy="234696"/>
          </a:xfrm>
        </p:grpSpPr>
        <p:sp>
          <p:nvSpPr>
            <p:cNvPr id="26" name="TextBox 26"/>
            <p:cNvSpPr txBox="1"/>
            <p:nvPr/>
          </p:nvSpPr>
          <p:spPr>
            <a:xfrm>
              <a:off x="679704" y="5962650"/>
              <a:ext cx="8200106"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Author-drafted items. Test wording, periods and options. Methods: ONS n.d., §§3–4; administration: GDS n.d.a–c.</a:t>
              </a:r>
            </a:p>
          </p:txBody>
        </p:sp>
      </p:grpSp>
      <p:sp>
        <p:nvSpPr>
          <p:cNvPr id="28" name="Line 28"/>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29"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30"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title"/>
          <p:cNvGrpSpPr/>
          <p:nvPr/>
        </p:nvGrpSpPr>
        <p:grpSpPr>
          <a:xfrm>
            <a:off x="669036" y="527050"/>
            <a:ext cx="9071888" cy="645414"/>
            <a:chOff x="669036" y="527050"/>
            <a:chExt cx="9071888" cy="645414"/>
          </a:xfrm>
        </p:grpSpPr>
        <p:sp>
          <p:nvSpPr>
            <p:cNvPr id="2" name="TextBox 2"/>
            <p:cNvSpPr txBox="1"/>
            <p:nvPr/>
          </p:nvSpPr>
          <p:spPr>
            <a:xfrm>
              <a:off x="669036" y="527050"/>
              <a:ext cx="9071888" cy="645414"/>
            </a:xfrm>
            <a:prstGeom prst="rect">
              <a:avLst/>
            </a:prstGeom>
            <a:noFill/>
            <a:ln>
              <a:noFill/>
            </a:ln>
          </p:spPr>
          <p:txBody>
            <a:bodyPr wrap="none" lIns="0" tIns="0" rIns="0" bIns="0" anchor="t" anchorCtr="0">
              <a:spAutoFit/>
            </a:bodyPr>
            <a:lstStyle/>
            <a:p>
              <a:pPr algn="l"/>
              <a:r>
                <a:rPr lang="en-AU" sz="3300" b="1" dirty="0">
                  <a:solidFill>
                    <a:schemeClr val="accent1"/>
                  </a:solidFill>
                  <a:latin typeface="+mn-lt"/>
                  <a:ea typeface="+mn-ea"/>
                  <a:cs typeface="+mn-cs"/>
                </a:rPr>
                <a:t>Appendix B | indicator and reporting guide</a:t>
              </a:r>
            </a:p>
          </p:txBody>
        </p:sp>
      </p:grpSp>
      <p:sp>
        <p:nvSpPr>
          <p:cNvPr id="4" name="Line 4"/>
          <p:cNvSpPr/>
          <p:nvPr/>
        </p:nvSpPr>
        <p:spPr>
          <a:xfrm>
            <a:off x="685800" y="1314450"/>
            <a:ext cx="666750" cy="9525"/>
          </a:xfrm>
          <a:custGeom>
            <a:avLst/>
            <a:gdLst/>
            <a:ahLst/>
            <a:cxnLst/>
            <a:rect l="l" t="t" r="r" b="b"/>
            <a:pathLst>
              <a:path w="666750" h="9525">
                <a:moveTo>
                  <a:pt x="0" y="0"/>
                </a:moveTo>
                <a:lnTo>
                  <a:pt x="666750" y="0"/>
                </a:lnTo>
              </a:path>
            </a:pathLst>
          </a:custGeom>
          <a:noFill/>
          <a:ln w="38100">
            <a:solidFill>
              <a:schemeClr val="accent2"/>
            </a:solidFill>
          </a:ln>
        </p:spPr>
      </p:sp>
      <p:grpSp>
        <p:nvGrpSpPr>
          <p:cNvPr id="6" name="intro"/>
          <p:cNvGrpSpPr/>
          <p:nvPr/>
        </p:nvGrpSpPr>
        <p:grpSpPr>
          <a:xfrm>
            <a:off x="676656" y="1638300"/>
            <a:ext cx="9433508" cy="352044"/>
            <a:chOff x="676656" y="1638300"/>
            <a:chExt cx="9433508" cy="352044"/>
          </a:xfrm>
        </p:grpSpPr>
        <p:sp>
          <p:nvSpPr>
            <p:cNvPr id="5" name="TextBox 5"/>
            <p:cNvSpPr txBox="1"/>
            <p:nvPr/>
          </p:nvSpPr>
          <p:spPr>
            <a:xfrm>
              <a:off x="676656" y="1638300"/>
              <a:ext cx="9433508" cy="352044"/>
            </a:xfrm>
            <a:prstGeom prst="rect">
              <a:avLst/>
            </a:prstGeom>
            <a:noFill/>
            <a:ln>
              <a:noFill/>
            </a:ln>
          </p:spPr>
          <p:txBody>
            <a:bodyPr wrap="none" lIns="0" tIns="0" rIns="0" bIns="0" anchor="t" anchorCtr="0">
              <a:spAutoFit/>
            </a:bodyPr>
            <a:lstStyle/>
            <a:p>
              <a:pPr algn="l"/>
              <a:r>
                <a:rPr lang="en-AU" sz="1800" b="1" dirty="0">
                  <a:solidFill>
                    <a:schemeClr val="accent2"/>
                  </a:solidFill>
                  <a:latin typeface="+mn-lt"/>
                  <a:ea typeface="+mn-ea"/>
                  <a:cs typeface="+mn-cs"/>
                </a:rPr>
                <a:t>Use item-specific valid n; show unsure/skipped counts separately. No total score.</a:t>
              </a:r>
            </a:p>
          </p:txBody>
        </p:sp>
      </p:grpSp>
      <p:graphicFrame>
        <p:nvGraphicFramePr>
          <p:cNvPr id="7" name="indicator-guide"/>
          <p:cNvGraphicFramePr>
            <a:graphicFrameLocks noGrp="1"/>
          </p:cNvGraphicFramePr>
          <p:nvPr/>
        </p:nvGraphicFramePr>
        <p:xfrm>
          <a:off x="685800" y="2238375"/>
          <a:ext cx="10820400" cy="3476625"/>
        </p:xfrm>
        <a:graphic>
          <a:graphicData uri="http://schemas.openxmlformats.org/drawingml/2006/table">
            <a:tbl>
              <a:tblPr firstRow="1" bandRow="0">
                <a:tableStyleId>{5C22544A-7EE6-4342-B048-85BDC9FD1C3A}</a:tableStyleId>
              </a:tblPr>
              <a:tblGrid>
                <a:gridCol w="2619375"/>
                <a:gridCol w="4143375"/>
                <a:gridCol w="4057650"/>
              </a:tblGrid>
              <a:tr h="476250">
                <a:tc>
                  <a:txBody>
                    <a:bodyPr/>
                    <a:lstStyle/>
                    <a:p>
                      <a:pPr/>
                      <a:r>
                        <a:rPr lang="en-AU" sz="1650" b="1">
                          <a:solidFill>
                            <a:schemeClr val="accent1"/>
                          </a:solidFill>
                          <a:latin typeface="Arial"/>
                          <a:ea typeface="Microsoft YaHei"/>
                          <a:cs typeface="Arial"/>
                        </a:rPr>
                        <a:t>Item / role</a:t>
                      </a:r>
                    </a:p>
                  </a:txBody>
                  <a:tcPr anchor="ctr" marL="133350" marR="133350" marT="76200" marB="76200">
                    <a:lnB w="9525">
                      <a:solidFill>
                        <a:srgbClr val="D6E0E7"/>
                      </a:solidFill>
                      <a:prstDash val="solid"/>
                    </a:lnB>
                    <a:solidFill>
                      <a:schemeClr val="accent5"/>
                    </a:solidFill>
                  </a:tcPr>
                </a:tc>
                <a:tc>
                  <a:txBody>
                    <a:bodyPr/>
                    <a:lstStyle/>
                    <a:p>
                      <a:pPr/>
                      <a:r>
                        <a:rPr lang="en-AU" sz="1650" b="1">
                          <a:solidFill>
                            <a:schemeClr val="accent1"/>
                          </a:solidFill>
                          <a:latin typeface="Arial"/>
                          <a:ea typeface="Microsoft YaHei"/>
                          <a:cs typeface="Arial"/>
                        </a:rPr>
                        <a:t>Reporting rule</a:t>
                      </a:r>
                    </a:p>
                  </a:txBody>
                  <a:tcPr anchor="ctr" marL="133350" marR="133350" marT="76200" marB="76200">
                    <a:lnB w="9525">
                      <a:solidFill>
                        <a:srgbClr val="D6E0E7"/>
                      </a:solidFill>
                      <a:prstDash val="solid"/>
                    </a:lnB>
                    <a:solidFill>
                      <a:schemeClr val="accent5"/>
                    </a:solidFill>
                  </a:tcPr>
                </a:tc>
                <a:tc>
                  <a:txBody>
                    <a:bodyPr/>
                    <a:lstStyle/>
                    <a:p>
                      <a:pPr/>
                      <a:r>
                        <a:rPr lang="en-AU" sz="1650" b="1">
                          <a:solidFill>
                            <a:schemeClr val="accent1"/>
                          </a:solidFill>
                          <a:latin typeface="Arial"/>
                          <a:ea typeface="Microsoft YaHei"/>
                          <a:cs typeface="Arial"/>
                        </a:rPr>
                        <a:t>Interpretation boundary</a:t>
                      </a:r>
                    </a:p>
                  </a:txBody>
                  <a:tcPr anchor="ctr" marL="133350" marR="133350" marT="76200" marB="76200">
                    <a:lnB w="9525">
                      <a:solidFill>
                        <a:srgbClr val="D6E0E7"/>
                      </a:solidFill>
                      <a:prstDash val="solid"/>
                    </a:lnB>
                    <a:solidFill>
                      <a:schemeClr val="accent5"/>
                    </a:solidFill>
                  </a:tcPr>
                </a:tc>
              </a:tr>
              <a:tr h="600075">
                <a:tc>
                  <a:txBody>
                    <a:bodyPr/>
                    <a:lstStyle/>
                    <a:p>
                      <a:pPr/>
                      <a:r>
                        <a:rPr lang="en-AU" sz="1650" b="1">
                          <a:solidFill>
                            <a:schemeClr val="dk1"/>
                          </a:solidFill>
                          <a:latin typeface="Arial"/>
                          <a:ea typeface="Microsoft YaHei"/>
                          <a:cs typeface="Arial"/>
                        </a:rPr>
                        <a:t>Q1 | Primary change</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Report each change category and valid item count.</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Reported change;
causality not established.</a:t>
                      </a:r>
                    </a:p>
                  </a:txBody>
                  <a:tcPr anchor="ctr" marL="133350" marR="133350" marT="76200" marB="76200">
                    <a:lnB w="9525">
                      <a:solidFill>
                        <a:srgbClr val="D6E0E7"/>
                      </a:solidFill>
                      <a:prstDash val="solid"/>
                    </a:lnB>
                    <a:solidFill>
                      <a:schemeClr val="lt1"/>
                    </a:solidFill>
                  </a:tcPr>
                </a:tc>
              </a:tr>
              <a:tr h="600075">
                <a:tc>
                  <a:txBody>
                    <a:bodyPr/>
                    <a:lstStyle/>
                    <a:p>
                      <a:pPr/>
                      <a:r>
                        <a:rPr lang="en-AU" sz="1650" b="1">
                          <a:solidFill>
                            <a:schemeClr val="dk1"/>
                          </a:solidFill>
                          <a:latin typeface="Arial"/>
                          <a:ea typeface="Microsoft YaHei"/>
                          <a:cs typeface="Arial"/>
                        </a:rPr>
                        <a:t>Q2 | Cost context</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Report frequency categories for the stated period.</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Current barrier, not evidence of cost reduction.</a:t>
                      </a:r>
                    </a:p>
                  </a:txBody>
                  <a:tcPr anchor="ctr" marL="133350" marR="133350" marT="76200" marB="76200">
                    <a:lnB w="9525">
                      <a:solidFill>
                        <a:srgbClr val="D6E0E7"/>
                      </a:solidFill>
                      <a:prstDash val="solid"/>
                    </a:lnB>
                    <a:solidFill>
                      <a:schemeClr val="lt1"/>
                    </a:solidFill>
                  </a:tcPr>
                </a:tc>
              </a:tr>
              <a:tr h="600075">
                <a:tc>
                  <a:txBody>
                    <a:bodyPr/>
                    <a:lstStyle/>
                    <a:p>
                      <a:pPr/>
                      <a:r>
                        <a:rPr lang="en-AU" sz="1650" b="1">
                          <a:solidFill>
                            <a:schemeClr val="dk1"/>
                          </a:solidFill>
                          <a:latin typeface="Arial"/>
                          <a:ea typeface="Microsoft YaHei"/>
                          <a:cs typeface="Arial"/>
                        </a:rPr>
                        <a:t>Q3 | Fit context</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Report the distribution of perceived-fit ratings.</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Suitability, not child development.</a:t>
                      </a:r>
                    </a:p>
                  </a:txBody>
                  <a:tcPr anchor="ctr" marL="133350" marR="133350" marT="76200" marB="76200">
                    <a:lnB w="9525">
                      <a:solidFill>
                        <a:srgbClr val="D6E0E7"/>
                      </a:solidFill>
                      <a:prstDash val="solid"/>
                    </a:lnB>
                    <a:solidFill>
                      <a:schemeClr val="lt1"/>
                    </a:solidFill>
                  </a:tcPr>
                </a:tc>
              </a:tr>
              <a:tr h="600075">
                <a:tc>
                  <a:txBody>
                    <a:bodyPr/>
                    <a:lstStyle/>
                    <a:p>
                      <a:pPr/>
                      <a:r>
                        <a:rPr lang="en-AU" sz="1650" b="1">
                          <a:solidFill>
                            <a:schemeClr val="dk1"/>
                          </a:solidFill>
                          <a:latin typeface="Arial"/>
                          <a:ea typeface="Microsoft YaHei"/>
                          <a:cs typeface="Arial"/>
                        </a:rPr>
                        <a:t>Q4 | Use context</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Report zero–seven days; show unknown separately.</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Recent use, not an access-change measure.</a:t>
                      </a:r>
                    </a:p>
                  </a:txBody>
                  <a:tcPr anchor="ctr" marL="133350" marR="133350" marT="76200" marB="76200">
                    <a:lnB w="9525">
                      <a:solidFill>
                        <a:srgbClr val="D6E0E7"/>
                      </a:solidFill>
                      <a:prstDash val="solid"/>
                    </a:lnB>
                    <a:solidFill>
                      <a:schemeClr val="lt1"/>
                    </a:solidFill>
                  </a:tcPr>
                </a:tc>
              </a:tr>
              <a:tr h="600075">
                <a:tc>
                  <a:txBody>
                    <a:bodyPr/>
                    <a:lstStyle/>
                    <a:p>
                      <a:pPr/>
                      <a:r>
                        <a:rPr lang="en-AU" sz="1650" b="1">
                          <a:solidFill>
                            <a:schemeClr val="dk1"/>
                          </a:solidFill>
                          <a:latin typeface="Arial"/>
                          <a:ea typeface="Microsoft YaHei"/>
                          <a:cs typeface="Arial"/>
                        </a:rPr>
                        <a:t>Q5 | Explanation</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Code themes; use anonymised examples.</a:t>
                      </a:r>
                    </a:p>
                  </a:txBody>
                  <a:tcPr anchor="ctr" marL="133350" marR="133350" marT="76200" marB="76200">
                    <a:lnB w="9525">
                      <a:solidFill>
                        <a:srgbClr val="D6E0E7"/>
                      </a:solidFill>
                      <a:prstDash val="solid"/>
                    </a:lnB>
                    <a:solidFill>
                      <a:schemeClr val="lt1"/>
                    </a:solidFill>
                  </a:tcPr>
                </a:tc>
                <a:tc>
                  <a:txBody>
                    <a:bodyPr/>
                    <a:lstStyle/>
                    <a:p>
                      <a:pPr/>
                      <a:r>
                        <a:rPr lang="en-AU" sz="1650" b="0">
                          <a:solidFill>
                            <a:schemeClr val="dk1"/>
                          </a:solidFill>
                          <a:latin typeface="Arial"/>
                          <a:ea typeface="Microsoft YaHei"/>
                          <a:cs typeface="Arial"/>
                        </a:rPr>
                        <a:t>Explains experiences, not prevalence.</a:t>
                      </a:r>
                    </a:p>
                  </a:txBody>
                  <a:tcPr anchor="ctr" marL="133350" marR="133350" marT="76200" marB="76200">
                    <a:lnB w="9525">
                      <a:solidFill>
                        <a:srgbClr val="D6E0E7"/>
                      </a:solidFill>
                      <a:prstDash val="solid"/>
                    </a:lnB>
                    <a:solidFill>
                      <a:schemeClr val="lt1"/>
                    </a:solidFill>
                  </a:tcPr>
                </a:tc>
              </a:tr>
            </a:tbl>
          </a:graphicData>
        </a:graphic>
      </p:graphicFrame>
      <p:grpSp>
        <p:nvGrpSpPr>
          <p:cNvPr id="9" name="source-note"/>
          <p:cNvGrpSpPr/>
          <p:nvPr/>
        </p:nvGrpSpPr>
        <p:grpSpPr>
          <a:xfrm>
            <a:off x="679704" y="5962650"/>
            <a:ext cx="9213536" cy="234696"/>
            <a:chOff x="679704" y="5962650"/>
            <a:chExt cx="9213536" cy="234696"/>
          </a:xfrm>
        </p:grpSpPr>
        <p:sp>
          <p:nvSpPr>
            <p:cNvPr id="8" name="TextBox 8"/>
            <p:cNvSpPr txBox="1"/>
            <p:nvPr/>
          </p:nvSpPr>
          <p:spPr>
            <a:xfrm>
              <a:off x="679704" y="5962650"/>
              <a:ext cx="9213536" cy="234696"/>
            </a:xfrm>
            <a:prstGeom prst="rect">
              <a:avLst/>
            </a:prstGeom>
            <a:noFill/>
            <a:ln>
              <a:noFill/>
            </a:ln>
          </p:spPr>
          <p:txBody>
            <a:bodyPr wrap="none" lIns="0" tIns="0" rIns="0" bIns="0" anchor="t" anchorCtr="0">
              <a:spAutoFit/>
            </a:bodyPr>
            <a:lstStyle/>
            <a:p>
              <a:pPr algn="l"/>
              <a:r>
                <a:rPr lang="en-AU" sz="1200" dirty="0">
                  <a:solidFill>
                    <a:schemeClr val="accent6"/>
                  </a:solidFill>
                  <a:latin typeface="+mn-lt"/>
                  <a:ea typeface="+mn-ea"/>
                  <a:cs typeface="+mn-cs"/>
                </a:rPr>
                <a:t>Author’s proposed reporting protocol. Unknown, skipped and no-change answers remain distinct. No composite scale is claimed.</a:t>
              </a:r>
            </a:p>
          </p:txBody>
        </p:sp>
      </p:grpSp>
      <p:sp>
        <p:nvSpPr>
          <p:cNvPr id="10" name="Line 10"/>
          <p:cNvSpPr/>
          <p:nvPr/>
        </p:nvSpPr>
        <p:spPr>
          <a:xfrm>
            <a:off x="685800" y="6315075"/>
            <a:ext cx="10820400" cy="9525"/>
          </a:xfrm>
          <a:custGeom>
            <a:avLst/>
            <a:gdLst/>
            <a:ahLst/>
            <a:cxnLst/>
            <a:rect l="l" t="t" r="r" b="b"/>
            <a:pathLst>
              <a:path w="10820400" h="9525">
                <a:moveTo>
                  <a:pt x="0" y="0"/>
                </a:moveTo>
                <a:lnTo>
                  <a:pt x="10820400" y="0"/>
                </a:lnTo>
              </a:path>
            </a:pathLst>
          </a:custGeom>
          <a:noFill/>
          <a:ln w="9525">
            <a:solidFill>
              <a:srgbClr val="D6E0E7"/>
            </a:solidFill>
          </a:ln>
        </p:spPr>
      </p:sp>
      <p:sp>
        <p:nvSpPr>
          <p:cNvPr id="11" name="footer-label"/>
          <p:cNvSpPr txBox="1"/>
          <p:nvPr/>
        </p:nvSpPr>
        <p:spPr>
          <a:xfrm>
            <a:off x="679704" y="6457950"/>
            <a:ext cx="1992397" cy="234696"/>
          </a:xfrm>
          <a:prstGeom prst="rect">
            <a:avLst/>
          </a:prstGeom>
          <a:noFill/>
          <a:ln>
            <a:noFill/>
          </a:ln>
        </p:spPr>
        <p:txBody>
          <a:bodyPr wrap="none" lIns="0" tIns="0" rIns="0" bIns="0" anchor="t" anchorCtr="0">
            <a:spAutoFit/>
          </a:bodyPr>
          <a:lstStyle/>
          <a:p>
            <a:pPr algn="l"/>
            <a:r>
              <a:rPr lang="en-AU" sz="1200" dirty="0">
                <a:solidFill>
                  <a:schemeClr val="accent1"/>
                </a:solidFill>
                <a:latin typeface="+mn-lt"/>
                <a:ea typeface="+mn-ea"/>
                <a:cs typeface="+mn-cs"/>
              </a:rPr>
              <a:t>Joy of Giving | COMM5030</a:t>
            </a:r>
          </a:p>
        </p:txBody>
      </p:sp>
      <p:sp>
        <p:nvSpPr>
          <p:cNvPr id="12" name="page-number"/>
          <p:cNvSpPr txBox="1"/>
          <p:nvPr/>
        </p:nvSpPr>
        <p:spPr>
          <a:xfrm>
            <a:off x="11320402" y="6457950"/>
            <a:ext cx="191894" cy="234696"/>
          </a:xfrm>
          <a:prstGeom prst="rect">
            <a:avLst/>
          </a:prstGeom>
          <a:noFill/>
          <a:ln>
            <a:noFill/>
          </a:ln>
        </p:spPr>
        <p:txBody>
          <a:bodyPr wrap="none" lIns="0" tIns="0" rIns="0" bIns="0" anchor="t" anchorCtr="0">
            <a:spAutoFit/>
          </a:bodyPr>
          <a:lstStyle/>
          <a:p>
            <a:pPr algn="r"/>
            <a:r>
              <a:rPr lang="en-AU" sz="1200" dirty="0">
                <a:solidFill>
                  <a:schemeClr val="accent1"/>
                </a:solidFill>
                <a:latin typeface="+mn-lt"/>
                <a:ea typeface="+mn-ea"/>
                <a:cs typeface="+mn-cs"/>
              </a:rPr>
              <a:t>12</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omm5030_play_access_v2">
  <a:themeElements>
    <a:clrScheme name="comm5030_play_access_v2">
      <a:dk1>
        <a:srgbClr val="25313E"/>
      </a:dk1>
      <a:lt1>
        <a:srgbClr val="FFFFFF"/>
      </a:lt1>
      <a:dk2>
        <a:srgbClr val="1F497D"/>
      </a:dk2>
      <a:lt2>
        <a:srgbClr val="FFFFFF"/>
      </a:lt2>
      <a:accent1>
        <a:srgbClr val="16324F"/>
      </a:accent1>
      <a:accent2>
        <a:srgbClr val="2E7D86"/>
      </a:accent2>
      <a:accent3>
        <a:srgbClr val="7A98AC"/>
      </a:accent3>
      <a:accent4>
        <a:srgbClr val="16324F"/>
      </a:accent4>
      <a:accent5>
        <a:srgbClr val="EEF3F6"/>
      </a:accent5>
      <a:accent6>
        <a:srgbClr val="596A79"/>
      </a:accent6>
      <a:hlink>
        <a:srgbClr val="2E7D86"/>
      </a:hlink>
      <a:folHlink>
        <a:srgbClr val="7A98AC"/>
      </a:folHlink>
    </a:clrScheme>
    <a:fontScheme name="comm5030_play_access_v2">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m5030_play_access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mm5030_play_access_v2">
  <a:themeElements>
    <a:clrScheme name="comm5030_play_access_v2">
      <a:dk1>
        <a:srgbClr val="25313E"/>
      </a:dk1>
      <a:lt1>
        <a:srgbClr val="FFFFFF"/>
      </a:lt1>
      <a:dk2>
        <a:srgbClr val="1F497D"/>
      </a:dk2>
      <a:lt2>
        <a:srgbClr val="FFFFFF"/>
      </a:lt2>
      <a:accent1>
        <a:srgbClr val="16324F"/>
      </a:accent1>
      <a:accent2>
        <a:srgbClr val="2E7D86"/>
      </a:accent2>
      <a:accent3>
        <a:srgbClr val="7A98AC"/>
      </a:accent3>
      <a:accent4>
        <a:srgbClr val="16324F"/>
      </a:accent4>
      <a:accent5>
        <a:srgbClr val="EEF3F6"/>
      </a:accent5>
      <a:accent6>
        <a:srgbClr val="596A79"/>
      </a:accent6>
      <a:hlink>
        <a:srgbClr val="2E7D86"/>
      </a:hlink>
      <a:folHlink>
        <a:srgbClr val="7A98AC"/>
      </a:folHlink>
    </a:clrScheme>
    <a:fontScheme name="comm5030_play_access_v2">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m5030_play_access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en-AU</dc:language>
  <cp:lastModifiedBy/>
  <cp:revision>1</cp:revision>
  <dcterms:created xsi:type="dcterms:W3CDTF">2026-10-19T07:12:45Z</dcterms:created>
  <dcterms:modified xsi:type="dcterms:W3CDTF">2026-10-19T07:12:45Z</dcterms:modified>
  <cp:category/>
  <cp:contentStatus/>
</cp:coreProperties>
</file>